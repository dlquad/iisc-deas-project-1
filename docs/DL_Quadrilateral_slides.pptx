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4"/>
  </p:sldMasterIdLst>
  <p:notesMasterIdLst>
    <p:notesMasterId r:id="rId35"/>
  </p:notesMasterIdLst>
  <p:handoutMasterIdLst>
    <p:handoutMasterId r:id="rId36"/>
  </p:handoutMasterIdLst>
  <p:sldIdLst>
    <p:sldId id="1869" r:id="rId5"/>
    <p:sldId id="1850" r:id="rId6"/>
    <p:sldId id="1852" r:id="rId7"/>
    <p:sldId id="1854" r:id="rId8"/>
    <p:sldId id="1855" r:id="rId9"/>
    <p:sldId id="1856" r:id="rId10"/>
    <p:sldId id="1857" r:id="rId11"/>
    <p:sldId id="1858" r:id="rId12"/>
    <p:sldId id="1859" r:id="rId13"/>
    <p:sldId id="1860" r:id="rId14"/>
    <p:sldId id="1861" r:id="rId15"/>
    <p:sldId id="1862" r:id="rId16"/>
    <p:sldId id="1879" r:id="rId17"/>
    <p:sldId id="1878" r:id="rId18"/>
    <p:sldId id="1882" r:id="rId19"/>
    <p:sldId id="1880" r:id="rId20"/>
    <p:sldId id="1881" r:id="rId21"/>
    <p:sldId id="1883" r:id="rId22"/>
    <p:sldId id="1884" r:id="rId23"/>
    <p:sldId id="1868" r:id="rId24"/>
    <p:sldId id="1886" r:id="rId25"/>
    <p:sldId id="1888" r:id="rId26"/>
    <p:sldId id="1887" r:id="rId27"/>
    <p:sldId id="1871" r:id="rId28"/>
    <p:sldId id="1872" r:id="rId29"/>
    <p:sldId id="1873" r:id="rId30"/>
    <p:sldId id="1885" r:id="rId31"/>
    <p:sldId id="1874" r:id="rId32"/>
    <p:sldId id="1875" r:id="rId33"/>
    <p:sldId id="187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40E1826-1769-4DD4-9F29-E86D4291B7FD}">
          <p14:sldIdLst>
            <p14:sldId id="1869"/>
            <p14:sldId id="1850"/>
            <p14:sldId id="1852"/>
          </p14:sldIdLst>
        </p14:section>
        <p14:section name="EDA" id="{F8748172-4278-4B89-8EA1-230FD6AB9C9F}">
          <p14:sldIdLst>
            <p14:sldId id="1854"/>
            <p14:sldId id="1855"/>
            <p14:sldId id="1856"/>
            <p14:sldId id="1857"/>
            <p14:sldId id="1858"/>
            <p14:sldId id="1859"/>
            <p14:sldId id="1860"/>
            <p14:sldId id="1861"/>
            <p14:sldId id="1862"/>
          </p14:sldIdLst>
        </p14:section>
        <p14:section name="Performance" id="{B628B12D-6F94-406B-A4AE-799719505007}">
          <p14:sldIdLst>
            <p14:sldId id="1879"/>
            <p14:sldId id="1878"/>
            <p14:sldId id="1882"/>
            <p14:sldId id="1880"/>
            <p14:sldId id="1881"/>
            <p14:sldId id="1883"/>
          </p14:sldIdLst>
        </p14:section>
        <p14:section name="Streaming" id="{12000BB5-F7F6-4592-AAA6-60F9B52405DC}">
          <p14:sldIdLst>
            <p14:sldId id="1884"/>
          </p14:sldIdLst>
        </p14:section>
        <p14:section name="ML Pipeline" id="{BAA730FB-DBA0-4526-9AA9-1F296F1F1185}">
          <p14:sldIdLst>
            <p14:sldId id="1868"/>
            <p14:sldId id="1886"/>
            <p14:sldId id="1888"/>
            <p14:sldId id="1887"/>
            <p14:sldId id="1871"/>
          </p14:sldIdLst>
        </p14:section>
        <p14:section name="Conclusion" id="{898271E8-CCA9-4BAF-B34E-46DD7CC5BBE7}">
          <p14:sldIdLst>
            <p14:sldId id="1872"/>
            <p14:sldId id="1873"/>
            <p14:sldId id="1885"/>
            <p14:sldId id="1874"/>
            <p14:sldId id="1875"/>
            <p14:sldId id="18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DAF7"/>
    <a:srgbClr val="000721"/>
    <a:srgbClr val="C32B61"/>
    <a:srgbClr val="125C99"/>
    <a:srgbClr val="EA9EB9"/>
    <a:srgbClr val="165C9A"/>
    <a:srgbClr val="34D1BF"/>
    <a:srgbClr val="D7D6D8"/>
    <a:srgbClr val="908A97"/>
    <a:srgbClr val="9B98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47F8C7-BDAA-41D0-B6B3-95B641E13124}" v="13" dt="2025-11-24T12:14:47.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5" autoAdjust="0"/>
    <p:restoredTop sz="92031" autoAdjust="0"/>
  </p:normalViewPr>
  <p:slideViewPr>
    <p:cSldViewPr snapToGrid="0">
      <p:cViewPr varScale="1">
        <p:scale>
          <a:sx n="84" d="100"/>
          <a:sy n="84" d="100"/>
        </p:scale>
        <p:origin x="562" y="77"/>
      </p:cViewPr>
      <p:guideLst/>
    </p:cSldViewPr>
  </p:slideViewPr>
  <p:outlineViewPr>
    <p:cViewPr>
      <p:scale>
        <a:sx n="33" d="100"/>
        <a:sy n="33" d="100"/>
      </p:scale>
      <p:origin x="0" y="-12804"/>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9B5162-31D5-D27B-CB8B-8469F66660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a:extLst>
              <a:ext uri="{FF2B5EF4-FFF2-40B4-BE49-F238E27FC236}">
                <a16:creationId xmlns:a16="http://schemas.microsoft.com/office/drawing/2014/main" id="{14EB8204-F427-3587-2023-45F3DF3CAD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D0B005-AE3F-4DA2-9559-980D1360C114}" type="datetimeFigureOut">
              <a:rPr lang="en-SG" smtClean="0"/>
              <a:t>26/11/2025</a:t>
            </a:fld>
            <a:endParaRPr lang="en-SG" dirty="0"/>
          </a:p>
        </p:txBody>
      </p:sp>
      <p:sp>
        <p:nvSpPr>
          <p:cNvPr id="4" name="Footer Placeholder 3">
            <a:extLst>
              <a:ext uri="{FF2B5EF4-FFF2-40B4-BE49-F238E27FC236}">
                <a16:creationId xmlns:a16="http://schemas.microsoft.com/office/drawing/2014/main" id="{B1FF136A-E7CF-98B4-480E-A32119CB16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5" name="Slide Number Placeholder 4">
            <a:extLst>
              <a:ext uri="{FF2B5EF4-FFF2-40B4-BE49-F238E27FC236}">
                <a16:creationId xmlns:a16="http://schemas.microsoft.com/office/drawing/2014/main" id="{02167F81-B274-2766-0143-5AF2148974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42E51-4BA4-41E8-8E38-E80BA45B03F6}" type="slidenum">
              <a:rPr lang="en-SG" smtClean="0"/>
              <a:t>‹#›</a:t>
            </a:fld>
            <a:endParaRPr lang="en-SG" dirty="0"/>
          </a:p>
        </p:txBody>
      </p:sp>
    </p:spTree>
    <p:extLst>
      <p:ext uri="{BB962C8B-B14F-4D97-AF65-F5344CB8AC3E}">
        <p14:creationId xmlns:p14="http://schemas.microsoft.com/office/powerpoint/2010/main" val="11558915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A0547B-158A-49BE-8714-80B0BEEFC392}" type="datetimeFigureOut">
              <a:rPr lang="en-SG" smtClean="0"/>
              <a:t>26/11/2025</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1C9C6-E11A-4277-9787-7297B88DF7E0}" type="slidenum">
              <a:rPr lang="en-SG" smtClean="0"/>
              <a:t>‹#›</a:t>
            </a:fld>
            <a:endParaRPr lang="en-SG" dirty="0"/>
          </a:p>
        </p:txBody>
      </p:sp>
    </p:spTree>
    <p:extLst>
      <p:ext uri="{BB962C8B-B14F-4D97-AF65-F5344CB8AC3E}">
        <p14:creationId xmlns:p14="http://schemas.microsoft.com/office/powerpoint/2010/main" val="2715609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38CCD-6143-C6E3-7FC2-629C592C7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3068C-91F7-1287-3C32-120B5796CBA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23A6D1-ED7A-913F-D92F-94354D16273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03B0DE99-B407-26F2-8327-B2A856102797}"/>
              </a:ext>
            </a:extLst>
          </p:cNvPr>
          <p:cNvSpPr>
            <a:spLocks noGrp="1"/>
          </p:cNvSpPr>
          <p:nvPr>
            <p:ph type="sldNum" sz="quarter" idx="5"/>
          </p:nvPr>
        </p:nvSpPr>
        <p:spPr/>
        <p:txBody>
          <a:bodyPr/>
          <a:lstStyle/>
          <a:p>
            <a:fld id="{61D1C9C6-E11A-4277-9787-7297B88DF7E0}" type="slidenum">
              <a:rPr lang="en-SG" smtClean="0"/>
              <a:t>1</a:t>
            </a:fld>
            <a:endParaRPr lang="en-SG" dirty="0"/>
          </a:p>
        </p:txBody>
      </p:sp>
    </p:spTree>
    <p:extLst>
      <p:ext uri="{BB962C8B-B14F-4D97-AF65-F5344CB8AC3E}">
        <p14:creationId xmlns:p14="http://schemas.microsoft.com/office/powerpoint/2010/main" val="4014516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D1C9C6-E11A-4277-9787-7297B88DF7E0}" type="slidenum">
              <a:rPr lang="en-SG" smtClean="0"/>
              <a:t>7</a:t>
            </a:fld>
            <a:endParaRPr lang="en-SG" dirty="0"/>
          </a:p>
        </p:txBody>
      </p:sp>
    </p:spTree>
    <p:extLst>
      <p:ext uri="{BB962C8B-B14F-4D97-AF65-F5344CB8AC3E}">
        <p14:creationId xmlns:p14="http://schemas.microsoft.com/office/powerpoint/2010/main" val="1383341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3A8D-602F-F849-1B1F-61B74358F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3AEFE-EA32-E953-2400-BC989CF3A68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9BCA326-CAB5-F52E-351E-90C7A1979A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DC4CE8-E102-511C-8A25-1AA995524BA4}"/>
              </a:ext>
            </a:extLst>
          </p:cNvPr>
          <p:cNvSpPr>
            <a:spLocks noGrp="1"/>
          </p:cNvSpPr>
          <p:nvPr>
            <p:ph type="sldNum" sz="quarter" idx="5"/>
          </p:nvPr>
        </p:nvSpPr>
        <p:spPr/>
        <p:txBody>
          <a:bodyPr/>
          <a:lstStyle/>
          <a:p>
            <a:fld id="{61D1C9C6-E11A-4277-9787-7297B88DF7E0}" type="slidenum">
              <a:rPr lang="en-SG" smtClean="0"/>
              <a:t>13</a:t>
            </a:fld>
            <a:endParaRPr lang="en-SG" dirty="0"/>
          </a:p>
        </p:txBody>
      </p:sp>
    </p:spTree>
    <p:extLst>
      <p:ext uri="{BB962C8B-B14F-4D97-AF65-F5344CB8AC3E}">
        <p14:creationId xmlns:p14="http://schemas.microsoft.com/office/powerpoint/2010/main" val="1471069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Test: We used a fixed dataset (100% scale) and increased the number of workers (each with 4 cores).</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Observation 1 (The Good): Performance scaled well up to 16 cores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(4 workers), achieving a peak speedup of 1.66x.</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Observation 2 (The Limit): At 32 cores, the speedup flattens. This indicates that for this fixed problem size, the overhead of task scheduling, network shuffling, and data aggregation across 8 workers has surpassed the computational gains. The sequential portion of the pipeline and communication overhead have become the dominant bottleneck.</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Conclusion: This is a classic example of Amdahl's Law. The peak speedup of 1.66x was achieved with 4x the hardware resources. Going higher, the throughput starts dropping, indicating that 32 cores is the limit of scalability.</a:t>
            </a:r>
          </a:p>
          <a:p>
            <a:endParaRPr lang="en-IN" dirty="0"/>
          </a:p>
        </p:txBody>
      </p:sp>
      <p:sp>
        <p:nvSpPr>
          <p:cNvPr id="4" name="Slide Number Placeholder 3"/>
          <p:cNvSpPr>
            <a:spLocks noGrp="1"/>
          </p:cNvSpPr>
          <p:nvPr>
            <p:ph type="sldNum" sz="quarter" idx="5"/>
          </p:nvPr>
        </p:nvSpPr>
        <p:spPr/>
        <p:txBody>
          <a:bodyPr/>
          <a:lstStyle/>
          <a:p>
            <a:fld id="{61D1C9C6-E11A-4277-9787-7297B88DF7E0}" type="slidenum">
              <a:rPr lang="en-SG" smtClean="0"/>
              <a:t>14</a:t>
            </a:fld>
            <a:endParaRPr lang="en-SG" dirty="0"/>
          </a:p>
        </p:txBody>
      </p:sp>
    </p:spTree>
    <p:extLst>
      <p:ext uri="{BB962C8B-B14F-4D97-AF65-F5344CB8AC3E}">
        <p14:creationId xmlns:p14="http://schemas.microsoft.com/office/powerpoint/2010/main" val="453880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7F11-AFE1-0AA6-0709-86E01FE63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10201-CA71-FA1F-83CF-31A0A675C85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91D209C-3B43-26B0-1728-3E8C0E538B8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We compare three metrics here:</a:t>
            </a:r>
          </a:p>
          <a:p>
            <a:r>
              <a:rPr lang="en-US" sz="1200" b="0" i="0" kern="1200" dirty="0">
                <a:solidFill>
                  <a:schemeClr val="tx1"/>
                </a:solidFill>
                <a:effectLst/>
                <a:latin typeface="+mn-lt"/>
                <a:ea typeface="+mn-ea"/>
                <a:cs typeface="+mn-cs"/>
              </a:rPr>
              <a:t>Total Executor Run Time: Time spent by executors across all stages. This includes overheads such as scheduling, I/O, and shuffling.</a:t>
            </a:r>
          </a:p>
          <a:p>
            <a:r>
              <a:rPr lang="en-US" sz="1200" b="0" i="0" kern="1200" dirty="0">
                <a:solidFill>
                  <a:schemeClr val="tx1"/>
                </a:solidFill>
                <a:effectLst/>
                <a:latin typeface="+mn-lt"/>
                <a:ea typeface="+mn-ea"/>
                <a:cs typeface="+mn-cs"/>
              </a:rPr>
              <a:t>Total Executor CPU Time: This is the usable work that executors have spent on CPU to process the data.</a:t>
            </a:r>
          </a:p>
          <a:p>
            <a:r>
              <a:rPr lang="en-US" sz="1200" b="0" i="0" kern="1200" dirty="0">
                <a:solidFill>
                  <a:schemeClr val="tx1"/>
                </a:solidFill>
                <a:effectLst/>
                <a:latin typeface="+mn-lt"/>
                <a:ea typeface="+mn-ea"/>
                <a:cs typeface="+mn-cs"/>
              </a:rPr>
              <a:t>CPU Efficiency: (Executor CPU Time / Executor Run Time) * 100 </a:t>
            </a:r>
          </a:p>
          <a:p>
            <a:r>
              <a:rPr lang="en-US" sz="1200" b="0" i="0" kern="1200" dirty="0">
                <a:solidFill>
                  <a:schemeClr val="tx1"/>
                </a:solidFill>
                <a:effectLst/>
                <a:latin typeface="+mn-lt"/>
                <a:ea typeface="+mn-ea"/>
                <a:cs typeface="+mn-cs"/>
              </a:rPr>
              <a:t>An ideal case would be where these two lines overlap, but evidently, a gap arises due to inefficiencies.</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Conclusion:</a:t>
            </a:r>
          </a:p>
          <a:p>
            <a:r>
              <a:rPr lang="en-US" sz="1200" b="0" i="0" kern="1200" dirty="0">
                <a:solidFill>
                  <a:schemeClr val="tx1"/>
                </a:solidFill>
                <a:effectLst/>
                <a:latin typeface="+mn-lt"/>
                <a:ea typeface="+mn-ea"/>
                <a:cs typeface="+mn-cs"/>
              </a:rPr>
              <a:t>Anti-Scaling Effect: Total Run Time increased by 36%. The coordination and communication overhead between 64 cores was more than the computing gains, violating ideal strong scaling.</a:t>
            </a:r>
          </a:p>
          <a:p>
            <a:r>
              <a:rPr lang="en-US" sz="1200" b="0" i="0" kern="1200" dirty="0">
                <a:solidFill>
                  <a:schemeClr val="tx1"/>
                </a:solidFill>
                <a:effectLst/>
                <a:latin typeface="+mn-lt"/>
                <a:ea typeface="+mn-ea"/>
                <a:cs typeface="+mn-cs"/>
              </a:rPr>
              <a:t>Low Efficiency: CPU Efficiency remained below 39%, meaning cores were idle/waiting most of the time. The workload is bottlenecked by data shuffling and I/O, not pure computation.</a:t>
            </a:r>
          </a:p>
          <a:p>
            <a:endParaRPr lang="en-IN" dirty="0"/>
          </a:p>
        </p:txBody>
      </p:sp>
      <p:sp>
        <p:nvSpPr>
          <p:cNvPr id="4" name="Slide Number Placeholder 3">
            <a:extLst>
              <a:ext uri="{FF2B5EF4-FFF2-40B4-BE49-F238E27FC236}">
                <a16:creationId xmlns:a16="http://schemas.microsoft.com/office/drawing/2014/main" id="{244F631A-1DF9-0E35-56E8-E9626B5AC3DC}"/>
              </a:ext>
            </a:extLst>
          </p:cNvPr>
          <p:cNvSpPr>
            <a:spLocks noGrp="1"/>
          </p:cNvSpPr>
          <p:nvPr>
            <p:ph type="sldNum" sz="quarter" idx="5"/>
          </p:nvPr>
        </p:nvSpPr>
        <p:spPr/>
        <p:txBody>
          <a:bodyPr/>
          <a:lstStyle/>
          <a:p>
            <a:fld id="{61D1C9C6-E11A-4277-9787-7297B88DF7E0}" type="slidenum">
              <a:rPr lang="en-SG" smtClean="0"/>
              <a:t>15</a:t>
            </a:fld>
            <a:endParaRPr lang="en-SG" dirty="0"/>
          </a:p>
        </p:txBody>
      </p:sp>
    </p:spTree>
    <p:extLst>
      <p:ext uri="{BB962C8B-B14F-4D97-AF65-F5344CB8AC3E}">
        <p14:creationId xmlns:p14="http://schemas.microsoft.com/office/powerpoint/2010/main" val="1226535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DCD0A-7FD8-3009-B970-51F05F826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C4F74-6242-27D6-AA66-14468C728A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FC4043-9760-3063-EC27-ADE4C5F78A9C}"/>
              </a:ext>
            </a:extLst>
          </p:cNvPr>
          <p:cNvSpPr>
            <a:spLocks noGrp="1"/>
          </p:cNvSpPr>
          <p:nvPr>
            <p:ph type="body" idx="1"/>
          </p:nvPr>
        </p:nvSpPr>
        <p:spPr/>
        <p:txBody>
          <a:bodyPr/>
          <a:lstStyle/>
          <a:p>
            <a:pPr lvl="0">
              <a:defRPr/>
            </a:pPr>
            <a:r>
              <a:rPr lang="en-US" sz="1200" b="1" dirty="0"/>
              <a:t>The Test:</a:t>
            </a:r>
            <a:r>
              <a:rPr lang="en-US" sz="1200" dirty="0"/>
              <a:t> We scaled the dataset size </a:t>
            </a:r>
            <a:r>
              <a:rPr lang="en-US" sz="1200" b="1" dirty="0"/>
              <a:t>proportionally</a:t>
            </a:r>
            <a:r>
              <a:rPr lang="en-US" sz="1200" dirty="0"/>
              <a:t> with the </a:t>
            </a:r>
            <a:r>
              <a:rPr lang="en-US" sz="1200" b="1" dirty="0"/>
              <a:t>number of workers</a:t>
            </a:r>
            <a:r>
              <a:rPr lang="en-US" sz="1200" dirty="0"/>
              <a:t> (e.g., 10% data for 1 worker, 100% data for 10 workers).</a:t>
            </a:r>
          </a:p>
          <a:p>
            <a:pPr lvl="0">
              <a:defRPr/>
            </a:pPr>
            <a:endParaRPr lang="en-US" sz="1200" dirty="0"/>
          </a:p>
          <a:p>
            <a:pPr lvl="0">
              <a:defRPr/>
            </a:pPr>
            <a:r>
              <a:rPr lang="en-US" sz="1200" b="1" dirty="0"/>
              <a:t>Positive Scaling: </a:t>
            </a:r>
            <a:r>
              <a:rPr lang="en-US" sz="1200" dirty="0"/>
              <a:t>The pipeline demonstrates successful weak scaling, as throughput grew by </a:t>
            </a:r>
            <a:r>
              <a:rPr lang="en-US" sz="1200" b="1" dirty="0"/>
              <a:t>4.45x</a:t>
            </a:r>
            <a:r>
              <a:rPr lang="en-US" sz="1200" dirty="0"/>
              <a:t> (from 1370.5 to 6098.4 records/sec) when scaling resources and data load.</a:t>
            </a:r>
          </a:p>
          <a:p>
            <a:pPr lvl="0">
              <a:defRPr/>
            </a:pPr>
            <a:endParaRPr lang="en-US" sz="1200" dirty="0"/>
          </a:p>
          <a:p>
            <a:pPr>
              <a:defRPr/>
            </a:pPr>
            <a:r>
              <a:rPr lang="en-US" sz="1200" b="1" dirty="0"/>
              <a:t>Overhead Bottleneck: </a:t>
            </a:r>
            <a:r>
              <a:rPr lang="en-US" sz="1200" dirty="0"/>
              <a:t>System performance degrades after 16 cores, with E2E time increasing significantly (e.g., jumping from 56.45s to 130.04s). This is caused by non-scalable overhead, likely from network I/O and data shuffling.</a:t>
            </a:r>
          </a:p>
          <a:p>
            <a:pPr>
              <a:defRPr/>
            </a:pPr>
            <a:endParaRPr lang="en-US" sz="1200" dirty="0"/>
          </a:p>
          <a:p>
            <a:pPr lvl="0">
              <a:defRPr/>
            </a:pPr>
            <a:r>
              <a:rPr lang="en-US" sz="1200" b="1" dirty="0"/>
              <a:t>Conclusion:</a:t>
            </a:r>
            <a:r>
              <a:rPr lang="en-US" sz="1200" dirty="0"/>
              <a:t> </a:t>
            </a:r>
            <a:r>
              <a:rPr lang="en-IN" sz="1200" dirty="0"/>
              <a:t>The efficiency drop, even when the data-per-worker is constant, suggests that a non-parallelizable component (such as shuffle operations, which grow with total data size) becomes a severe bottleneck. Throughput continues to increase nearly linearly, even as we reach the 64-core limit.</a:t>
            </a:r>
            <a:endParaRPr lang="en-US" sz="1100" dirty="0"/>
          </a:p>
          <a:p>
            <a:endParaRPr lang="en-IN" dirty="0"/>
          </a:p>
        </p:txBody>
      </p:sp>
      <p:sp>
        <p:nvSpPr>
          <p:cNvPr id="4" name="Slide Number Placeholder 3">
            <a:extLst>
              <a:ext uri="{FF2B5EF4-FFF2-40B4-BE49-F238E27FC236}">
                <a16:creationId xmlns:a16="http://schemas.microsoft.com/office/drawing/2014/main" id="{9BCA806A-CE77-C279-4D1B-780E59E374B0}"/>
              </a:ext>
            </a:extLst>
          </p:cNvPr>
          <p:cNvSpPr>
            <a:spLocks noGrp="1"/>
          </p:cNvSpPr>
          <p:nvPr>
            <p:ph type="sldNum" sz="quarter" idx="5"/>
          </p:nvPr>
        </p:nvSpPr>
        <p:spPr/>
        <p:txBody>
          <a:bodyPr/>
          <a:lstStyle/>
          <a:p>
            <a:fld id="{61D1C9C6-E11A-4277-9787-7297B88DF7E0}" type="slidenum">
              <a:rPr lang="en-SG" smtClean="0"/>
              <a:t>16</a:t>
            </a:fld>
            <a:endParaRPr lang="en-SG" dirty="0"/>
          </a:p>
        </p:txBody>
      </p:sp>
    </p:spTree>
    <p:extLst>
      <p:ext uri="{BB962C8B-B14F-4D97-AF65-F5344CB8AC3E}">
        <p14:creationId xmlns:p14="http://schemas.microsoft.com/office/powerpoint/2010/main" val="2328929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8FD5-261F-DC6F-B8FF-4992A7FC0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F137A-6637-7246-0884-53732B4D7E9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B80899F-D35E-ADC0-5352-1977A21197F5}"/>
              </a:ext>
            </a:extLst>
          </p:cNvPr>
          <p:cNvSpPr>
            <a:spLocks noGrp="1"/>
          </p:cNvSpPr>
          <p:nvPr>
            <p:ph type="body" idx="1"/>
          </p:nvPr>
        </p:nvSpPr>
        <p:spPr/>
        <p:txBody>
          <a:bodyPr/>
          <a:lstStyle/>
          <a:p>
            <a:pPr lvl="0">
              <a:defRPr/>
            </a:pPr>
            <a:r>
              <a:rPr lang="en-US" sz="1600" b="1" dirty="0"/>
              <a:t>The Test:</a:t>
            </a:r>
            <a:r>
              <a:rPr lang="en-US" sz="1600" dirty="0"/>
              <a:t> We fixed the system (64 cores) and dataset (100%) and tested different </a:t>
            </a:r>
            <a:r>
              <a:rPr lang="en-US" sz="1600" b="1" dirty="0"/>
              <a:t>worker-to-core ratios </a:t>
            </a:r>
            <a:r>
              <a:rPr lang="en-US" sz="1600" dirty="0"/>
              <a:t>(e.g., 1 worker with 64 cores, 16 workers with 4 cores, etc.)</a:t>
            </a:r>
          </a:p>
          <a:p>
            <a:pPr lvl="0">
              <a:defRPr/>
            </a:pPr>
            <a:endParaRPr lang="en-US" sz="1600" dirty="0"/>
          </a:p>
          <a:p>
            <a:pPr lvl="0">
              <a:defRPr/>
            </a:pPr>
            <a:r>
              <a:rPr lang="en-IN" sz="1600" b="1" dirty="0"/>
              <a:t>The "Aha!" Moment: </a:t>
            </a:r>
            <a:r>
              <a:rPr lang="en-US" sz="1600" dirty="0"/>
              <a:t>The </a:t>
            </a:r>
            <a:r>
              <a:rPr lang="en-US" sz="1600" b="1" dirty="0"/>
              <a:t>8-worker (8 cores/worker) </a:t>
            </a:r>
            <a:r>
              <a:rPr lang="en-US" sz="1600" dirty="0"/>
              <a:t>configuration was the clear winner. It achieved the </a:t>
            </a:r>
            <a:r>
              <a:rPr lang="en-US" sz="1600" b="1" dirty="0"/>
              <a:t>fastest E2E time</a:t>
            </a:r>
            <a:r>
              <a:rPr lang="en-US" sz="1600" dirty="0"/>
              <a:t> (approx. 117s) and the highest throughput (</a:t>
            </a:r>
            <a:r>
              <a:rPr lang="en-IN" sz="1600" dirty="0"/>
              <a:t>over 6700 records/sec).</a:t>
            </a:r>
            <a:endParaRPr lang="en-US" sz="1600" b="1" dirty="0"/>
          </a:p>
          <a:p>
            <a:pPr lvl="0">
              <a:defRPr/>
            </a:pPr>
            <a:endParaRPr lang="en-US" sz="1600" dirty="0"/>
          </a:p>
          <a:p>
            <a:pPr>
              <a:defRPr/>
            </a:pPr>
            <a:r>
              <a:rPr lang="en-IN" sz="1600" b="1" dirty="0"/>
              <a:t>Final Takeaway:</a:t>
            </a:r>
          </a:p>
          <a:p>
            <a:pPr marL="742950" lvl="1" indent="-285750">
              <a:buFont typeface="Arial" panose="020B0604020202020204" pitchFamily="34" charset="0"/>
              <a:buChar char="•"/>
              <a:defRPr/>
            </a:pPr>
            <a:r>
              <a:rPr lang="en-US" sz="1600" i="1" dirty="0"/>
              <a:t>Too few workers</a:t>
            </a:r>
            <a:r>
              <a:rPr lang="en-US" sz="1600" dirty="0"/>
              <a:t> (e.g., 1x64) = </a:t>
            </a:r>
            <a:r>
              <a:rPr lang="en-IN" sz="1600" dirty="0"/>
              <a:t>slow (approx. 192s) due to poor parallelization and potential GC pressure.</a:t>
            </a:r>
          </a:p>
          <a:p>
            <a:pPr marL="742950" lvl="1" indent="-285750">
              <a:buFont typeface="Arial" panose="020B0604020202020204" pitchFamily="34" charset="0"/>
              <a:buChar char="•"/>
              <a:defRPr/>
            </a:pPr>
            <a:r>
              <a:rPr lang="en-US" sz="1600" i="1" dirty="0"/>
              <a:t>Too many workers </a:t>
            </a:r>
            <a:r>
              <a:rPr lang="en-US" sz="1600" dirty="0"/>
              <a:t>(e.g., 8x8) = excessive scheduling and shuffle overhead.</a:t>
            </a:r>
          </a:p>
          <a:p>
            <a:pPr marL="742950" lvl="1" indent="-285750">
              <a:buFont typeface="Arial" panose="020B0604020202020204" pitchFamily="34" charset="0"/>
              <a:buChar char="•"/>
              <a:defRPr/>
            </a:pPr>
            <a:r>
              <a:rPr lang="en-US" sz="1600" dirty="0"/>
              <a:t>The </a:t>
            </a:r>
            <a:r>
              <a:rPr lang="en-US" sz="1600" b="1" dirty="0"/>
              <a:t>8W-8C setup</a:t>
            </a:r>
            <a:r>
              <a:rPr lang="en-US" sz="1600" dirty="0"/>
              <a:t> provides the optimal balance between parallel execution and communication overhead for this pipeline.</a:t>
            </a:r>
          </a:p>
          <a:p>
            <a:endParaRPr lang="en-IN" dirty="0"/>
          </a:p>
        </p:txBody>
      </p:sp>
      <p:sp>
        <p:nvSpPr>
          <p:cNvPr id="4" name="Slide Number Placeholder 3">
            <a:extLst>
              <a:ext uri="{FF2B5EF4-FFF2-40B4-BE49-F238E27FC236}">
                <a16:creationId xmlns:a16="http://schemas.microsoft.com/office/drawing/2014/main" id="{3909A76A-3E4B-C896-5326-D82BF371BDB0}"/>
              </a:ext>
            </a:extLst>
          </p:cNvPr>
          <p:cNvSpPr>
            <a:spLocks noGrp="1"/>
          </p:cNvSpPr>
          <p:nvPr>
            <p:ph type="sldNum" sz="quarter" idx="5"/>
          </p:nvPr>
        </p:nvSpPr>
        <p:spPr/>
        <p:txBody>
          <a:bodyPr/>
          <a:lstStyle/>
          <a:p>
            <a:fld id="{61D1C9C6-E11A-4277-9787-7297B88DF7E0}" type="slidenum">
              <a:rPr lang="en-SG" smtClean="0"/>
              <a:t>17</a:t>
            </a:fld>
            <a:endParaRPr lang="en-SG" dirty="0"/>
          </a:p>
        </p:txBody>
      </p:sp>
    </p:spTree>
    <p:extLst>
      <p:ext uri="{BB962C8B-B14F-4D97-AF65-F5344CB8AC3E}">
        <p14:creationId xmlns:p14="http://schemas.microsoft.com/office/powerpoint/2010/main" val="502276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B93ED-7C14-4A54-9BF9-734074283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B904A-C104-1D3E-732B-75D91E5098E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6ED20B-06E7-C270-D157-0091371AF67E}"/>
              </a:ext>
            </a:extLst>
          </p:cNvPr>
          <p:cNvSpPr>
            <a:spLocks noGrp="1"/>
          </p:cNvSpPr>
          <p:nvPr>
            <p:ph type="body" idx="1"/>
          </p:nvPr>
        </p:nvSpPr>
        <p:spPr/>
        <p:txBody>
          <a:bodyPr/>
          <a:lstStyle/>
          <a:p>
            <a:pPr lvl="0">
              <a:defRPr/>
            </a:pPr>
            <a:r>
              <a:rPr lang="en-US" sz="1200" dirty="0"/>
              <a:t>Here we see the time spent by all cores on the CPU for garbage collection. It is a substantial inefficiency in JAVA workloads, and finding a balance between distribution overhead and GC is necessary.</a:t>
            </a:r>
          </a:p>
          <a:p>
            <a:pPr lvl="0">
              <a:defRPr/>
            </a:pPr>
            <a:endParaRPr lang="en-US" sz="1200" dirty="0"/>
          </a:p>
          <a:p>
            <a:pPr lvl="0">
              <a:defRPr/>
            </a:pPr>
            <a:r>
              <a:rPr lang="en-US" sz="1200" b="1" dirty="0"/>
              <a:t>Case 1 (1 Worker):</a:t>
            </a:r>
            <a:r>
              <a:rPr lang="en-US" sz="1200" dirty="0"/>
              <a:t> Substantial time was spent in GC when 1 worker occupied all 64 cores, leading to its memory getting overwhelmed. The worker being spread across sockets incurs an extra cost.</a:t>
            </a:r>
          </a:p>
          <a:p>
            <a:pPr lvl="0">
              <a:defRPr/>
            </a:pPr>
            <a:endParaRPr lang="en-US" sz="1200" dirty="0"/>
          </a:p>
          <a:p>
            <a:pPr lvl="0"/>
            <a:r>
              <a:rPr lang="en-US" sz="1200" b="1" dirty="0"/>
              <a:t>Case 2 (16W): </a:t>
            </a:r>
            <a:r>
              <a:rPr lang="en-IN" sz="1200" b="1" dirty="0"/>
              <a:t>L</a:t>
            </a:r>
            <a:r>
              <a:rPr lang="en-IN" sz="1200" dirty="0"/>
              <a:t>owest Total GC Time (9306.00s), but its E2E Time (144.96s) is significantly </a:t>
            </a:r>
            <a:r>
              <a:rPr lang="en-IN" sz="1200" i="1" dirty="0"/>
              <a:t>worse</a:t>
            </a:r>
            <a:r>
              <a:rPr lang="en-IN" sz="1200" dirty="0"/>
              <a:t> than 8W-8C. This indicates that while the system spent less CPU time on GC, it was </a:t>
            </a:r>
            <a:r>
              <a:rPr lang="en-IN" sz="1200" b="1" dirty="0"/>
              <a:t>overwhelmed by coordination and shuffle overhead </a:t>
            </a:r>
            <a:r>
              <a:rPr lang="en-IN" sz="1200" dirty="0"/>
              <a:t>due to managing 16 separate workers (JVMs)</a:t>
            </a:r>
          </a:p>
          <a:p>
            <a:pPr lvl="0"/>
            <a:endParaRPr lang="en-US" sz="1200" b="1" dirty="0"/>
          </a:p>
          <a:p>
            <a:pPr>
              <a:defRPr/>
            </a:pPr>
            <a:r>
              <a:rPr lang="en-US" sz="1200" b="1" dirty="0"/>
              <a:t>Conclusion: </a:t>
            </a:r>
            <a:r>
              <a:rPr lang="en-US" sz="1200" dirty="0"/>
              <a:t>The “sweet spot” of 8 workers </a:t>
            </a:r>
            <a:br>
              <a:rPr lang="en-US" sz="1200" dirty="0"/>
            </a:br>
            <a:r>
              <a:rPr lang="en-US" sz="1200" dirty="0"/>
              <a:t>(8 cores each) </a:t>
            </a:r>
            <a:r>
              <a:rPr lang="en-IN" sz="1200" dirty="0"/>
              <a:t>accepts a slightly </a:t>
            </a:r>
            <a:r>
              <a:rPr lang="en-IN" sz="1200" i="1" dirty="0"/>
              <a:t>higher</a:t>
            </a:r>
            <a:r>
              <a:rPr lang="en-IN" sz="1200" dirty="0"/>
              <a:t> amount of Total GC Time compared to the 16-worker setup, but it </a:t>
            </a:r>
            <a:r>
              <a:rPr lang="en-IN" sz="1200" i="1" dirty="0"/>
              <a:t>drastically</a:t>
            </a:r>
            <a:r>
              <a:rPr lang="en-IN" sz="1200" dirty="0"/>
              <a:t> reduces the coordination and shuffle overhead by using only 8 workers. </a:t>
            </a:r>
          </a:p>
          <a:p>
            <a:pPr lvl="0">
              <a:defRPr/>
            </a:pPr>
            <a:endParaRPr lang="en-US" sz="1200" b="1" dirty="0"/>
          </a:p>
          <a:p>
            <a:endParaRPr lang="en-IN" dirty="0"/>
          </a:p>
        </p:txBody>
      </p:sp>
      <p:sp>
        <p:nvSpPr>
          <p:cNvPr id="4" name="Slide Number Placeholder 3">
            <a:extLst>
              <a:ext uri="{FF2B5EF4-FFF2-40B4-BE49-F238E27FC236}">
                <a16:creationId xmlns:a16="http://schemas.microsoft.com/office/drawing/2014/main" id="{6EBB0340-A835-7A05-5958-DC41EDBF1E23}"/>
              </a:ext>
            </a:extLst>
          </p:cNvPr>
          <p:cNvSpPr>
            <a:spLocks noGrp="1"/>
          </p:cNvSpPr>
          <p:nvPr>
            <p:ph type="sldNum" sz="quarter" idx="5"/>
          </p:nvPr>
        </p:nvSpPr>
        <p:spPr/>
        <p:txBody>
          <a:bodyPr/>
          <a:lstStyle/>
          <a:p>
            <a:fld id="{61D1C9C6-E11A-4277-9787-7297B88DF7E0}" type="slidenum">
              <a:rPr lang="en-SG" smtClean="0"/>
              <a:t>18</a:t>
            </a:fld>
            <a:endParaRPr lang="en-SG" dirty="0"/>
          </a:p>
        </p:txBody>
      </p:sp>
    </p:spTree>
    <p:extLst>
      <p:ext uri="{BB962C8B-B14F-4D97-AF65-F5344CB8AC3E}">
        <p14:creationId xmlns:p14="http://schemas.microsoft.com/office/powerpoint/2010/main" val="459118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3809B-21D9-BEFF-F744-ADBE5E2DC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E47FC-6F46-EF61-4DCE-0455DE10E5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96FA179-F137-B0AE-4574-0AED289B62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CFC669-FCD2-213E-C865-A2101D31A5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1D1C9C6-E11A-4277-9787-7297B88DF7E0}" type="slidenum">
              <a:rPr kumimoji="0" lang="en-SG"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SG"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3268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D1C9C6-E11A-4277-9787-7297B88DF7E0}" type="slidenum">
              <a:rPr lang="en-SG" smtClean="0"/>
              <a:t>23</a:t>
            </a:fld>
            <a:endParaRPr lang="en-SG" dirty="0"/>
          </a:p>
        </p:txBody>
      </p:sp>
    </p:spTree>
    <p:extLst>
      <p:ext uri="{BB962C8B-B14F-4D97-AF65-F5344CB8AC3E}">
        <p14:creationId xmlns:p14="http://schemas.microsoft.com/office/powerpoint/2010/main" val="2543299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97280" y="758952"/>
            <a:ext cx="10058400" cy="3566160"/>
          </a:xfrm>
        </p:spPr>
        <p:txBody>
          <a:bodyPr anchor="b">
            <a:normAutofit/>
          </a:bodyPr>
          <a:lstStyle>
            <a:lvl1pPr algn="l">
              <a:lnSpc>
                <a:spcPct val="85000"/>
              </a:lnSpc>
              <a:defRPr sz="3600" spc="-50" baseline="0">
                <a:solidFill>
                  <a:srgbClr val="125C99"/>
                </a:solidFill>
              </a:defRPr>
            </a:lvl1pPr>
          </a:lstStyle>
          <a:p>
            <a:r>
              <a:rPr lang="en-US"/>
              <a:t>Title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b="0" i="1" cap="none" spc="200" baseline="0">
                <a:solidFill>
                  <a:srgbClr val="125C99"/>
                </a:solidFill>
                <a:latin typeface="Graphik Light" panose="020B0403030202060203"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6" name="Rectangle 5">
            <a:extLst>
              <a:ext uri="{FF2B5EF4-FFF2-40B4-BE49-F238E27FC236}">
                <a16:creationId xmlns:a16="http://schemas.microsoft.com/office/drawing/2014/main" id="{55E40B5F-8E85-EEE8-22B5-A003E0B82F48}"/>
              </a:ext>
            </a:extLst>
          </p:cNvPr>
          <p:cNvSpPr/>
          <p:nvPr userDrawn="1"/>
        </p:nvSpPr>
        <p:spPr>
          <a:xfrm>
            <a:off x="0" y="6398324"/>
            <a:ext cx="12188825" cy="4572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Tree>
    <p:extLst>
      <p:ext uri="{BB962C8B-B14F-4D97-AF65-F5344CB8AC3E}">
        <p14:creationId xmlns:p14="http://schemas.microsoft.com/office/powerpoint/2010/main" val="3689904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buClr>
                <a:srgbClr val="C32B61"/>
              </a:buClr>
              <a:defRPr>
                <a:latin typeface="Arial Nova" panose="020B0504020202020204" pitchFamily="34" charset="0"/>
              </a:defRPr>
            </a:lvl1pPr>
            <a:lvl2pPr>
              <a:buClr>
                <a:srgbClr val="C32B61"/>
              </a:buClr>
              <a:defRPr>
                <a:latin typeface="Arial Nova" panose="020B0504020202020204" pitchFamily="34" charset="0"/>
              </a:defRPr>
            </a:lvl2pPr>
            <a:lvl3pPr>
              <a:buClr>
                <a:srgbClr val="C32B61"/>
              </a:buClr>
              <a:defRPr>
                <a:latin typeface="Arial Nova" panose="020B0504020202020204" pitchFamily="34" charset="0"/>
              </a:defRPr>
            </a:lvl3pPr>
            <a:lvl4pPr>
              <a:buClr>
                <a:srgbClr val="C32B61"/>
              </a:buClr>
              <a:defRPr>
                <a:latin typeface="Arial Nova" panose="020B0504020202020204" pitchFamily="34" charset="0"/>
              </a:defRPr>
            </a:lvl4pPr>
            <a:lvl5pPr>
              <a:buClr>
                <a:srgbClr val="C32B61"/>
              </a:buClr>
              <a:defRPr>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551C70ED-94CA-A642-FD1E-522A6990F33D}"/>
              </a:ext>
            </a:extLst>
          </p:cNvPr>
          <p:cNvSpPr>
            <a:spLocks noGrp="1"/>
          </p:cNvSpPr>
          <p:nvPr>
            <p:ph type="title"/>
          </p:nvPr>
        </p:nvSpPr>
        <p:spPr/>
        <p:txBody>
          <a:bodyPr/>
          <a:lstStyle>
            <a:lvl1pPr>
              <a:defRPr>
                <a:solidFill>
                  <a:srgbClr val="125C99"/>
                </a:solidFill>
              </a:defRPr>
            </a:lvl1pPr>
          </a:lstStyle>
          <a:p>
            <a:r>
              <a:rPr lang="en-US"/>
              <a:t>Click to edit Master title style</a:t>
            </a:r>
            <a:endParaRPr lang="en-SG"/>
          </a:p>
        </p:txBody>
      </p:sp>
      <p:sp>
        <p:nvSpPr>
          <p:cNvPr id="11" name="Footer Placeholder 10">
            <a:extLst>
              <a:ext uri="{FF2B5EF4-FFF2-40B4-BE49-F238E27FC236}">
                <a16:creationId xmlns:a16="http://schemas.microsoft.com/office/drawing/2014/main" id="{F14EF858-2983-E647-2178-E92591E7E8FD}"/>
              </a:ext>
            </a:extLst>
          </p:cNvPr>
          <p:cNvSpPr>
            <a:spLocks noGrp="1"/>
          </p:cNvSpPr>
          <p:nvPr>
            <p:ph type="ftr" sz="quarter" idx="11"/>
          </p:nvPr>
        </p:nvSpPr>
        <p:spPr/>
        <p:txBody>
          <a:bodyPr/>
          <a:lstStyle/>
          <a:p>
            <a:r>
              <a:rPr lang="it-IT"/>
              <a:t>DA 204o: Data Science in Practice</a:t>
            </a:r>
            <a:endParaRPr lang="en-SG" dirty="0"/>
          </a:p>
        </p:txBody>
      </p:sp>
      <p:sp>
        <p:nvSpPr>
          <p:cNvPr id="12" name="Slide Number Placeholder 11">
            <a:extLst>
              <a:ext uri="{FF2B5EF4-FFF2-40B4-BE49-F238E27FC236}">
                <a16:creationId xmlns:a16="http://schemas.microsoft.com/office/drawing/2014/main" id="{2C483A77-9139-666A-419A-D5D0E83B91ED}"/>
              </a:ext>
            </a:extLst>
          </p:cNvPr>
          <p:cNvSpPr>
            <a:spLocks noGrp="1"/>
          </p:cNvSpPr>
          <p:nvPr>
            <p:ph type="sldNum" sz="quarter" idx="12"/>
          </p:nvPr>
        </p:nvSpPr>
        <p:spPr/>
        <p:txBody>
          <a:bodyPr/>
          <a:lstStyle/>
          <a:p>
            <a:fld id="{BF1758FF-0BF1-4103-A89A-38EC40E85429}" type="slidenum">
              <a:rPr lang="en-SG" smtClean="0"/>
              <a:pPr/>
              <a:t>‹#›</a:t>
            </a:fld>
            <a:endParaRPr lang="en-SG" dirty="0"/>
          </a:p>
        </p:txBody>
      </p:sp>
    </p:spTree>
    <p:extLst>
      <p:ext uri="{BB962C8B-B14F-4D97-AF65-F5344CB8AC3E}">
        <p14:creationId xmlns:p14="http://schemas.microsoft.com/office/powerpoint/2010/main" val="881070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it-IT"/>
              <a:t>DA 204o: Data Science in Practice</a:t>
            </a:r>
            <a:endParaRPr lang="en-SG" dirty="0"/>
          </a:p>
        </p:txBody>
      </p:sp>
      <p:sp>
        <p:nvSpPr>
          <p:cNvPr id="5" name="Slide Number Placeholder 4"/>
          <p:cNvSpPr>
            <a:spLocks noGrp="1"/>
          </p:cNvSpPr>
          <p:nvPr>
            <p:ph type="sldNum" sz="quarter" idx="12"/>
          </p:nvPr>
        </p:nvSpPr>
        <p:spPr/>
        <p:txBody>
          <a:bodyPr/>
          <a:lstStyle/>
          <a:p>
            <a:fld id="{BF1758FF-0BF1-4103-A89A-38EC40E85429}" type="slidenum">
              <a:rPr lang="en-SG" smtClean="0"/>
              <a:t>‹#›</a:t>
            </a:fld>
            <a:endParaRPr lang="en-SG" dirty="0"/>
          </a:p>
        </p:txBody>
      </p:sp>
    </p:spTree>
    <p:extLst>
      <p:ext uri="{BB962C8B-B14F-4D97-AF65-F5344CB8AC3E}">
        <p14:creationId xmlns:p14="http://schemas.microsoft.com/office/powerpoint/2010/main" val="3225785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Tx" preserve="1">
  <p:cSld name="5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D9C957-3D36-784B-CCB2-F897908B8900}"/>
              </a:ext>
            </a:extLst>
          </p:cNvPr>
          <p:cNvSpPr/>
          <p:nvPr userDrawn="1"/>
        </p:nvSpPr>
        <p:spPr>
          <a:xfrm>
            <a:off x="16" y="0"/>
            <a:ext cx="4050791" cy="68580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457200" y="417251"/>
            <a:ext cx="3200400" cy="2104007"/>
          </a:xfrm>
        </p:spPr>
        <p:txBody>
          <a:bodyPr anchor="b">
            <a:normAutofit/>
          </a:bodyPr>
          <a:lstStyle>
            <a:lvl1pPr>
              <a:lnSpc>
                <a:spcPct val="100000"/>
              </a:lnSpc>
              <a:defRPr sz="3200" b="1">
                <a:solidFill>
                  <a:schemeClr val="bg1"/>
                </a:solidFill>
                <a:latin typeface="Arial Nova" panose="020B0504020202020204" pitchFamily="34" charset="0"/>
              </a:defRPr>
            </a:lvl1pPr>
          </a:lstStyle>
          <a:p>
            <a:r>
              <a:rPr lang="en-US"/>
              <a:t>Click to edit Master title style</a:t>
            </a:r>
          </a:p>
        </p:txBody>
      </p:sp>
      <p:sp>
        <p:nvSpPr>
          <p:cNvPr id="3" name="Content Placeholder 2"/>
          <p:cNvSpPr>
            <a:spLocks noGrp="1"/>
          </p:cNvSpPr>
          <p:nvPr>
            <p:ph idx="1"/>
          </p:nvPr>
        </p:nvSpPr>
        <p:spPr>
          <a:xfrm>
            <a:off x="4403324" y="417251"/>
            <a:ext cx="7448365" cy="5887954"/>
          </a:xfrm>
        </p:spPr>
        <p:txBody>
          <a:bodyPr>
            <a:normAutofit/>
          </a:bodyPr>
          <a:lstStyle>
            <a:lvl1pPr>
              <a:defRPr sz="2400">
                <a:latin typeface="Arial Nova" panose="020B0504020202020204" pitchFamily="34" charset="0"/>
              </a:defRPr>
            </a:lvl1pPr>
            <a:lvl2pPr>
              <a:defRPr sz="2000">
                <a:latin typeface="Arial Nova" panose="020B0504020202020204" pitchFamily="34" charset="0"/>
              </a:defRPr>
            </a:lvl2pPr>
            <a:lvl3pPr>
              <a:defRPr sz="1600">
                <a:latin typeface="Arial Nova" panose="020B0504020202020204" pitchFamily="34" charset="0"/>
              </a:defRPr>
            </a:lvl3pPr>
            <a:lvl4pPr>
              <a:defRPr sz="1600">
                <a:latin typeface="Arial Nova" panose="020B0504020202020204" pitchFamily="34" charset="0"/>
              </a:defRPr>
            </a:lvl4pPr>
            <a:lvl5pPr>
              <a:defRPr sz="1600">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2000">
                <a:solidFill>
                  <a:schemeClr val="bg1"/>
                </a:solidFill>
                <a:latin typeface="Graphik Regular" panose="020B050303020206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4415108" y="6448459"/>
            <a:ext cx="4714449" cy="376449"/>
          </a:xfrm>
        </p:spPr>
        <p:txBody>
          <a:bodyPr/>
          <a:lstStyle>
            <a:lvl1pPr algn="l">
              <a:defRPr>
                <a:solidFill>
                  <a:schemeClr val="bg1">
                    <a:lumMod val="50000"/>
                  </a:schemeClr>
                </a:solidFill>
              </a:defRPr>
            </a:lvl1pPr>
          </a:lstStyle>
          <a:p>
            <a:r>
              <a:rPr lang="it-IT"/>
              <a:t>DA 204o: Data Science in Practice</a:t>
            </a:r>
            <a:endParaRPr lang="en-SG"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dirty="0"/>
          </a:p>
        </p:txBody>
      </p:sp>
    </p:spTree>
    <p:extLst>
      <p:ext uri="{BB962C8B-B14F-4D97-AF65-F5344CB8AC3E}">
        <p14:creationId xmlns:p14="http://schemas.microsoft.com/office/powerpoint/2010/main" val="31043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4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D9C957-3D36-784B-CCB2-F897908B8900}"/>
              </a:ext>
            </a:extLst>
          </p:cNvPr>
          <p:cNvSpPr/>
          <p:nvPr userDrawn="1"/>
        </p:nvSpPr>
        <p:spPr>
          <a:xfrm>
            <a:off x="16" y="0"/>
            <a:ext cx="4050791" cy="68580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sp>
        <p:nvSpPr>
          <p:cNvPr id="2" name="Title 1"/>
          <p:cNvSpPr>
            <a:spLocks noGrp="1"/>
          </p:cNvSpPr>
          <p:nvPr>
            <p:ph type="title"/>
          </p:nvPr>
        </p:nvSpPr>
        <p:spPr>
          <a:xfrm>
            <a:off x="457200" y="417251"/>
            <a:ext cx="3200400" cy="2104007"/>
          </a:xfrm>
        </p:spPr>
        <p:txBody>
          <a:bodyPr anchor="b">
            <a:normAutofit/>
          </a:bodyPr>
          <a:lstStyle>
            <a:lvl1pPr>
              <a:lnSpc>
                <a:spcPct val="100000"/>
              </a:lnSpc>
              <a:defRPr sz="3200" b="1">
                <a:solidFill>
                  <a:schemeClr val="bg1"/>
                </a:solidFill>
                <a:latin typeface="Arial Nova" panose="020B0504020202020204" pitchFamily="34" charset="0"/>
              </a:defRPr>
            </a:lvl1pPr>
          </a:lstStyle>
          <a:p>
            <a:r>
              <a:rPr lang="en-US"/>
              <a:t>Click to edit Master title style</a:t>
            </a:r>
          </a:p>
        </p:txBody>
      </p:sp>
      <p:sp>
        <p:nvSpPr>
          <p:cNvPr id="3" name="Content Placeholder 2"/>
          <p:cNvSpPr>
            <a:spLocks noGrp="1"/>
          </p:cNvSpPr>
          <p:nvPr>
            <p:ph idx="1"/>
          </p:nvPr>
        </p:nvSpPr>
        <p:spPr>
          <a:xfrm>
            <a:off x="4403324" y="417251"/>
            <a:ext cx="7448365" cy="5887954"/>
          </a:xfrm>
        </p:spPr>
        <p:txBody>
          <a:bodyPr>
            <a:normAutofit/>
          </a:bodyPr>
          <a:lstStyle>
            <a:lvl1pPr>
              <a:defRPr sz="2400">
                <a:latin typeface="Arial Nova" panose="020B0504020202020204" pitchFamily="34" charset="0"/>
              </a:defRPr>
            </a:lvl1pPr>
            <a:lvl2pPr>
              <a:defRPr sz="2000">
                <a:latin typeface="Arial Nova" panose="020B0504020202020204" pitchFamily="34" charset="0"/>
              </a:defRPr>
            </a:lvl2pPr>
            <a:lvl3pPr>
              <a:defRPr sz="1600">
                <a:latin typeface="Arial Nova" panose="020B0504020202020204" pitchFamily="34" charset="0"/>
              </a:defRPr>
            </a:lvl3pPr>
            <a:lvl4pPr>
              <a:defRPr sz="1600">
                <a:latin typeface="Arial Nova" panose="020B0504020202020204" pitchFamily="34" charset="0"/>
              </a:defRPr>
            </a:lvl4pPr>
            <a:lvl5pPr>
              <a:defRPr sz="1600">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2000">
                <a:solidFill>
                  <a:schemeClr val="bg1"/>
                </a:solidFill>
                <a:latin typeface="Graphik Regular" panose="020B050303020206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4415108" y="6448459"/>
            <a:ext cx="4714449" cy="376449"/>
          </a:xfrm>
        </p:spPr>
        <p:txBody>
          <a:bodyPr/>
          <a:lstStyle>
            <a:lvl1pPr algn="l">
              <a:defRPr>
                <a:solidFill>
                  <a:schemeClr val="bg1">
                    <a:lumMod val="50000"/>
                  </a:schemeClr>
                </a:solidFill>
              </a:defRPr>
            </a:lvl1pPr>
          </a:lstStyle>
          <a:p>
            <a:r>
              <a:rPr lang="it-IT"/>
              <a:t>DA 204o: Data Science in Practice</a:t>
            </a:r>
            <a:endParaRPr lang="en-SG"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dirty="0"/>
          </a:p>
        </p:txBody>
      </p:sp>
      <p:pic>
        <p:nvPicPr>
          <p:cNvPr id="1026" name="Picture 2">
            <a:extLst>
              <a:ext uri="{FF2B5EF4-FFF2-40B4-BE49-F238E27FC236}">
                <a16:creationId xmlns:a16="http://schemas.microsoft.com/office/drawing/2014/main" id="{2DC710EE-2F6A-88D9-2835-61B2028C8D93}"/>
              </a:ext>
            </a:extLst>
          </p:cNvPr>
          <p:cNvPicPr>
            <a:picLocks noChangeAspect="1" noChangeArrowheads="1"/>
          </p:cNvPicPr>
          <p:nvPr userDrawn="1"/>
        </p:nvPicPr>
        <p:blipFill>
          <a:blip r:embed="rId2">
            <a:alphaModFix amt="5000"/>
            <a:extLst>
              <a:ext uri="{28A0092B-C50C-407E-A947-70E740481C1C}">
                <a14:useLocalDpi xmlns:a14="http://schemas.microsoft.com/office/drawing/2010/main" val="0"/>
              </a:ext>
            </a:extLst>
          </a:blip>
          <a:srcRect/>
          <a:stretch>
            <a:fillRect/>
          </a:stretch>
        </p:blipFill>
        <p:spPr bwMode="auto">
          <a:xfrm>
            <a:off x="340311" y="3028685"/>
            <a:ext cx="3552917" cy="3552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2426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3984" y="106532"/>
            <a:ext cx="11532093" cy="63031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363984" y="941033"/>
            <a:ext cx="11532093" cy="535071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none" baseline="0">
                <a:solidFill>
                  <a:schemeClr val="bg1">
                    <a:lumMod val="50000"/>
                  </a:schemeClr>
                </a:solidFill>
                <a:latin typeface="Arial Nova" panose="020B0504020202020204" pitchFamily="34" charset="0"/>
              </a:defRPr>
            </a:lvl1pPr>
          </a:lstStyle>
          <a:p>
            <a:r>
              <a:rPr lang="it-IT"/>
              <a:t>DA 204o: Data Science in Practice</a:t>
            </a:r>
            <a:endParaRPr lang="en-SG" dirty="0"/>
          </a:p>
        </p:txBody>
      </p:sp>
      <p:sp>
        <p:nvSpPr>
          <p:cNvPr id="6" name="Slide Number Placeholder 5"/>
          <p:cNvSpPr>
            <a:spLocks noGrp="1"/>
          </p:cNvSpPr>
          <p:nvPr>
            <p:ph type="sldNum" sz="quarter" idx="4"/>
          </p:nvPr>
        </p:nvSpPr>
        <p:spPr>
          <a:xfrm>
            <a:off x="10879975" y="6459784"/>
            <a:ext cx="1312025" cy="365125"/>
          </a:xfrm>
          <a:prstGeom prst="rect">
            <a:avLst/>
          </a:prstGeom>
          <a:noFill/>
        </p:spPr>
        <p:txBody>
          <a:bodyPr vert="horz" lIns="91440" tIns="45720" rIns="91440" bIns="45720" rtlCol="0" anchor="ctr"/>
          <a:lstStyle>
            <a:lvl1pPr algn="r">
              <a:defRPr sz="900">
                <a:solidFill>
                  <a:schemeClr val="bg1">
                    <a:lumMod val="50000"/>
                  </a:schemeClr>
                </a:solidFill>
                <a:latin typeface="Arial Nova" panose="020B0504020202020204" pitchFamily="34" charset="0"/>
              </a:defRPr>
            </a:lvl1pPr>
          </a:lstStyle>
          <a:p>
            <a:fld id="{BF1758FF-0BF1-4103-A89A-38EC40E85429}" type="slidenum">
              <a:rPr lang="en-SG" smtClean="0"/>
              <a:pPr/>
              <a:t>‹#›</a:t>
            </a:fld>
            <a:endParaRPr lang="en-SG" dirty="0"/>
          </a:p>
        </p:txBody>
      </p:sp>
      <p:sp>
        <p:nvSpPr>
          <p:cNvPr id="9" name="Rectangle 8">
            <a:extLst>
              <a:ext uri="{FF2B5EF4-FFF2-40B4-BE49-F238E27FC236}">
                <a16:creationId xmlns:a16="http://schemas.microsoft.com/office/drawing/2014/main" id="{E101544A-9BB0-391C-AD93-827BB2E263E8}"/>
              </a:ext>
            </a:extLst>
          </p:cNvPr>
          <p:cNvSpPr/>
          <p:nvPr userDrawn="1"/>
        </p:nvSpPr>
        <p:spPr>
          <a:xfrm>
            <a:off x="-106787" y="0"/>
            <a:ext cx="213574" cy="736847"/>
          </a:xfrm>
          <a:prstGeom prst="rect">
            <a:avLst/>
          </a:prstGeom>
          <a:solidFill>
            <a:srgbClr val="C32B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411507845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82" r:id="rId3"/>
    <p:sldLayoutId id="2147483791" r:id="rId4"/>
    <p:sldLayoutId id="2147483790" r:id="rId5"/>
  </p:sldLayoutIdLst>
  <p:hf hdr="0" dt="0"/>
  <p:txStyles>
    <p:titleStyle>
      <a:lvl1pPr algn="l" defTabSz="914400" rtl="0" eaLnBrk="1" latinLnBrk="0" hangingPunct="1">
        <a:lnSpc>
          <a:spcPct val="85000"/>
        </a:lnSpc>
        <a:spcBef>
          <a:spcPct val="0"/>
        </a:spcBef>
        <a:buNone/>
        <a:defRPr sz="3200" b="1" kern="1200" spc="-50" baseline="0">
          <a:solidFill>
            <a:srgbClr val="125C99"/>
          </a:solidFill>
          <a:latin typeface="Arial Nova" panose="020B0504020202020204" pitchFamily="34" charset="0"/>
          <a:ea typeface="+mj-ea"/>
          <a:cs typeface="+mj-cs"/>
        </a:defRPr>
      </a:lvl1pPr>
    </p:titleStyle>
    <p:bodyStyle>
      <a:lvl1pPr marL="216000" indent="-216000" algn="l" defTabSz="914400" rtl="0" eaLnBrk="1" latinLnBrk="0" hangingPunct="1">
        <a:lnSpc>
          <a:spcPct val="90000"/>
        </a:lnSpc>
        <a:spcBef>
          <a:spcPts val="1200"/>
        </a:spcBef>
        <a:spcAft>
          <a:spcPts val="200"/>
        </a:spcAft>
        <a:buClr>
          <a:srgbClr val="C32B61"/>
        </a:buClr>
        <a:buSzPct val="100000"/>
        <a:buFont typeface="Symbol" panose="05050102010706020507" pitchFamily="18" charset="2"/>
        <a:buChar char=""/>
        <a:defRPr sz="2400" kern="1200">
          <a:solidFill>
            <a:schemeClr val="tx1">
              <a:lumMod val="75000"/>
              <a:lumOff val="25000"/>
            </a:schemeClr>
          </a:solidFill>
          <a:latin typeface="Arial Nova" panose="020B0504020202020204" pitchFamily="34" charset="0"/>
          <a:ea typeface="+mn-ea"/>
          <a:cs typeface="+mn-cs"/>
        </a:defRPr>
      </a:lvl1pPr>
      <a:lvl2pPr marL="48691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2000" kern="1200">
          <a:solidFill>
            <a:schemeClr val="tx1">
              <a:lumMod val="75000"/>
              <a:lumOff val="25000"/>
            </a:schemeClr>
          </a:solidFill>
          <a:latin typeface="Arial Nova" panose="020B0504020202020204" pitchFamily="34" charset="0"/>
          <a:ea typeface="+mn-ea"/>
          <a:cs typeface="+mn-cs"/>
        </a:defRPr>
      </a:lvl2pPr>
      <a:lvl3pPr marL="66979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3pPr>
      <a:lvl4pPr marL="85267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4pPr>
      <a:lvl5pPr marL="103555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mailto:ritikagarwal@iisc.ac.in"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tmayank@iisc.ac.in" TargetMode="External"/><Relationship Id="rId5" Type="http://schemas.openxmlformats.org/officeDocument/2006/relationships/hyperlink" Target="mailto:himanshu5@iisc.ac.in" TargetMode="External"/><Relationship Id="rId4" Type="http://schemas.openxmlformats.org/officeDocument/2006/relationships/hyperlink" Target="mailto:sanjana2@iisc.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95B75-9FF0-A75A-AA0D-8E68D98AA3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799F85-DB3F-DFC2-8371-DD7C4FB98B30}"/>
              </a:ext>
            </a:extLst>
          </p:cNvPr>
          <p:cNvSpPr>
            <a:spLocks noGrp="1"/>
          </p:cNvSpPr>
          <p:nvPr>
            <p:ph type="ctrTitle"/>
          </p:nvPr>
        </p:nvSpPr>
        <p:spPr>
          <a:xfrm>
            <a:off x="406951" y="1691351"/>
            <a:ext cx="6456961" cy="2505563"/>
          </a:xfrm>
        </p:spPr>
        <p:txBody>
          <a:bodyPr>
            <a:normAutofit/>
          </a:bodyPr>
          <a:lstStyle/>
          <a:p>
            <a:pPr>
              <a:lnSpc>
                <a:spcPct val="100000"/>
              </a:lnSpc>
              <a:spcBef>
                <a:spcPts val="0"/>
              </a:spcBef>
              <a:spcAft>
                <a:spcPts val="1200"/>
              </a:spcAft>
            </a:pPr>
            <a:r>
              <a:rPr lang="en-SG" sz="2400" b="1" dirty="0">
                <a:latin typeface="Arial Nova" panose="020B0504020202020204" pitchFamily="34" charset="0"/>
              </a:rPr>
              <a:t>DA 231o</a:t>
            </a:r>
            <a:r>
              <a:rPr lang="en-SG" sz="2400" dirty="0">
                <a:solidFill>
                  <a:srgbClr val="125C99"/>
                </a:solidFill>
                <a:latin typeface="Arial Nova" panose="020B0504020202020204" pitchFamily="34" charset="0"/>
              </a:rPr>
              <a:t>: </a:t>
            </a:r>
            <a:r>
              <a:rPr lang="en-US" sz="2400" b="1" dirty="0">
                <a:solidFill>
                  <a:srgbClr val="165C9A"/>
                </a:solidFill>
                <a:latin typeface="Arial Nova" panose="020B0504020202020204" pitchFamily="34" charset="0"/>
              </a:rPr>
              <a:t>Data Engineering at Scale</a:t>
            </a:r>
            <a:br>
              <a:rPr lang="en-US" sz="2400" b="1" dirty="0">
                <a:solidFill>
                  <a:srgbClr val="165C9A"/>
                </a:solidFill>
                <a:latin typeface="Arial Nova" panose="020B0504020202020204" pitchFamily="34" charset="0"/>
              </a:rPr>
            </a:br>
            <a:r>
              <a:rPr lang="en-US" sz="2400" i="1" dirty="0">
                <a:solidFill>
                  <a:srgbClr val="165C9A"/>
                </a:solidFill>
                <a:latin typeface="Arial Nova" panose="020B0504020202020204" pitchFamily="34" charset="0"/>
              </a:rPr>
              <a:t>Course Project</a:t>
            </a:r>
            <a:br>
              <a:rPr lang="en-US" sz="2400" i="1" dirty="0">
                <a:solidFill>
                  <a:srgbClr val="165C9A"/>
                </a:solidFill>
                <a:latin typeface="Arial Nova" panose="020B0504020202020204" pitchFamily="34" charset="0"/>
              </a:rPr>
            </a:br>
            <a:br>
              <a:rPr lang="en-US" sz="2400" i="1" dirty="0">
                <a:solidFill>
                  <a:srgbClr val="165C9A"/>
                </a:solidFill>
                <a:latin typeface="Arial Nova" panose="020B0504020202020204" pitchFamily="34" charset="0"/>
              </a:rPr>
            </a:br>
            <a:r>
              <a:rPr lang="en-US" sz="2400" i="1" dirty="0">
                <a:solidFill>
                  <a:schemeClr val="tx1">
                    <a:lumMod val="65000"/>
                    <a:lumOff val="35000"/>
                  </a:schemeClr>
                </a:solidFill>
              </a:rPr>
              <a:t>Real Time Fake News Prediction</a:t>
            </a:r>
            <a:endParaRPr lang="en-SG" sz="2400" b="1" dirty="0">
              <a:solidFill>
                <a:schemeClr val="tx1">
                  <a:lumMod val="65000"/>
                  <a:lumOff val="35000"/>
                </a:schemeClr>
              </a:solidFill>
              <a:latin typeface="Arial Nova" panose="020B0504020202020204" pitchFamily="34" charset="0"/>
            </a:endParaRPr>
          </a:p>
        </p:txBody>
      </p:sp>
      <p:sp>
        <p:nvSpPr>
          <p:cNvPr id="6" name="Subtitle 5">
            <a:extLst>
              <a:ext uri="{FF2B5EF4-FFF2-40B4-BE49-F238E27FC236}">
                <a16:creationId xmlns:a16="http://schemas.microsoft.com/office/drawing/2014/main" id="{4657B6B8-FD5B-8DAC-6D82-BC167C0D8474}"/>
              </a:ext>
            </a:extLst>
          </p:cNvPr>
          <p:cNvSpPr>
            <a:spLocks noGrp="1"/>
          </p:cNvSpPr>
          <p:nvPr>
            <p:ph type="subTitle" idx="1"/>
          </p:nvPr>
        </p:nvSpPr>
        <p:spPr>
          <a:xfrm>
            <a:off x="406951" y="4519118"/>
            <a:ext cx="6088443" cy="2056879"/>
          </a:xfrm>
        </p:spPr>
        <p:txBody>
          <a:bodyPr>
            <a:normAutofit/>
          </a:bodyPr>
          <a:lstStyle/>
          <a:p>
            <a:pPr>
              <a:spcBef>
                <a:spcPts val="0"/>
              </a:spcBef>
            </a:pPr>
            <a:r>
              <a:rPr lang="en-US" sz="1800" dirty="0">
                <a:effectLst/>
                <a:latin typeface="Calibri" panose="020F0502020204030204" pitchFamily="34" charset="0"/>
                <a:ea typeface="Aptos" panose="020B0004020202020204" pitchFamily="34" charset="0"/>
              </a:rPr>
              <a:t>Ritik Agrawal (</a:t>
            </a:r>
            <a:r>
              <a:rPr lang="en-US" sz="1800" u="sng" dirty="0">
                <a:solidFill>
                  <a:srgbClr val="467886"/>
                </a:solidFill>
                <a:effectLst/>
                <a:latin typeface="Calibri" panose="020F0502020204030204" pitchFamily="34" charset="0"/>
                <a:ea typeface="Aptos" panose="020B0004020202020204" pitchFamily="34" charset="0"/>
                <a:cs typeface="Times New Roman" panose="02020603050405020304" pitchFamily="18" charset="0"/>
                <a:hlinkClick r:id="rId3"/>
              </a:rPr>
              <a:t>ritikagarwal@iisc.ac.in</a:t>
            </a:r>
            <a:r>
              <a:rPr lang="en-US" sz="1800" dirty="0">
                <a:effectLst/>
                <a:latin typeface="Calibri" panose="020F0502020204030204" pitchFamily="34" charset="0"/>
                <a:ea typeface="Aptos" panose="020B0004020202020204" pitchFamily="34" charset="0"/>
              </a:rPr>
              <a:t>)</a:t>
            </a:r>
          </a:p>
          <a:p>
            <a:pPr>
              <a:spcBef>
                <a:spcPts val="0"/>
              </a:spcBef>
            </a:pPr>
            <a:r>
              <a:rPr lang="en-US" sz="1800" dirty="0">
                <a:effectLst/>
                <a:latin typeface="Calibri" panose="020F0502020204030204" pitchFamily="34" charset="0"/>
                <a:ea typeface="Aptos" panose="020B0004020202020204" pitchFamily="34" charset="0"/>
              </a:rPr>
              <a:t>Sanjana R (</a:t>
            </a:r>
            <a:r>
              <a:rPr lang="en-US" sz="1800" u="sng" dirty="0">
                <a:solidFill>
                  <a:srgbClr val="467886"/>
                </a:solidFill>
                <a:effectLst/>
                <a:latin typeface="Calibri" panose="020F0502020204030204" pitchFamily="34" charset="0"/>
                <a:ea typeface="Aptos" panose="020B0004020202020204" pitchFamily="34" charset="0"/>
                <a:cs typeface="Times New Roman" panose="02020603050405020304" pitchFamily="18" charset="0"/>
                <a:hlinkClick r:id="rId4"/>
              </a:rPr>
              <a:t>sanjana2@iisc.ac.in</a:t>
            </a:r>
            <a:r>
              <a:rPr lang="en-US" sz="1800" dirty="0">
                <a:effectLst/>
                <a:latin typeface="Calibri" panose="020F0502020204030204" pitchFamily="34" charset="0"/>
                <a:ea typeface="Aptos" panose="020B0004020202020204" pitchFamily="34" charset="0"/>
              </a:rPr>
              <a:t>)</a:t>
            </a:r>
          </a:p>
          <a:p>
            <a:pPr>
              <a:spcBef>
                <a:spcPts val="0"/>
              </a:spcBef>
            </a:pPr>
            <a:r>
              <a:rPr lang="en-US" sz="1800" dirty="0">
                <a:effectLst/>
                <a:latin typeface="Calibri" panose="020F0502020204030204" pitchFamily="34" charset="0"/>
                <a:ea typeface="Aptos" panose="020B0004020202020204" pitchFamily="34" charset="0"/>
              </a:rPr>
              <a:t>Himanshu Sharma (</a:t>
            </a:r>
            <a:r>
              <a:rPr lang="en-US" sz="1800" u="sng" dirty="0">
                <a:solidFill>
                  <a:srgbClr val="467886"/>
                </a:solidFill>
                <a:effectLst/>
                <a:latin typeface="Calibri" panose="020F0502020204030204" pitchFamily="34" charset="0"/>
                <a:ea typeface="Aptos" panose="020B0004020202020204" pitchFamily="34" charset="0"/>
                <a:cs typeface="Times New Roman" panose="02020603050405020304" pitchFamily="18" charset="0"/>
                <a:hlinkClick r:id="rId5"/>
              </a:rPr>
              <a:t>himanshu5@iisc.ac.in</a:t>
            </a:r>
            <a:r>
              <a:rPr lang="en-US" sz="1800" u="sng" dirty="0">
                <a:solidFill>
                  <a:srgbClr val="467886"/>
                </a:solidFill>
                <a:latin typeface="Calibri" panose="020F0502020204030204" pitchFamily="34" charset="0"/>
                <a:ea typeface="Aptos" panose="020B0004020202020204" pitchFamily="34" charset="0"/>
                <a:cs typeface="Times New Roman" panose="02020603050405020304" pitchFamily="18" charset="0"/>
              </a:rPr>
              <a:t>)</a:t>
            </a:r>
          </a:p>
          <a:p>
            <a:pPr>
              <a:spcBef>
                <a:spcPts val="0"/>
              </a:spcBef>
            </a:pPr>
            <a:r>
              <a:rPr lang="en-US" sz="1800" dirty="0">
                <a:effectLst/>
                <a:latin typeface="Calibri" panose="020F0502020204030204" pitchFamily="34" charset="0"/>
                <a:ea typeface="Aptos" panose="020B0004020202020204" pitchFamily="34" charset="0"/>
              </a:rPr>
              <a:t>Mayank Teckchandani (</a:t>
            </a:r>
            <a:r>
              <a:rPr lang="en-US" sz="1800" u="sng" dirty="0">
                <a:solidFill>
                  <a:srgbClr val="467886"/>
                </a:solidFill>
                <a:effectLst/>
                <a:latin typeface="Calibri" panose="020F0502020204030204" pitchFamily="34" charset="0"/>
                <a:ea typeface="Aptos" panose="020B0004020202020204" pitchFamily="34" charset="0"/>
                <a:cs typeface="Times New Roman" panose="02020603050405020304" pitchFamily="18" charset="0"/>
                <a:hlinkClick r:id="rId6"/>
              </a:rPr>
              <a:t>tmayank@iisc.ac.in</a:t>
            </a:r>
            <a:r>
              <a:rPr lang="en-US" sz="1800" dirty="0">
                <a:effectLst/>
                <a:latin typeface="Calibri" panose="020F0502020204030204" pitchFamily="34" charset="0"/>
                <a:ea typeface="Aptos" panose="020B0004020202020204" pitchFamily="34" charset="0"/>
              </a:rPr>
              <a:t>)</a:t>
            </a:r>
            <a:endParaRPr lang="en-US" sz="2000" i="0" spc="10" dirty="0">
              <a:solidFill>
                <a:schemeClr val="tx1">
                  <a:lumMod val="75000"/>
                  <a:lumOff val="25000"/>
                </a:schemeClr>
              </a:solidFill>
              <a:latin typeface="Arial Nova" panose="020B0504020202020204" pitchFamily="34" charset="0"/>
            </a:endParaRPr>
          </a:p>
          <a:p>
            <a:pPr>
              <a:spcBef>
                <a:spcPts val="0"/>
              </a:spcBef>
            </a:pPr>
            <a:endParaRPr lang="en-SG" sz="2000" i="0" spc="10" dirty="0">
              <a:solidFill>
                <a:schemeClr val="tx1">
                  <a:lumMod val="75000"/>
                  <a:lumOff val="25000"/>
                </a:schemeClr>
              </a:solidFill>
              <a:latin typeface="Arial Nova" panose="020B0504020202020204" pitchFamily="34" charset="0"/>
            </a:endParaRPr>
          </a:p>
        </p:txBody>
      </p:sp>
      <p:pic>
        <p:nvPicPr>
          <p:cNvPr id="1030" name="Picture 6">
            <a:extLst>
              <a:ext uri="{FF2B5EF4-FFF2-40B4-BE49-F238E27FC236}">
                <a16:creationId xmlns:a16="http://schemas.microsoft.com/office/drawing/2014/main" id="{ADACB6A3-5932-59AE-4FF2-8EFBF10B382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2117" t="9724" r="19603" b="12061"/>
          <a:stretch/>
        </p:blipFill>
        <p:spPr bwMode="auto">
          <a:xfrm>
            <a:off x="406952" y="191896"/>
            <a:ext cx="1732654" cy="1643799"/>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252C439B-7E89-3390-5AF2-D0FBF921F108}"/>
              </a:ext>
            </a:extLst>
          </p:cNvPr>
          <p:cNvCxnSpPr>
            <a:cxnSpLocks/>
          </p:cNvCxnSpPr>
          <p:nvPr/>
        </p:nvCxnSpPr>
        <p:spPr>
          <a:xfrm>
            <a:off x="491912" y="4358839"/>
            <a:ext cx="6372000" cy="0"/>
          </a:xfrm>
          <a:prstGeom prst="line">
            <a:avLst/>
          </a:prstGeom>
          <a:ln w="28575">
            <a:gradFill flip="none" rotWithShape="1">
              <a:gsLst>
                <a:gs pos="0">
                  <a:srgbClr val="C32B61"/>
                </a:gs>
                <a:gs pos="100000">
                  <a:schemeClr val="bg1"/>
                </a:gs>
              </a:gsLst>
              <a:path path="circle">
                <a:fillToRect r="100000" b="100000"/>
              </a:path>
              <a:tileRect l="-100000" t="-100000"/>
            </a:gra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3C6957E-094B-AD1C-FFED-B57A27C441E5}"/>
              </a:ext>
            </a:extLst>
          </p:cNvPr>
          <p:cNvPicPr>
            <a:picLocks noChangeAspect="1"/>
          </p:cNvPicPr>
          <p:nvPr/>
        </p:nvPicPr>
        <p:blipFill>
          <a:blip r:embed="rId8"/>
          <a:srcRect l="17275"/>
          <a:stretch>
            <a:fillRect/>
          </a:stretch>
        </p:blipFill>
        <p:spPr>
          <a:xfrm>
            <a:off x="6568968" y="0"/>
            <a:ext cx="7465849" cy="6858000"/>
          </a:xfrm>
          <a:prstGeom prst="parallelogram">
            <a:avLst>
              <a:gd name="adj" fmla="val 24387"/>
            </a:avLst>
          </a:prstGeom>
        </p:spPr>
      </p:pic>
    </p:spTree>
    <p:extLst>
      <p:ext uri="{BB962C8B-B14F-4D97-AF65-F5344CB8AC3E}">
        <p14:creationId xmlns:p14="http://schemas.microsoft.com/office/powerpoint/2010/main" val="1023483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Introduction: How we Started</a:t>
            </a:r>
          </a:p>
        </p:txBody>
      </p:sp>
      <p:sp>
        <p:nvSpPr>
          <p:cNvPr id="3" name="Footer Placeholder 2">
            <a:extLst>
              <a:ext uri="{FF2B5EF4-FFF2-40B4-BE49-F238E27FC236}">
                <a16:creationId xmlns:a16="http://schemas.microsoft.com/office/drawing/2014/main" id="{46FDABA8-9F17-78D6-A0F5-B75F0BC43C0E}"/>
              </a:ext>
            </a:extLst>
          </p:cNvPr>
          <p:cNvSpPr>
            <a:spLocks noGrp="1"/>
          </p:cNvSpPr>
          <p:nvPr>
            <p:ph type="ftr" sz="quarter" idx="11"/>
          </p:nvPr>
        </p:nvSpPr>
        <p:spPr/>
        <p:txBody>
          <a:bodyPr/>
          <a:lstStyle/>
          <a:p>
            <a:r>
              <a:rPr lang="it-IT" dirty="0"/>
              <a:t>DA 231o: Data Engineering at Scale</a:t>
            </a:r>
            <a:endParaRPr lang="en-SG" dirty="0"/>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2</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5016758"/>
          </a:xfrm>
          <a:prstGeom prst="rect">
            <a:avLst/>
          </a:prstGeom>
          <a:noFill/>
        </p:spPr>
        <p:txBody>
          <a:bodyPr wrap="square" rtlCol="0">
            <a:spAutoFit/>
          </a:bodyPr>
          <a:lstStyle/>
          <a:p>
            <a:r>
              <a:rPr lang="en-US" sz="2400" b="0" dirty="0">
                <a:solidFill>
                  <a:srgbClr val="000000"/>
                </a:solidFill>
                <a:effectLst/>
              </a:rPr>
              <a:t>In today's digital age, we're drowning in information. But how much of it is true?</a:t>
            </a:r>
          </a:p>
          <a:p>
            <a:endParaRPr lang="en-US" sz="2800" b="0" dirty="0">
              <a:solidFill>
                <a:srgbClr val="000000"/>
              </a:solidFill>
              <a:effectLst/>
            </a:endParaRPr>
          </a:p>
          <a:p>
            <a:pPr marL="457200" indent="-457200">
              <a:buFont typeface="Arial" panose="020B0604020202020204" pitchFamily="34" charset="0"/>
              <a:buChar char="•"/>
            </a:pPr>
            <a:r>
              <a:rPr lang="en-US" sz="2400" b="0" dirty="0">
                <a:solidFill>
                  <a:srgbClr val="000000"/>
                </a:solidFill>
                <a:effectLst/>
              </a:rPr>
              <a:t>Social media spreads news at lightning speed.</a:t>
            </a:r>
          </a:p>
          <a:p>
            <a:pPr marL="457200" indent="-457200">
              <a:buFont typeface="Arial" panose="020B0604020202020204" pitchFamily="34" charset="0"/>
              <a:buChar char="•"/>
            </a:pPr>
            <a:r>
              <a:rPr lang="en-US" sz="2400" b="0" dirty="0">
                <a:solidFill>
                  <a:srgbClr val="000000"/>
                </a:solidFill>
                <a:effectLst/>
              </a:rPr>
              <a:t>Misinformation spreads faster than truth.</a:t>
            </a:r>
          </a:p>
          <a:p>
            <a:pPr marL="457200" indent="-457200">
              <a:buFont typeface="Arial" panose="020B0604020202020204" pitchFamily="34" charset="0"/>
              <a:buChar char="•"/>
            </a:pPr>
            <a:r>
              <a:rPr lang="en-US" sz="2400" b="0" dirty="0">
                <a:solidFill>
                  <a:srgbClr val="000000"/>
                </a:solidFill>
                <a:effectLst/>
              </a:rPr>
              <a:t>People can’t deal with 1000s of articles being generated every day.</a:t>
            </a:r>
          </a:p>
          <a:p>
            <a:pPr marL="457200" indent="-457200">
              <a:buFont typeface="Arial" panose="020B0604020202020204" pitchFamily="34" charset="0"/>
              <a:buChar char="•"/>
            </a:pPr>
            <a:r>
              <a:rPr lang="en-US" sz="2400" b="0" dirty="0">
                <a:solidFill>
                  <a:srgbClr val="000000"/>
                </a:solidFill>
                <a:effectLst/>
              </a:rPr>
              <a:t>Can machines help us detect fake news automatically?</a:t>
            </a:r>
          </a:p>
          <a:p>
            <a:endParaRPr lang="en-US" sz="2400" b="1" dirty="0">
              <a:solidFill>
                <a:srgbClr val="000080"/>
              </a:solidFill>
              <a:ea typeface="Microsoft YaHei" panose="020B0503020204020204" pitchFamily="34" charset="-122"/>
            </a:endParaRPr>
          </a:p>
          <a:p>
            <a:endParaRPr lang="en-US" sz="2400" b="1" dirty="0">
              <a:solidFill>
                <a:srgbClr val="000080"/>
              </a:solidFill>
              <a:ea typeface="Microsoft YaHei" panose="020B0503020204020204" pitchFamily="34" charset="-122"/>
            </a:endParaRPr>
          </a:p>
          <a:p>
            <a:r>
              <a:rPr lang="en-US" sz="2400" b="1" dirty="0">
                <a:solidFill>
                  <a:srgbClr val="000080"/>
                </a:solidFill>
                <a:ea typeface="Microsoft YaHei" panose="020B0503020204020204" pitchFamily="34" charset="-122"/>
              </a:rPr>
              <a:t>Build a system to automatically provide a probability for a news story to be fake or real using distributed machine learning, with a target confidence score of 80%. Decrease the number of humans required by over 10 times to make the pipeline accurate and scalable enough to handle the massive data being generated.</a:t>
            </a:r>
          </a:p>
          <a:p>
            <a:endParaRPr lang="en-US" sz="2800" b="0" dirty="0">
              <a:solidFill>
                <a:srgbClr val="000000"/>
              </a:solidFill>
              <a:effectLst/>
            </a:endParaRPr>
          </a:p>
        </p:txBody>
      </p:sp>
    </p:spTree>
    <p:extLst>
      <p:ext uri="{BB962C8B-B14F-4D97-AF65-F5344CB8AC3E}">
        <p14:creationId xmlns:p14="http://schemas.microsoft.com/office/powerpoint/2010/main" val="1539728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Journey Begins : Understanding the Data</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3</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4278094"/>
          </a:xfrm>
          <a:prstGeom prst="rect">
            <a:avLst/>
          </a:prstGeom>
          <a:noFill/>
        </p:spPr>
        <p:txBody>
          <a:bodyPr wrap="square" rtlCol="0">
            <a:spAutoFit/>
          </a:bodyPr>
          <a:lstStyle/>
          <a:p>
            <a:r>
              <a:rPr lang="en-US" sz="2800" b="0" dirty="0">
                <a:solidFill>
                  <a:srgbClr val="000000"/>
                </a:solidFill>
                <a:effectLst/>
              </a:rPr>
              <a:t>Let's start by understanding what makes fake news different from real news.</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What We Did, </a:t>
            </a:r>
          </a:p>
          <a:p>
            <a:pPr marL="457200" indent="-457200">
              <a:buFont typeface="Arial" panose="020B0604020202020204" pitchFamily="34" charset="0"/>
              <a:buChar char="•"/>
            </a:pPr>
            <a:r>
              <a:rPr lang="en-US" sz="2800" b="0" dirty="0">
                <a:solidFill>
                  <a:srgbClr val="000000"/>
                </a:solidFill>
                <a:effectLst/>
              </a:rPr>
              <a:t>Loaded a dataset of thousands of news articles (both fake and real).</a:t>
            </a:r>
          </a:p>
          <a:p>
            <a:pPr marL="457200" indent="-457200">
              <a:buFont typeface="Arial" panose="020B0604020202020204" pitchFamily="34" charset="0"/>
              <a:buChar char="•"/>
            </a:pPr>
            <a:r>
              <a:rPr lang="en-US" sz="2800" b="0" dirty="0">
                <a:solidFill>
                  <a:srgbClr val="000000"/>
                </a:solidFill>
                <a:effectLst/>
              </a:rPr>
              <a:t>Each article had a title, text content, and a label (Fake, Real).</a:t>
            </a:r>
          </a:p>
          <a:p>
            <a:endParaRPr lang="en-US" sz="2800" dirty="0">
              <a:solidFill>
                <a:srgbClr val="000000"/>
              </a:solidFill>
            </a:endParaRPr>
          </a:p>
          <a:p>
            <a:r>
              <a:rPr lang="en-US" sz="2000" b="1" dirty="0">
                <a:solidFill>
                  <a:srgbClr val="000080"/>
                </a:solidFill>
                <a:effectLst/>
                <a:latin typeface="Microsoft YaHei" panose="020B0503020204020204" pitchFamily="34" charset="-122"/>
                <a:ea typeface="Microsoft YaHei" panose="020B0503020204020204" pitchFamily="34" charset="-122"/>
              </a:rPr>
              <a:t>First Impressions,</a:t>
            </a:r>
            <a:endParaRPr lang="en-US" sz="2000" b="0" dirty="0">
              <a:solidFill>
                <a:srgbClr val="000000"/>
              </a:solidFill>
              <a:effectLst/>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2800" b="0" dirty="0">
                <a:solidFill>
                  <a:srgbClr val="000000"/>
                </a:solidFill>
                <a:effectLst/>
              </a:rPr>
              <a:t>Dataset contained a mix of political, social, and general news.</a:t>
            </a:r>
          </a:p>
          <a:p>
            <a:pPr marL="457200" indent="-457200">
              <a:buFont typeface="Arial" panose="020B0604020202020204" pitchFamily="34" charset="0"/>
              <a:buChar char="•"/>
            </a:pPr>
            <a:r>
              <a:rPr lang="en-US" sz="2800" b="0" dirty="0">
                <a:solidFill>
                  <a:srgbClr val="000000"/>
                </a:solidFill>
                <a:effectLst/>
              </a:rPr>
              <a:t>Articles varied greatly in length and writing style.</a:t>
            </a:r>
          </a:p>
          <a:p>
            <a:pPr marL="457200" indent="-457200">
              <a:buFont typeface="Arial" panose="020B0604020202020204" pitchFamily="34" charset="0"/>
              <a:buChar char="•"/>
            </a:pPr>
            <a:r>
              <a:rPr lang="en-US" sz="2800" b="0" dirty="0">
                <a:solidFill>
                  <a:srgbClr val="000000"/>
                </a:solidFill>
                <a:effectLst/>
              </a:rPr>
              <a:t>We had both titles and full article text to work with.</a:t>
            </a:r>
          </a:p>
        </p:txBody>
      </p:sp>
      <p:sp>
        <p:nvSpPr>
          <p:cNvPr id="6" name="Footer Placeholder 2">
            <a:extLst>
              <a:ext uri="{FF2B5EF4-FFF2-40B4-BE49-F238E27FC236}">
                <a16:creationId xmlns:a16="http://schemas.microsoft.com/office/drawing/2014/main" id="{3A38F570-DF98-6488-94F1-6E31D89D6AEF}"/>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731410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Detective Work : EDA Begins</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4</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5386090"/>
          </a:xfrm>
          <a:prstGeom prst="rect">
            <a:avLst/>
          </a:prstGeom>
          <a:noFill/>
        </p:spPr>
        <p:txBody>
          <a:bodyPr wrap="square" rtlCol="0">
            <a:spAutoFit/>
          </a:bodyPr>
          <a:lstStyle/>
          <a:p>
            <a:r>
              <a:rPr lang="en-US" sz="2800" dirty="0">
                <a:solidFill>
                  <a:srgbClr val="000721"/>
                </a:solidFill>
                <a:effectLst/>
              </a:rPr>
              <a:t>We Started With Data Quality Check,</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Missing Value Analysis, </a:t>
            </a:r>
          </a:p>
          <a:p>
            <a:pPr marL="457200" indent="-457200">
              <a:buFont typeface="Arial" panose="020B0604020202020204" pitchFamily="34" charset="0"/>
              <a:buChar char="•"/>
            </a:pPr>
            <a:r>
              <a:rPr lang="en-US" sz="2400" b="0" dirty="0">
                <a:solidFill>
                  <a:srgbClr val="000000"/>
                </a:solidFill>
                <a:effectLst/>
              </a:rPr>
              <a:t>Checked every column for missing or incomplete data.</a:t>
            </a:r>
          </a:p>
          <a:p>
            <a:pPr marL="457200" indent="-457200">
              <a:buFont typeface="Arial" panose="020B0604020202020204" pitchFamily="34" charset="0"/>
              <a:buChar char="•"/>
            </a:pPr>
            <a:r>
              <a:rPr lang="en-US" sz="2400" b="0" dirty="0">
                <a:solidFill>
                  <a:srgbClr val="000000"/>
                </a:solidFill>
                <a:effectLst/>
              </a:rPr>
              <a:t>Found some articles had missing titles or text.</a:t>
            </a:r>
          </a:p>
          <a:p>
            <a:endParaRPr lang="en-US" sz="2800" dirty="0">
              <a:solidFill>
                <a:srgbClr val="000000"/>
              </a:solidFill>
            </a:endParaRPr>
          </a:p>
          <a:p>
            <a:r>
              <a:rPr lang="en-US" sz="2000" b="1" dirty="0">
                <a:solidFill>
                  <a:srgbClr val="000080"/>
                </a:solidFill>
                <a:effectLst/>
                <a:latin typeface="Microsoft YaHei" panose="020B0503020204020204" pitchFamily="34" charset="-122"/>
                <a:ea typeface="Microsoft YaHei" panose="020B0503020204020204" pitchFamily="34" charset="-122"/>
              </a:rPr>
              <a:t>Class Distribution,</a:t>
            </a:r>
            <a:endParaRPr lang="en-US" sz="2000" b="0" dirty="0">
              <a:solidFill>
                <a:srgbClr val="000000"/>
              </a:solidFill>
              <a:effectLst/>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2400" dirty="0">
                <a:solidFill>
                  <a:srgbClr val="000000"/>
                </a:solidFill>
              </a:rPr>
              <a:t>Counted how many fake vs real articles we had.</a:t>
            </a:r>
          </a:p>
          <a:p>
            <a:pPr marL="457200" indent="-457200">
              <a:buFont typeface="Arial" panose="020B0604020202020204" pitchFamily="34" charset="0"/>
              <a:buChar char="•"/>
            </a:pPr>
            <a:r>
              <a:rPr lang="en-US" sz="2400" dirty="0">
                <a:solidFill>
                  <a:srgbClr val="000000"/>
                </a:solidFill>
              </a:rPr>
              <a:t>Checked if dataset was balanced or biased.</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What We Found,</a:t>
            </a:r>
          </a:p>
          <a:p>
            <a:r>
              <a:rPr lang="en-US" sz="2000" b="1" dirty="0">
                <a:solidFill>
                  <a:srgbClr val="000080"/>
                </a:solidFill>
                <a:ea typeface="Microsoft YaHei" panose="020B0503020204020204" pitchFamily="34" charset="-122"/>
              </a:rPr>
              <a:t>	</a:t>
            </a:r>
            <a:r>
              <a:rPr lang="en-US" sz="2400" dirty="0">
                <a:solidFill>
                  <a:srgbClr val="000080"/>
                </a:solidFill>
                <a:ea typeface="Microsoft YaHei" panose="020B0503020204020204" pitchFamily="34" charset="-122"/>
              </a:rPr>
              <a:t>Some data cleaning would be needed, and Data has enough balance to train reliable 	models.</a:t>
            </a:r>
          </a:p>
          <a:p>
            <a:pPr marL="457200" indent="-457200">
              <a:buFont typeface="Arial" panose="020B0604020202020204" pitchFamily="34" charset="0"/>
              <a:buChar char="•"/>
            </a:pPr>
            <a:endParaRPr lang="en-US" sz="2800" dirty="0">
              <a:solidFill>
                <a:srgbClr val="000000"/>
              </a:solidFill>
            </a:endParaRPr>
          </a:p>
        </p:txBody>
      </p:sp>
      <p:pic>
        <p:nvPicPr>
          <p:cNvPr id="6" name="Picture 5">
            <a:extLst>
              <a:ext uri="{FF2B5EF4-FFF2-40B4-BE49-F238E27FC236}">
                <a16:creationId xmlns:a16="http://schemas.microsoft.com/office/drawing/2014/main" id="{4AC2F9A6-4F3B-E4A6-30AE-C20D71DE7CA8}"/>
              </a:ext>
            </a:extLst>
          </p:cNvPr>
          <p:cNvPicPr>
            <a:picLocks noChangeAspect="1"/>
          </p:cNvPicPr>
          <p:nvPr/>
        </p:nvPicPr>
        <p:blipFill>
          <a:blip r:embed="rId2"/>
          <a:stretch>
            <a:fillRect/>
          </a:stretch>
        </p:blipFill>
        <p:spPr>
          <a:xfrm>
            <a:off x="7689884" y="1458901"/>
            <a:ext cx="3917398" cy="3201924"/>
          </a:xfrm>
          <a:prstGeom prst="rect">
            <a:avLst/>
          </a:prstGeom>
        </p:spPr>
      </p:pic>
      <p:sp>
        <p:nvSpPr>
          <p:cNvPr id="5" name="Footer Placeholder 2">
            <a:extLst>
              <a:ext uri="{FF2B5EF4-FFF2-40B4-BE49-F238E27FC236}">
                <a16:creationId xmlns:a16="http://schemas.microsoft.com/office/drawing/2014/main" id="{C6FABC09-0AC4-1894-90A0-E6956D0F7BF6}"/>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2182758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The First Clue : Text Patterns</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5</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3" y="979714"/>
            <a:ext cx="11484579" cy="5816977"/>
          </a:xfrm>
          <a:prstGeom prst="rect">
            <a:avLst/>
          </a:prstGeom>
          <a:noFill/>
        </p:spPr>
        <p:txBody>
          <a:bodyPr wrap="square" rtlCol="0">
            <a:spAutoFit/>
          </a:bodyPr>
          <a:lstStyle/>
          <a:p>
            <a:r>
              <a:rPr lang="en-US" sz="2800" b="0" dirty="0">
                <a:solidFill>
                  <a:srgbClr val="000000"/>
                </a:solidFill>
                <a:effectLst/>
              </a:rPr>
              <a:t>Do fake news articles write differently?</a:t>
            </a:r>
            <a:endParaRPr lang="en-US" sz="2800" dirty="0">
              <a:solidFill>
                <a:srgbClr val="000000"/>
              </a:solidFill>
            </a:endParaRPr>
          </a:p>
          <a:p>
            <a:r>
              <a:rPr lang="en-US" sz="2800" b="0" dirty="0">
                <a:solidFill>
                  <a:srgbClr val="000000"/>
                </a:solidFill>
                <a:effectLst/>
              </a:rPr>
              <a:t>Are they longer or shorter?</a:t>
            </a:r>
          </a:p>
          <a:p>
            <a:endParaRPr lang="en-US" sz="2800" dirty="0">
              <a:solidFill>
                <a:srgbClr val="000000"/>
              </a:solidFill>
            </a:endParaRPr>
          </a:p>
          <a:p>
            <a:r>
              <a:rPr lang="en-US" sz="2000" b="1" dirty="0">
                <a:solidFill>
                  <a:srgbClr val="000080"/>
                </a:solidFill>
                <a:effectLst/>
                <a:latin typeface="Microsoft YaHei" panose="020B0503020204020204" pitchFamily="34" charset="-122"/>
                <a:ea typeface="Microsoft YaHei" panose="020B0503020204020204" pitchFamily="34" charset="-122"/>
              </a:rPr>
              <a:t>Measured Everything,</a:t>
            </a:r>
            <a:endParaRPr lang="en-US" sz="2000" b="0" dirty="0">
              <a:solidFill>
                <a:srgbClr val="000000"/>
              </a:solidFill>
              <a:effectLst/>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2400" dirty="0">
                <a:solidFill>
                  <a:srgbClr val="000000"/>
                </a:solidFill>
              </a:rPr>
              <a:t>Title length (characters and words).</a:t>
            </a:r>
          </a:p>
          <a:p>
            <a:pPr marL="457200" indent="-457200">
              <a:buFont typeface="Arial" panose="020B0604020202020204" pitchFamily="34" charset="0"/>
              <a:buChar char="•"/>
            </a:pPr>
            <a:r>
              <a:rPr lang="en-US" sz="2400" dirty="0">
                <a:solidFill>
                  <a:srgbClr val="000000"/>
                </a:solidFill>
              </a:rPr>
              <a:t>Article length (characters and words).</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Visualization showed,</a:t>
            </a:r>
          </a:p>
          <a:p>
            <a:pPr marL="457200" indent="-457200">
              <a:buFont typeface="Arial" panose="020B0604020202020204" pitchFamily="34" charset="0"/>
              <a:buChar char="•"/>
            </a:pPr>
            <a:r>
              <a:rPr lang="en-US" sz="2400" dirty="0">
                <a:solidFill>
                  <a:srgbClr val="000000"/>
                </a:solidFill>
              </a:rPr>
              <a:t>Real news: More consistent length, professional structure.</a:t>
            </a:r>
          </a:p>
          <a:p>
            <a:pPr marL="457200" indent="-457200">
              <a:buFont typeface="Arial" panose="020B0604020202020204" pitchFamily="34" charset="0"/>
              <a:buChar char="•"/>
            </a:pPr>
            <a:r>
              <a:rPr lang="en-US" sz="2400" dirty="0">
                <a:solidFill>
                  <a:srgbClr val="000000"/>
                </a:solidFill>
              </a:rPr>
              <a:t>Fake news: More variable, sometimes unusually short or long.</a:t>
            </a:r>
          </a:p>
          <a:p>
            <a:pPr marL="457200" indent="-457200">
              <a:buFont typeface="Arial" panose="020B0604020202020204" pitchFamily="34" charset="0"/>
              <a:buChar char="•"/>
            </a:pPr>
            <a:r>
              <a:rPr lang="en-US" sz="2400" dirty="0">
                <a:solidFill>
                  <a:srgbClr val="000000"/>
                </a:solidFill>
              </a:rPr>
              <a:t>Titles: Fake news titles often more sensational (longer/shorter extremes).</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What We Found,</a:t>
            </a:r>
          </a:p>
          <a:p>
            <a:r>
              <a:rPr lang="en-US" sz="2400" dirty="0">
                <a:solidFill>
                  <a:srgbClr val="000000"/>
                </a:solidFill>
              </a:rPr>
              <a:t>	</a:t>
            </a:r>
            <a:r>
              <a:rPr lang="en-US" sz="2400" dirty="0">
                <a:solidFill>
                  <a:srgbClr val="000080"/>
                </a:solidFill>
                <a:ea typeface="Microsoft YaHei" panose="020B0503020204020204" pitchFamily="34" charset="-122"/>
              </a:rPr>
              <a:t>Fake news doesn't follow the same writing patterns as professional journalism!</a:t>
            </a:r>
          </a:p>
          <a:p>
            <a:pPr marL="457200" indent="-457200">
              <a:buFont typeface="Arial" panose="020B0604020202020204" pitchFamily="34" charset="0"/>
              <a:buChar char="•"/>
            </a:pPr>
            <a:endParaRPr lang="en-US" sz="2800" dirty="0">
              <a:solidFill>
                <a:srgbClr val="000000"/>
              </a:solidFill>
            </a:endParaRPr>
          </a:p>
        </p:txBody>
      </p:sp>
      <p:pic>
        <p:nvPicPr>
          <p:cNvPr id="6" name="Picture 5">
            <a:extLst>
              <a:ext uri="{FF2B5EF4-FFF2-40B4-BE49-F238E27FC236}">
                <a16:creationId xmlns:a16="http://schemas.microsoft.com/office/drawing/2014/main" id="{FE71039E-A8C4-DE34-612C-4B7A34E1CA07}"/>
              </a:ext>
            </a:extLst>
          </p:cNvPr>
          <p:cNvPicPr>
            <a:picLocks noChangeAspect="1"/>
          </p:cNvPicPr>
          <p:nvPr/>
        </p:nvPicPr>
        <p:blipFill>
          <a:blip r:embed="rId2"/>
          <a:stretch>
            <a:fillRect/>
          </a:stretch>
        </p:blipFill>
        <p:spPr>
          <a:xfrm>
            <a:off x="6954382" y="761059"/>
            <a:ext cx="4581605" cy="3429000"/>
          </a:xfrm>
          <a:prstGeom prst="rect">
            <a:avLst/>
          </a:prstGeom>
        </p:spPr>
      </p:pic>
      <p:sp>
        <p:nvSpPr>
          <p:cNvPr id="5" name="Footer Placeholder 2">
            <a:extLst>
              <a:ext uri="{FF2B5EF4-FFF2-40B4-BE49-F238E27FC236}">
                <a16:creationId xmlns:a16="http://schemas.microsoft.com/office/drawing/2014/main" id="{71A426BD-D539-7AA6-7773-2EE65F7CDBBA}"/>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3303493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The Language Clue : Word Clouds and Frequency</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6</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5262979"/>
          </a:xfrm>
          <a:prstGeom prst="rect">
            <a:avLst/>
          </a:prstGeom>
          <a:noFill/>
        </p:spPr>
        <p:txBody>
          <a:bodyPr wrap="square" rtlCol="0">
            <a:spAutoFit/>
          </a:bodyPr>
          <a:lstStyle/>
          <a:p>
            <a:r>
              <a:rPr lang="en-US" sz="2400" b="0" dirty="0">
                <a:solidFill>
                  <a:srgbClr val="000000"/>
                </a:solidFill>
                <a:effectLst/>
              </a:rPr>
              <a:t>What words do fake news use? Are there signature phrases?</a:t>
            </a:r>
          </a:p>
          <a:p>
            <a:endParaRPr lang="en-US" sz="2800" dirty="0">
              <a:solidFill>
                <a:srgbClr val="000000"/>
              </a:solidFill>
            </a:endParaRPr>
          </a:p>
          <a:p>
            <a:r>
              <a:rPr lang="en-US" sz="2000" b="1" dirty="0">
                <a:solidFill>
                  <a:srgbClr val="000080"/>
                </a:solidFill>
                <a:effectLst/>
                <a:latin typeface="Microsoft YaHei" panose="020B0503020204020204" pitchFamily="34" charset="-122"/>
                <a:ea typeface="Microsoft YaHei" panose="020B0503020204020204" pitchFamily="34" charset="-122"/>
              </a:rPr>
              <a:t>Create word clouds,</a:t>
            </a:r>
            <a:endParaRPr lang="en-US" sz="2000" b="0" dirty="0">
              <a:solidFill>
                <a:srgbClr val="000000"/>
              </a:solidFill>
              <a:effectLst/>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2400" dirty="0">
                <a:solidFill>
                  <a:srgbClr val="000000"/>
                </a:solidFill>
              </a:rPr>
              <a:t>Separate clouds for fake vs real news.</a:t>
            </a:r>
          </a:p>
          <a:p>
            <a:pPr marL="457200" indent="-457200">
              <a:buFont typeface="Arial" panose="020B0604020202020204" pitchFamily="34" charset="0"/>
              <a:buChar char="•"/>
            </a:pPr>
            <a:r>
              <a:rPr lang="en-US" sz="2400" dirty="0">
                <a:solidFill>
                  <a:srgbClr val="000000"/>
                </a:solidFill>
              </a:rPr>
              <a:t>Removed common stop words.</a:t>
            </a:r>
          </a:p>
          <a:p>
            <a:pPr marL="457200" indent="-457200">
              <a:buFont typeface="Arial" panose="020B0604020202020204" pitchFamily="34" charset="0"/>
              <a:buChar char="•"/>
            </a:pPr>
            <a:r>
              <a:rPr lang="en-US" sz="2400" dirty="0">
                <a:solidFill>
                  <a:srgbClr val="000000"/>
                </a:solidFill>
              </a:rPr>
              <a:t>Highlighted most frequent terms.</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Visualization showed,</a:t>
            </a:r>
          </a:p>
          <a:p>
            <a:pPr marL="457200" indent="-457200">
              <a:buFont typeface="Arial" panose="020B0604020202020204" pitchFamily="34" charset="0"/>
              <a:buChar char="•"/>
            </a:pPr>
            <a:r>
              <a:rPr lang="en-US" sz="2400" dirty="0">
                <a:solidFill>
                  <a:srgbClr val="000000"/>
                </a:solidFill>
              </a:rPr>
              <a:t>Real news: Professional tone, Specific names, places, dates, Balanced language.</a:t>
            </a:r>
          </a:p>
          <a:p>
            <a:pPr marL="457200" indent="-457200">
              <a:buFont typeface="Arial" panose="020B0604020202020204" pitchFamily="34" charset="0"/>
              <a:buChar char="•"/>
            </a:pPr>
            <a:r>
              <a:rPr lang="en-US" sz="2400" dirty="0">
                <a:solidFill>
                  <a:srgbClr val="000000"/>
                </a:solidFill>
              </a:rPr>
              <a:t>Fake news: More capital letters, words like “Breaking”, “Shocking”, “Urgent”, Emotional and sensational language.</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What We Found,</a:t>
            </a:r>
          </a:p>
          <a:p>
            <a:r>
              <a:rPr lang="en-US" sz="2400" dirty="0">
                <a:solidFill>
                  <a:srgbClr val="000000"/>
                </a:solidFill>
              </a:rPr>
              <a:t>	</a:t>
            </a:r>
            <a:r>
              <a:rPr lang="en-US" sz="2400" dirty="0">
                <a:solidFill>
                  <a:srgbClr val="000080"/>
                </a:solidFill>
                <a:ea typeface="Microsoft YaHei" panose="020B0503020204020204" pitchFamily="34" charset="-122"/>
              </a:rPr>
              <a:t>The language itself is a fingerprint!</a:t>
            </a:r>
          </a:p>
        </p:txBody>
      </p:sp>
      <p:pic>
        <p:nvPicPr>
          <p:cNvPr id="9" name="Picture 8">
            <a:extLst>
              <a:ext uri="{FF2B5EF4-FFF2-40B4-BE49-F238E27FC236}">
                <a16:creationId xmlns:a16="http://schemas.microsoft.com/office/drawing/2014/main" id="{B89B3AFF-3303-A048-4A75-FC73EEA47ACE}"/>
              </a:ext>
            </a:extLst>
          </p:cNvPr>
          <p:cNvPicPr>
            <a:picLocks noChangeAspect="1"/>
          </p:cNvPicPr>
          <p:nvPr/>
        </p:nvPicPr>
        <p:blipFill>
          <a:blip r:embed="rId2"/>
          <a:stretch>
            <a:fillRect/>
          </a:stretch>
        </p:blipFill>
        <p:spPr>
          <a:xfrm>
            <a:off x="6455121" y="1868505"/>
            <a:ext cx="2586687" cy="1833391"/>
          </a:xfrm>
          <a:prstGeom prst="rect">
            <a:avLst/>
          </a:prstGeom>
        </p:spPr>
      </p:pic>
      <p:pic>
        <p:nvPicPr>
          <p:cNvPr id="11" name="Picture 10">
            <a:extLst>
              <a:ext uri="{FF2B5EF4-FFF2-40B4-BE49-F238E27FC236}">
                <a16:creationId xmlns:a16="http://schemas.microsoft.com/office/drawing/2014/main" id="{ABE95711-B158-D96B-0276-CFDC0F76F0C3}"/>
              </a:ext>
            </a:extLst>
          </p:cNvPr>
          <p:cNvPicPr>
            <a:picLocks noChangeAspect="1"/>
          </p:cNvPicPr>
          <p:nvPr/>
        </p:nvPicPr>
        <p:blipFill>
          <a:blip r:embed="rId3"/>
          <a:stretch>
            <a:fillRect/>
          </a:stretch>
        </p:blipFill>
        <p:spPr>
          <a:xfrm>
            <a:off x="9041808" y="1862107"/>
            <a:ext cx="2586688" cy="1839789"/>
          </a:xfrm>
          <a:prstGeom prst="rect">
            <a:avLst/>
          </a:prstGeom>
        </p:spPr>
      </p:pic>
      <p:sp>
        <p:nvSpPr>
          <p:cNvPr id="5" name="Footer Placeholder 2">
            <a:extLst>
              <a:ext uri="{FF2B5EF4-FFF2-40B4-BE49-F238E27FC236}">
                <a16:creationId xmlns:a16="http://schemas.microsoft.com/office/drawing/2014/main" id="{5717E2C4-0ED7-2892-084A-E655EDDC3AFF}"/>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1594772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Going Deeper : N-Gram Patterns</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7</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5570756"/>
          </a:xfrm>
          <a:prstGeom prst="rect">
            <a:avLst/>
          </a:prstGeom>
          <a:noFill/>
        </p:spPr>
        <p:txBody>
          <a:bodyPr wrap="square" rtlCol="0">
            <a:spAutoFit/>
          </a:bodyPr>
          <a:lstStyle/>
          <a:p>
            <a:r>
              <a:rPr lang="en-US" sz="2400" dirty="0">
                <a:solidFill>
                  <a:srgbClr val="000000"/>
                </a:solidFill>
              </a:rPr>
              <a:t>Single words are good, but what about phrases? Combinations might reveal more!</a:t>
            </a:r>
          </a:p>
          <a:p>
            <a:endParaRPr lang="en-US" sz="2800" dirty="0">
              <a:solidFill>
                <a:srgbClr val="000000"/>
              </a:solidFill>
            </a:endParaRPr>
          </a:p>
          <a:p>
            <a:r>
              <a:rPr lang="en-US" sz="2000" b="1" dirty="0">
                <a:solidFill>
                  <a:srgbClr val="000080"/>
                </a:solidFill>
                <a:effectLst/>
                <a:latin typeface="Microsoft YaHei" panose="020B0503020204020204" pitchFamily="34" charset="-122"/>
                <a:ea typeface="Microsoft YaHei" panose="020B0503020204020204" pitchFamily="34" charset="-122"/>
              </a:rPr>
              <a:t>Unigrams (Single words),</a:t>
            </a:r>
            <a:endParaRPr lang="en-US" sz="2000" b="0" dirty="0">
              <a:solidFill>
                <a:srgbClr val="000000"/>
              </a:solidFill>
              <a:effectLst/>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2400" dirty="0">
                <a:solidFill>
                  <a:srgbClr val="000000"/>
                </a:solidFill>
              </a:rPr>
              <a:t>Most common individual words overall</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Bigrams (Two-word phrases),</a:t>
            </a:r>
          </a:p>
          <a:p>
            <a:pPr marL="457200" indent="-457200">
              <a:buFont typeface="Arial" panose="020B0604020202020204" pitchFamily="34" charset="0"/>
              <a:buChar char="•"/>
            </a:pPr>
            <a:r>
              <a:rPr lang="en-US" sz="2400" dirty="0">
                <a:solidFill>
                  <a:srgbClr val="000000"/>
                </a:solidFill>
              </a:rPr>
              <a:t>Real :"according to", "officials said", "data shows"</a:t>
            </a:r>
          </a:p>
          <a:p>
            <a:pPr marL="457200" indent="-457200">
              <a:buFont typeface="Arial" panose="020B0604020202020204" pitchFamily="34" charset="0"/>
              <a:buChar char="•"/>
            </a:pPr>
            <a:r>
              <a:rPr lang="en-US" sz="2400" dirty="0">
                <a:solidFill>
                  <a:srgbClr val="000000"/>
                </a:solidFill>
              </a:rPr>
              <a:t>Fake : "breaking news", "urgent update", "sources say"</a:t>
            </a:r>
          </a:p>
          <a:p>
            <a:pPr marL="457200" indent="-457200">
              <a:buFont typeface="Arial" panose="020B0604020202020204" pitchFamily="34" charset="0"/>
              <a:buChar char="•"/>
            </a:pPr>
            <a:endParaRPr lang="en-US" sz="24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Trigrams (Three-word phrases),</a:t>
            </a:r>
          </a:p>
          <a:p>
            <a:pPr marL="457200" indent="-457200">
              <a:buFont typeface="Arial" panose="020B0604020202020204" pitchFamily="34" charset="0"/>
              <a:buChar char="•"/>
            </a:pPr>
            <a:r>
              <a:rPr lang="en-US" sz="2400" dirty="0">
                <a:solidFill>
                  <a:srgbClr val="000000"/>
                </a:solidFill>
              </a:rPr>
              <a:t>Real: "according to the", "research shows that"</a:t>
            </a:r>
          </a:p>
          <a:p>
            <a:pPr marL="457200" indent="-457200">
              <a:buFont typeface="Arial" panose="020B0604020202020204" pitchFamily="34" charset="0"/>
              <a:buChar char="•"/>
            </a:pPr>
            <a:r>
              <a:rPr lang="en-US" sz="2400" dirty="0">
                <a:solidFill>
                  <a:srgbClr val="000000"/>
                </a:solidFill>
              </a:rPr>
              <a:t>Fake: "you won't believe", "this is shocking"</a:t>
            </a:r>
          </a:p>
          <a:p>
            <a:endParaRPr lang="en-US" sz="28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What We Found,</a:t>
            </a:r>
          </a:p>
          <a:p>
            <a:r>
              <a:rPr lang="en-US" sz="2400" dirty="0">
                <a:solidFill>
                  <a:srgbClr val="000000"/>
                </a:solidFill>
              </a:rPr>
              <a:t>	</a:t>
            </a:r>
            <a:r>
              <a:rPr lang="en-US" sz="2400" dirty="0">
                <a:solidFill>
                  <a:srgbClr val="000080"/>
                </a:solidFill>
                <a:ea typeface="Microsoft YaHei" panose="020B0503020204020204" pitchFamily="34" charset="-122"/>
              </a:rPr>
              <a:t>Fake news uses predictable clickbait phrases! Real news cites sources properly!</a:t>
            </a:r>
          </a:p>
        </p:txBody>
      </p:sp>
      <p:pic>
        <p:nvPicPr>
          <p:cNvPr id="6" name="Picture 5">
            <a:extLst>
              <a:ext uri="{FF2B5EF4-FFF2-40B4-BE49-F238E27FC236}">
                <a16:creationId xmlns:a16="http://schemas.microsoft.com/office/drawing/2014/main" id="{CB08BEA0-8808-4F24-D032-D3EC29AB3B36}"/>
              </a:ext>
            </a:extLst>
          </p:cNvPr>
          <p:cNvPicPr>
            <a:picLocks noChangeAspect="1"/>
          </p:cNvPicPr>
          <p:nvPr/>
        </p:nvPicPr>
        <p:blipFill>
          <a:blip r:embed="rId3"/>
          <a:stretch>
            <a:fillRect/>
          </a:stretch>
        </p:blipFill>
        <p:spPr>
          <a:xfrm>
            <a:off x="7737587" y="1587674"/>
            <a:ext cx="3753274" cy="4290612"/>
          </a:xfrm>
          <a:prstGeom prst="rect">
            <a:avLst/>
          </a:prstGeom>
        </p:spPr>
      </p:pic>
      <p:sp>
        <p:nvSpPr>
          <p:cNvPr id="5" name="Footer Placeholder 2">
            <a:extLst>
              <a:ext uri="{FF2B5EF4-FFF2-40B4-BE49-F238E27FC236}">
                <a16:creationId xmlns:a16="http://schemas.microsoft.com/office/drawing/2014/main" id="{64F5BB12-8EE6-6D00-6EB8-2572DF09D562}"/>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1845091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The Emotion Factor : Sentiment Analysis</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8</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5201424"/>
          </a:xfrm>
          <a:prstGeom prst="rect">
            <a:avLst/>
          </a:prstGeom>
          <a:noFill/>
        </p:spPr>
        <p:txBody>
          <a:bodyPr wrap="square" rtlCol="0">
            <a:spAutoFit/>
          </a:bodyPr>
          <a:lstStyle/>
          <a:p>
            <a:r>
              <a:rPr lang="en-US" sz="2400" dirty="0">
                <a:solidFill>
                  <a:srgbClr val="000000"/>
                </a:solidFill>
              </a:rPr>
              <a:t>Fake news probably plays with emotions. Let's measure sentiment!</a:t>
            </a:r>
          </a:p>
          <a:p>
            <a:endParaRPr lang="en-US" sz="2800" dirty="0">
              <a:solidFill>
                <a:srgbClr val="000000"/>
              </a:solidFill>
            </a:endParaRPr>
          </a:p>
          <a:p>
            <a:r>
              <a:rPr lang="en-US" sz="2000" b="1" dirty="0">
                <a:solidFill>
                  <a:srgbClr val="000080"/>
                </a:solidFill>
                <a:effectLst/>
                <a:latin typeface="Microsoft YaHei" panose="020B0503020204020204" pitchFamily="34" charset="-122"/>
                <a:ea typeface="Microsoft YaHei" panose="020B0503020204020204" pitchFamily="34" charset="-122"/>
              </a:rPr>
              <a:t>Analyzed,</a:t>
            </a:r>
            <a:endParaRPr lang="en-US" sz="2000" b="0" dirty="0">
              <a:solidFill>
                <a:srgbClr val="000000"/>
              </a:solidFill>
              <a:effectLst/>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2400" dirty="0">
                <a:solidFill>
                  <a:srgbClr val="000000"/>
                </a:solidFill>
              </a:rPr>
              <a:t>Sentiment Score: Positive, Negative, or Neutral.</a:t>
            </a:r>
          </a:p>
          <a:p>
            <a:pPr marL="457200" indent="-457200">
              <a:buFont typeface="Arial" panose="020B0604020202020204" pitchFamily="34" charset="0"/>
              <a:buChar char="•"/>
            </a:pPr>
            <a:r>
              <a:rPr lang="en-US" sz="2400" dirty="0">
                <a:solidFill>
                  <a:srgbClr val="000000"/>
                </a:solidFill>
              </a:rPr>
              <a:t>Subjectivity: Objective facts vs subjective opinions.</a:t>
            </a:r>
          </a:p>
          <a:p>
            <a:pPr marL="457200" indent="-457200">
              <a:buFont typeface="Arial" panose="020B0604020202020204" pitchFamily="34" charset="0"/>
              <a:buChar char="•"/>
            </a:pPr>
            <a:r>
              <a:rPr lang="en-US" sz="2400" dirty="0">
                <a:solidFill>
                  <a:srgbClr val="000000"/>
                </a:solidFill>
              </a:rPr>
              <a:t>Compared fake vs real news distributions.</a:t>
            </a:r>
          </a:p>
          <a:p>
            <a:endParaRPr lang="en-US" sz="2800" b="1" dirty="0">
              <a:solidFill>
                <a:srgbClr val="000080"/>
              </a:solidFill>
              <a:effectLst/>
              <a:latin typeface="Microsoft YaHei" panose="020B0503020204020204" pitchFamily="34" charset="-122"/>
              <a:ea typeface="Microsoft YaHei" panose="020B0503020204020204" pitchFamily="34" charset="-122"/>
            </a:endParaRPr>
          </a:p>
          <a:p>
            <a:r>
              <a:rPr lang="en-US" sz="2000" b="1" dirty="0">
                <a:solidFill>
                  <a:srgbClr val="000080"/>
                </a:solidFill>
                <a:latin typeface="Microsoft YaHei" panose="020B0503020204020204" pitchFamily="34" charset="-122"/>
                <a:ea typeface="Microsoft YaHei" panose="020B0503020204020204" pitchFamily="34" charset="-122"/>
              </a:rPr>
              <a:t>Sentiment Patters,</a:t>
            </a:r>
          </a:p>
          <a:p>
            <a:pPr marL="457200" indent="-457200">
              <a:buFont typeface="Arial" panose="020B0604020202020204" pitchFamily="34" charset="0"/>
              <a:buChar char="•"/>
            </a:pPr>
            <a:r>
              <a:rPr lang="en-US" sz="2400" dirty="0">
                <a:solidFill>
                  <a:srgbClr val="000000"/>
                </a:solidFill>
              </a:rPr>
              <a:t>Fake news: Extreme sentiments, Higher subjectivity scores.</a:t>
            </a:r>
          </a:p>
          <a:p>
            <a:pPr marL="457200" indent="-457200">
              <a:buFont typeface="Arial" panose="020B0604020202020204" pitchFamily="34" charset="0"/>
              <a:buChar char="•"/>
            </a:pPr>
            <a:r>
              <a:rPr lang="en-US" sz="2400" dirty="0">
                <a:solidFill>
                  <a:srgbClr val="000000"/>
                </a:solidFill>
              </a:rPr>
              <a:t>Real news: More neutral, balanced sentiment.</a:t>
            </a:r>
          </a:p>
          <a:p>
            <a:pPr marL="457200" indent="-457200">
              <a:buFont typeface="Arial" panose="020B0604020202020204" pitchFamily="34" charset="0"/>
              <a:buChar char="•"/>
            </a:pPr>
            <a:endParaRPr lang="en-US" sz="24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What We Found,</a:t>
            </a:r>
          </a:p>
          <a:p>
            <a:r>
              <a:rPr lang="en-US" sz="2400" dirty="0">
                <a:solidFill>
                  <a:srgbClr val="000000"/>
                </a:solidFill>
              </a:rPr>
              <a:t>	</a:t>
            </a:r>
            <a:r>
              <a:rPr lang="en-US" sz="2400" b="0" dirty="0">
                <a:solidFill>
                  <a:srgbClr val="000000"/>
                </a:solidFill>
                <a:effectLst/>
                <a:latin typeface="Consolas" panose="020B0609020204030204" pitchFamily="49" charset="0"/>
              </a:rPr>
              <a:t> </a:t>
            </a:r>
            <a:r>
              <a:rPr lang="en-US" sz="2400" dirty="0">
                <a:solidFill>
                  <a:srgbClr val="000080"/>
                </a:solidFill>
                <a:ea typeface="Microsoft YaHei" panose="020B0503020204020204" pitchFamily="34" charset="-122"/>
              </a:rPr>
              <a:t>Fake news triggers emotions! Real news reports facts!</a:t>
            </a:r>
          </a:p>
          <a:p>
            <a:endParaRPr lang="en-US" sz="2400" dirty="0">
              <a:solidFill>
                <a:srgbClr val="000080"/>
              </a:solidFill>
              <a:ea typeface="Microsoft YaHei" panose="020B0503020204020204" pitchFamily="34" charset="-122"/>
            </a:endParaRPr>
          </a:p>
        </p:txBody>
      </p:sp>
      <p:sp>
        <p:nvSpPr>
          <p:cNvPr id="5" name="Footer Placeholder 2">
            <a:extLst>
              <a:ext uri="{FF2B5EF4-FFF2-40B4-BE49-F238E27FC236}">
                <a16:creationId xmlns:a16="http://schemas.microsoft.com/office/drawing/2014/main" id="{C72611E8-76B1-E4F0-B2FA-6BC3579988F2}"/>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443477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EDA Completes : What we learned?</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9</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79714"/>
            <a:ext cx="11243298" cy="5139869"/>
          </a:xfrm>
          <a:prstGeom prst="rect">
            <a:avLst/>
          </a:prstGeom>
          <a:noFill/>
        </p:spPr>
        <p:txBody>
          <a:bodyPr wrap="square" rtlCol="0">
            <a:spAutoFit/>
          </a:bodyPr>
          <a:lstStyle/>
          <a:p>
            <a:r>
              <a:rPr lang="en-US" sz="2400" dirty="0">
                <a:solidFill>
                  <a:srgbClr val="000000"/>
                </a:solidFill>
              </a:rPr>
              <a:t>Journalism has standards. Does writing complexity differ?</a:t>
            </a:r>
          </a:p>
          <a:p>
            <a:endParaRPr lang="en-US" sz="24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Fake News Signature Traits,</a:t>
            </a:r>
          </a:p>
          <a:p>
            <a:pPr marL="457200" indent="-457200">
              <a:buFont typeface="Arial" panose="020B0604020202020204" pitchFamily="34" charset="0"/>
              <a:buChar char="•"/>
            </a:pPr>
            <a:r>
              <a:rPr lang="en-US" sz="2400" dirty="0">
                <a:solidFill>
                  <a:srgbClr val="000000"/>
                </a:solidFill>
              </a:rPr>
              <a:t>Sensational vocabulary, Extreme sentiments and Clickbait phrases.</a:t>
            </a:r>
          </a:p>
          <a:p>
            <a:pPr marL="457200" indent="-457200">
              <a:buFont typeface="Arial" panose="020B0604020202020204" pitchFamily="34" charset="0"/>
              <a:buChar char="•"/>
            </a:pPr>
            <a:r>
              <a:rPr lang="en-US" sz="2400" dirty="0">
                <a:solidFill>
                  <a:srgbClr val="000000"/>
                </a:solidFill>
              </a:rPr>
              <a:t>More punctuation (!!!, ???) and Higher subjectivity</a:t>
            </a:r>
          </a:p>
          <a:p>
            <a:br>
              <a:rPr lang="en-US" sz="2400" b="0" dirty="0">
                <a:solidFill>
                  <a:srgbClr val="000000"/>
                </a:solidFill>
                <a:effectLst/>
                <a:latin typeface="Consolas" panose="020B0609020204030204" pitchFamily="49" charset="0"/>
              </a:rPr>
            </a:br>
            <a:r>
              <a:rPr lang="en-US" sz="2000" b="1" dirty="0">
                <a:solidFill>
                  <a:srgbClr val="000080"/>
                </a:solidFill>
                <a:latin typeface="Microsoft YaHei" panose="020B0503020204020204" pitchFamily="34" charset="-122"/>
                <a:ea typeface="Microsoft YaHei" panose="020B0503020204020204" pitchFamily="34" charset="-122"/>
              </a:rPr>
              <a:t>Real News Characteristics,</a:t>
            </a:r>
          </a:p>
          <a:p>
            <a:pPr marL="457200" indent="-457200">
              <a:buFont typeface="Arial" panose="020B0604020202020204" pitchFamily="34" charset="0"/>
              <a:buChar char="•"/>
            </a:pPr>
            <a:r>
              <a:rPr lang="en-US" sz="2400" dirty="0">
                <a:solidFill>
                  <a:srgbClr val="000000"/>
                </a:solidFill>
              </a:rPr>
              <a:t>Professional, neutral tone</a:t>
            </a:r>
          </a:p>
          <a:p>
            <a:pPr marL="457200" indent="-457200">
              <a:buFont typeface="Arial" panose="020B0604020202020204" pitchFamily="34" charset="0"/>
              <a:buChar char="•"/>
            </a:pPr>
            <a:r>
              <a:rPr lang="en-US" sz="2400" dirty="0">
                <a:solidFill>
                  <a:srgbClr val="000000"/>
                </a:solidFill>
              </a:rPr>
              <a:t>Cites sources properly and Consistent structure</a:t>
            </a:r>
          </a:p>
          <a:p>
            <a:pPr marL="457200" indent="-457200">
              <a:buFont typeface="Arial" panose="020B0604020202020204" pitchFamily="34" charset="0"/>
              <a:buChar char="•"/>
            </a:pPr>
            <a:r>
              <a:rPr lang="en-US" sz="2400" dirty="0">
                <a:solidFill>
                  <a:srgbClr val="000000"/>
                </a:solidFill>
              </a:rPr>
              <a:t>Balanced sentiment and Factual, objective language</a:t>
            </a:r>
          </a:p>
          <a:p>
            <a:pPr marL="457200" indent="-457200">
              <a:buFont typeface="Arial" panose="020B0604020202020204" pitchFamily="34" charset="0"/>
              <a:buChar char="•"/>
            </a:pPr>
            <a:endParaRPr lang="en-US" sz="2400" dirty="0">
              <a:solidFill>
                <a:srgbClr val="000000"/>
              </a:solidFill>
            </a:endParaRPr>
          </a:p>
          <a:p>
            <a:pPr marL="457200" indent="-457200">
              <a:buFont typeface="Arial" panose="020B0604020202020204" pitchFamily="34" charset="0"/>
              <a:buChar char="•"/>
            </a:pPr>
            <a:endParaRPr lang="en-US" sz="2400" dirty="0">
              <a:solidFill>
                <a:srgbClr val="000000"/>
              </a:solidFill>
            </a:endParaRPr>
          </a:p>
          <a:p>
            <a:r>
              <a:rPr lang="en-US" sz="2400" dirty="0">
                <a:solidFill>
                  <a:srgbClr val="000080"/>
                </a:solidFill>
                <a:ea typeface="Microsoft YaHei" panose="020B0503020204020204" pitchFamily="34" charset="-122"/>
              </a:rPr>
              <a:t>	We have clear patterns! Now let's build features and train models!</a:t>
            </a:r>
          </a:p>
          <a:p>
            <a:endParaRPr lang="en-US" sz="2400" dirty="0">
              <a:solidFill>
                <a:srgbClr val="000080"/>
              </a:solidFill>
              <a:ea typeface="Microsoft YaHei" panose="020B0503020204020204" pitchFamily="34" charset="-122"/>
            </a:endParaRPr>
          </a:p>
        </p:txBody>
      </p:sp>
      <p:sp>
        <p:nvSpPr>
          <p:cNvPr id="5" name="Footer Placeholder 2">
            <a:extLst>
              <a:ext uri="{FF2B5EF4-FFF2-40B4-BE49-F238E27FC236}">
                <a16:creationId xmlns:a16="http://schemas.microsoft.com/office/drawing/2014/main" id="{89B4944F-3D4E-4AE1-50B5-F234FC5EAC17}"/>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4146079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Building Intelligence : Feature Engineering?</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10</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51722"/>
            <a:ext cx="11243298" cy="5078313"/>
          </a:xfrm>
          <a:prstGeom prst="rect">
            <a:avLst/>
          </a:prstGeom>
          <a:noFill/>
        </p:spPr>
        <p:txBody>
          <a:bodyPr wrap="square" rtlCol="0">
            <a:spAutoFit/>
          </a:bodyPr>
          <a:lstStyle/>
          <a:p>
            <a:r>
              <a:rPr lang="en-US" sz="2400" dirty="0">
                <a:solidFill>
                  <a:srgbClr val="000000"/>
                </a:solidFill>
              </a:rPr>
              <a:t>Models need numbers, not words. Let's translate our discoveries into features!</a:t>
            </a:r>
          </a:p>
          <a:p>
            <a:endParaRPr lang="en-US" sz="24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Text Statistics (15+ features),</a:t>
            </a:r>
          </a:p>
          <a:p>
            <a:pPr marL="457200" indent="-457200">
              <a:buFont typeface="Arial" panose="020B0604020202020204" pitchFamily="34" charset="0"/>
              <a:buChar char="•"/>
            </a:pPr>
            <a:r>
              <a:rPr lang="en-US" sz="2400" dirty="0">
                <a:solidFill>
                  <a:srgbClr val="000000"/>
                </a:solidFill>
              </a:rPr>
              <a:t>Title length, text length, word counts, character counts, Title-to-text ratios</a:t>
            </a:r>
          </a:p>
          <a:p>
            <a:br>
              <a:rPr lang="en-US" sz="2400" b="0" dirty="0">
                <a:solidFill>
                  <a:srgbClr val="000000"/>
                </a:solidFill>
                <a:effectLst/>
                <a:latin typeface="Consolas" panose="020B0609020204030204" pitchFamily="49" charset="0"/>
              </a:rPr>
            </a:br>
            <a:r>
              <a:rPr lang="en-US" sz="2000" b="1" dirty="0">
                <a:solidFill>
                  <a:srgbClr val="000080"/>
                </a:solidFill>
                <a:latin typeface="Microsoft YaHei" panose="020B0503020204020204" pitchFamily="34" charset="-122"/>
                <a:ea typeface="Microsoft YaHei" panose="020B0503020204020204" pitchFamily="34" charset="-122"/>
              </a:rPr>
              <a:t>Emotional Indicators and Language Markers,</a:t>
            </a:r>
          </a:p>
          <a:p>
            <a:pPr marL="457200" indent="-457200">
              <a:buFont typeface="Arial" panose="020B0604020202020204" pitchFamily="34" charset="0"/>
              <a:buChar char="•"/>
            </a:pPr>
            <a:r>
              <a:rPr lang="en-US" sz="2400" dirty="0">
                <a:solidFill>
                  <a:srgbClr val="000000"/>
                </a:solidFill>
              </a:rPr>
              <a:t>Sentiment scores, Subjectivity measures</a:t>
            </a:r>
          </a:p>
          <a:p>
            <a:pPr marL="457200" indent="-457200">
              <a:buFont typeface="Arial" panose="020B0604020202020204" pitchFamily="34" charset="0"/>
              <a:buChar char="•"/>
            </a:pPr>
            <a:r>
              <a:rPr lang="en-US" sz="2400" dirty="0">
                <a:solidFill>
                  <a:srgbClr val="000000"/>
                </a:solidFill>
              </a:rPr>
              <a:t>Exclamation mark count (!!!), Question mark count (???), CAPS ratio (SHOUTING?), Digit counts, Special character density.</a:t>
            </a:r>
          </a:p>
          <a:p>
            <a:pPr marL="457200" indent="-457200">
              <a:buFont typeface="Arial" panose="020B0604020202020204" pitchFamily="34" charset="0"/>
              <a:buChar char="•"/>
            </a:pPr>
            <a:endParaRPr lang="en-US" sz="24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Advanced NLP,</a:t>
            </a:r>
          </a:p>
          <a:p>
            <a:pPr marL="457200" indent="-457200">
              <a:buFont typeface="Arial" panose="020B0604020202020204" pitchFamily="34" charset="0"/>
              <a:buChar char="•"/>
            </a:pPr>
            <a:r>
              <a:rPr lang="en-US" sz="2400" dirty="0">
                <a:solidFill>
                  <a:srgbClr val="000000"/>
                </a:solidFill>
              </a:rPr>
              <a:t>TF-IDF vectors (word importance), N-gram features</a:t>
            </a:r>
          </a:p>
          <a:p>
            <a:endParaRPr lang="en-US" sz="2400" dirty="0">
              <a:solidFill>
                <a:srgbClr val="000000"/>
              </a:solidFill>
            </a:endParaRPr>
          </a:p>
          <a:p>
            <a:r>
              <a:rPr lang="en-US" sz="2400" dirty="0">
                <a:solidFill>
                  <a:srgbClr val="000080"/>
                </a:solidFill>
                <a:ea typeface="Microsoft YaHei" panose="020B0503020204020204" pitchFamily="34" charset="-122"/>
              </a:rPr>
              <a:t>	"We've armed our models with 15+ powerful features!"</a:t>
            </a:r>
          </a:p>
        </p:txBody>
      </p:sp>
      <p:sp>
        <p:nvSpPr>
          <p:cNvPr id="5" name="Footer Placeholder 2">
            <a:extLst>
              <a:ext uri="{FF2B5EF4-FFF2-40B4-BE49-F238E27FC236}">
                <a16:creationId xmlns:a16="http://schemas.microsoft.com/office/drawing/2014/main" id="{413EA541-FD40-F750-3C69-CBB920145A56}"/>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4034320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Getting Ready : Data Preprocessing</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11</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51722"/>
            <a:ext cx="11243298" cy="4985980"/>
          </a:xfrm>
          <a:prstGeom prst="rect">
            <a:avLst/>
          </a:prstGeom>
          <a:noFill/>
        </p:spPr>
        <p:txBody>
          <a:bodyPr wrap="square" rtlCol="0">
            <a:spAutoFit/>
          </a:bodyPr>
          <a:lstStyle/>
          <a:p>
            <a:r>
              <a:rPr lang="en-US" sz="2400" dirty="0">
                <a:solidFill>
                  <a:srgbClr val="000000"/>
                </a:solidFill>
              </a:rPr>
              <a:t>Clean data = Better models.</a:t>
            </a:r>
          </a:p>
          <a:p>
            <a:endParaRPr lang="en-US" sz="2400" dirty="0">
              <a:solidFill>
                <a:srgbClr val="000000"/>
              </a:solidFill>
            </a:endParaRPr>
          </a:p>
          <a:p>
            <a:r>
              <a:rPr lang="en-US" sz="2000" b="1" dirty="0">
                <a:solidFill>
                  <a:srgbClr val="000080"/>
                </a:solidFill>
                <a:latin typeface="Microsoft YaHei" panose="020B0503020204020204" pitchFamily="34" charset="-122"/>
                <a:ea typeface="Microsoft YaHei" panose="020B0503020204020204" pitchFamily="34" charset="-122"/>
              </a:rPr>
              <a:t>Step 1 : Text Cleaning,</a:t>
            </a:r>
          </a:p>
          <a:p>
            <a:pPr marL="457200" indent="-457200">
              <a:buFont typeface="Arial" panose="020B0604020202020204" pitchFamily="34" charset="0"/>
              <a:buChar char="•"/>
            </a:pPr>
            <a:r>
              <a:rPr lang="en-US" sz="2400" dirty="0">
                <a:solidFill>
                  <a:srgbClr val="000000"/>
                </a:solidFill>
              </a:rPr>
              <a:t>Combined title + text into one field, Lowercased everything and Removed extra spaces and Fixed encoding issues.</a:t>
            </a:r>
          </a:p>
          <a:p>
            <a:pPr marL="457200" indent="-457200">
              <a:buFont typeface="Arial" panose="020B0604020202020204" pitchFamily="34" charset="0"/>
              <a:buChar char="•"/>
            </a:pPr>
            <a:r>
              <a:rPr lang="en-US" sz="2400" dirty="0">
                <a:solidFill>
                  <a:srgbClr val="000000"/>
                </a:solidFill>
              </a:rPr>
              <a:t>Removed URLs (http://, www.) and special characters (@#$%^&amp;*).</a:t>
            </a:r>
          </a:p>
          <a:p>
            <a:br>
              <a:rPr lang="en-US" sz="2400" b="0" dirty="0">
                <a:solidFill>
                  <a:srgbClr val="000000"/>
                </a:solidFill>
                <a:effectLst/>
                <a:latin typeface="Consolas" panose="020B0609020204030204" pitchFamily="49" charset="0"/>
              </a:rPr>
            </a:br>
            <a:r>
              <a:rPr lang="en-US" sz="1800" b="1" dirty="0">
                <a:solidFill>
                  <a:srgbClr val="000080"/>
                </a:solidFill>
                <a:latin typeface="Microsoft YaHei" panose="020B0503020204020204" pitchFamily="34" charset="-122"/>
                <a:ea typeface="Microsoft YaHei" panose="020B0503020204020204" pitchFamily="34" charset="-122"/>
              </a:rPr>
              <a:t>Step 2 : Label Validation,</a:t>
            </a:r>
          </a:p>
          <a:p>
            <a:pPr marL="457200" indent="-457200">
              <a:buFont typeface="Arial" panose="020B0604020202020204" pitchFamily="34" charset="0"/>
              <a:buChar char="•"/>
            </a:pPr>
            <a:r>
              <a:rPr lang="en-US" sz="2400" dirty="0">
                <a:solidFill>
                  <a:srgbClr val="000000"/>
                </a:solidFill>
              </a:rPr>
              <a:t>Ensured only 0 (fake) and 1 (real) labels, Removed any invalid entries and Verified data integrity.</a:t>
            </a:r>
          </a:p>
          <a:p>
            <a:pPr marL="457200" indent="-457200">
              <a:buFont typeface="Arial" panose="020B0604020202020204" pitchFamily="34" charset="0"/>
              <a:buChar char="•"/>
            </a:pPr>
            <a:endParaRPr lang="en-US" sz="2400" dirty="0">
              <a:solidFill>
                <a:srgbClr val="000000"/>
              </a:solidFill>
            </a:endParaRPr>
          </a:p>
          <a:p>
            <a:r>
              <a:rPr lang="en-US" sz="1600" b="1" dirty="0">
                <a:solidFill>
                  <a:srgbClr val="000080"/>
                </a:solidFill>
                <a:latin typeface="Microsoft YaHei" panose="020B0503020204020204" pitchFamily="34" charset="-122"/>
                <a:ea typeface="Microsoft YaHei" panose="020B0503020204020204" pitchFamily="34" charset="-122"/>
              </a:rPr>
              <a:t>Step 3 : Train – Test Split,</a:t>
            </a:r>
          </a:p>
          <a:p>
            <a:pPr marL="457200" indent="-457200">
              <a:buFont typeface="Arial" panose="020B0604020202020204" pitchFamily="34" charset="0"/>
              <a:buChar char="•"/>
            </a:pPr>
            <a:r>
              <a:rPr lang="en-US" sz="2400" dirty="0">
                <a:solidFill>
                  <a:srgbClr val="000000"/>
                </a:solidFill>
              </a:rPr>
              <a:t>80% for training (teaching the model), 20% for testing (evaluating performance) and Stratified split (balanced classes)</a:t>
            </a:r>
          </a:p>
        </p:txBody>
      </p:sp>
      <p:sp>
        <p:nvSpPr>
          <p:cNvPr id="5" name="Footer Placeholder 2">
            <a:extLst>
              <a:ext uri="{FF2B5EF4-FFF2-40B4-BE49-F238E27FC236}">
                <a16:creationId xmlns:a16="http://schemas.microsoft.com/office/drawing/2014/main" id="{232164F6-3964-29DC-8857-28B7AE852E52}"/>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3520209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DBE6-B978-C0FA-C3FC-01DBA6FB5A7D}"/>
              </a:ext>
            </a:extLst>
          </p:cNvPr>
          <p:cNvSpPr>
            <a:spLocks noGrp="1"/>
          </p:cNvSpPr>
          <p:nvPr>
            <p:ph type="title"/>
          </p:nvPr>
        </p:nvSpPr>
        <p:spPr/>
        <p:txBody>
          <a:bodyPr>
            <a:normAutofit/>
          </a:bodyPr>
          <a:lstStyle/>
          <a:p>
            <a:r>
              <a:rPr lang="en-US" dirty="0"/>
              <a:t>Getting Ready : Data Preprocessing</a:t>
            </a:r>
          </a:p>
        </p:txBody>
      </p:sp>
      <p:sp>
        <p:nvSpPr>
          <p:cNvPr id="4" name="Slide Number Placeholder 3">
            <a:extLst>
              <a:ext uri="{FF2B5EF4-FFF2-40B4-BE49-F238E27FC236}">
                <a16:creationId xmlns:a16="http://schemas.microsoft.com/office/drawing/2014/main" id="{63EEA2A2-5A05-CE3C-2B17-97AEBF2D84DF}"/>
              </a:ext>
            </a:extLst>
          </p:cNvPr>
          <p:cNvSpPr>
            <a:spLocks noGrp="1"/>
          </p:cNvSpPr>
          <p:nvPr>
            <p:ph type="sldNum" sz="quarter" idx="12"/>
          </p:nvPr>
        </p:nvSpPr>
        <p:spPr/>
        <p:txBody>
          <a:bodyPr/>
          <a:lstStyle/>
          <a:p>
            <a:fld id="{BF1758FF-0BF1-4103-A89A-38EC40E85429}" type="slidenum">
              <a:rPr lang="en-SG" smtClean="0"/>
              <a:t>12</a:t>
            </a:fld>
            <a:endParaRPr lang="en-SG" dirty="0"/>
          </a:p>
        </p:txBody>
      </p:sp>
      <p:sp>
        <p:nvSpPr>
          <p:cNvPr id="8" name="TextBox 7">
            <a:extLst>
              <a:ext uri="{FF2B5EF4-FFF2-40B4-BE49-F238E27FC236}">
                <a16:creationId xmlns:a16="http://schemas.microsoft.com/office/drawing/2014/main" id="{3CE9C6E7-1BBD-F71B-26CA-67EDF528A2B5}"/>
              </a:ext>
            </a:extLst>
          </p:cNvPr>
          <p:cNvSpPr txBox="1"/>
          <p:nvPr/>
        </p:nvSpPr>
        <p:spPr>
          <a:xfrm>
            <a:off x="363984" y="951722"/>
            <a:ext cx="11243298" cy="2246769"/>
          </a:xfrm>
          <a:prstGeom prst="rect">
            <a:avLst/>
          </a:prstGeom>
          <a:noFill/>
        </p:spPr>
        <p:txBody>
          <a:bodyPr wrap="square" rtlCol="0">
            <a:spAutoFit/>
          </a:bodyPr>
          <a:lstStyle/>
          <a:p>
            <a:r>
              <a:rPr lang="en-US" sz="2000" b="1" dirty="0">
                <a:solidFill>
                  <a:srgbClr val="000080"/>
                </a:solidFill>
                <a:latin typeface="Microsoft YaHei" panose="020B0503020204020204" pitchFamily="34" charset="-122"/>
                <a:ea typeface="Microsoft YaHei" panose="020B0503020204020204" pitchFamily="34" charset="-122"/>
              </a:rPr>
              <a:t>Step 4 : Tokenization (for deep learning)</a:t>
            </a:r>
          </a:p>
          <a:p>
            <a:pPr marL="457200" indent="-457200">
              <a:buFont typeface="Arial" panose="020B0604020202020204" pitchFamily="34" charset="0"/>
              <a:buChar char="•"/>
            </a:pPr>
            <a:r>
              <a:rPr lang="en-US" sz="2400" dirty="0">
                <a:solidFill>
                  <a:srgbClr val="000000"/>
                </a:solidFill>
              </a:rPr>
              <a:t>Vocabulary: Top 10,000 most common words.</a:t>
            </a:r>
          </a:p>
          <a:p>
            <a:pPr marL="457200" indent="-457200">
              <a:buFont typeface="Arial" panose="020B0604020202020204" pitchFamily="34" charset="0"/>
              <a:buChar char="•"/>
            </a:pPr>
            <a:r>
              <a:rPr lang="en-US" sz="2400" dirty="0">
                <a:solidFill>
                  <a:srgbClr val="000000"/>
                </a:solidFill>
              </a:rPr>
              <a:t>Sequence length: 256 tokens max.</a:t>
            </a:r>
          </a:p>
          <a:p>
            <a:pPr marL="457200" indent="-457200">
              <a:buFont typeface="Arial" panose="020B0604020202020204" pitchFamily="34" charset="0"/>
              <a:buChar char="•"/>
            </a:pPr>
            <a:r>
              <a:rPr lang="en-US" sz="2400" dirty="0">
                <a:solidFill>
                  <a:srgbClr val="000000"/>
                </a:solidFill>
              </a:rPr>
              <a:t>Added padding for uniform input.</a:t>
            </a:r>
          </a:p>
          <a:p>
            <a:endParaRPr lang="en-US" sz="2400" dirty="0">
              <a:solidFill>
                <a:srgbClr val="000000"/>
              </a:solidFill>
              <a:latin typeface="Consolas" panose="020B0609020204030204" pitchFamily="49" charset="0"/>
            </a:endParaRPr>
          </a:p>
          <a:p>
            <a:r>
              <a:rPr lang="en-US" sz="2400" dirty="0">
                <a:solidFill>
                  <a:srgbClr val="000080"/>
                </a:solidFill>
                <a:ea typeface="Microsoft YaHei" panose="020B0503020204020204" pitchFamily="34" charset="-122"/>
              </a:rPr>
              <a:t>	</a:t>
            </a:r>
          </a:p>
        </p:txBody>
      </p:sp>
      <p:sp>
        <p:nvSpPr>
          <p:cNvPr id="5" name="Footer Placeholder 2">
            <a:extLst>
              <a:ext uri="{FF2B5EF4-FFF2-40B4-BE49-F238E27FC236}">
                <a16:creationId xmlns:a16="http://schemas.microsoft.com/office/drawing/2014/main" id="{84D71B09-966A-1124-97EC-96901016CF0E}"/>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
        <p:nvSpPr>
          <p:cNvPr id="10" name="TextBox 9">
            <a:extLst>
              <a:ext uri="{FF2B5EF4-FFF2-40B4-BE49-F238E27FC236}">
                <a16:creationId xmlns:a16="http://schemas.microsoft.com/office/drawing/2014/main" id="{A2BAD130-F7D4-91C7-3B9F-0C0F4B4F46F3}"/>
              </a:ext>
            </a:extLst>
          </p:cNvPr>
          <p:cNvSpPr txBox="1"/>
          <p:nvPr/>
        </p:nvSpPr>
        <p:spPr>
          <a:xfrm>
            <a:off x="363983" y="3244334"/>
            <a:ext cx="6783791" cy="923330"/>
          </a:xfrm>
          <a:prstGeom prst="rect">
            <a:avLst/>
          </a:prstGeom>
          <a:noFill/>
        </p:spPr>
        <p:txBody>
          <a:bodyPr wrap="square">
            <a:spAutoFit/>
          </a:bodyPr>
          <a:lstStyle/>
          <a:p>
            <a:r>
              <a:rPr lang="en-US" sz="1800" dirty="0">
                <a:solidFill>
                  <a:srgbClr val="000080"/>
                </a:solidFill>
                <a:ea typeface="Microsoft YaHei" panose="020B0503020204020204" pitchFamily="34" charset="-122"/>
              </a:rPr>
              <a:t>The heavy lifting of data preprocessing is done. But can we run this efficiently? Let's dive into the benchmarks to uncover the scalability limits and define the 'sweet spot' for our Spark pipeline. </a:t>
            </a:r>
            <a:endParaRPr lang="en-IN" dirty="0"/>
          </a:p>
        </p:txBody>
      </p:sp>
    </p:spTree>
    <p:extLst>
      <p:ext uri="{BB962C8B-B14F-4D97-AF65-F5344CB8AC3E}">
        <p14:creationId xmlns:p14="http://schemas.microsoft.com/office/powerpoint/2010/main" val="3044214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276A2-55DD-C524-1E85-02F8982C1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92D28-4D0D-0DC8-3369-E19AC2E36BC2}"/>
              </a:ext>
            </a:extLst>
          </p:cNvPr>
          <p:cNvSpPr>
            <a:spLocks noGrp="1"/>
          </p:cNvSpPr>
          <p:nvPr>
            <p:ph type="title"/>
          </p:nvPr>
        </p:nvSpPr>
        <p:spPr/>
        <p:txBody>
          <a:bodyPr>
            <a:normAutofit/>
          </a:bodyPr>
          <a:lstStyle/>
          <a:p>
            <a:pPr>
              <a:lnSpc>
                <a:spcPct val="100000"/>
              </a:lnSpc>
            </a:pPr>
            <a:r>
              <a:rPr lang="en-US" dirty="0"/>
              <a:t>Building a Reliable Benchmark Environment</a:t>
            </a:r>
            <a:endParaRPr lang="en-US" dirty="0">
              <a:solidFill>
                <a:schemeClr val="tx1"/>
              </a:solidFill>
            </a:endParaRPr>
          </a:p>
        </p:txBody>
      </p:sp>
      <p:sp>
        <p:nvSpPr>
          <p:cNvPr id="4" name="Slide Number Placeholder 3">
            <a:extLst>
              <a:ext uri="{FF2B5EF4-FFF2-40B4-BE49-F238E27FC236}">
                <a16:creationId xmlns:a16="http://schemas.microsoft.com/office/drawing/2014/main" id="{5C7D24B9-E1FA-3C32-CA45-5BD29F8939C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C1DE0BC9-DB95-0F11-FCBD-27B1A820A5AD}"/>
              </a:ext>
            </a:extLst>
          </p:cNvPr>
          <p:cNvSpPr txBox="1"/>
          <p:nvPr/>
        </p:nvSpPr>
        <p:spPr>
          <a:xfrm>
            <a:off x="363984" y="2319552"/>
            <a:ext cx="6200127" cy="34778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srgbClr val="000080"/>
                </a:solidFill>
                <a:effectLst/>
                <a:uLnTx/>
                <a:uFillTx/>
                <a:latin typeface="Microsoft YaHei" panose="020B0503020204020204" pitchFamily="34" charset="-122"/>
                <a:ea typeface="Microsoft YaHei" panose="020B0503020204020204" pitchFamily="34" charset="-122"/>
                <a:cs typeface="+mn-cs"/>
              </a:rPr>
              <a:t>The Lab: Single Bare-Metal Server</a:t>
            </a:r>
          </a:p>
          <a:p>
            <a:pPr marL="457200" lvl="0" indent="-457200">
              <a:buFont typeface="Arial" panose="020B0604020202020204" pitchFamily="34" charset="0"/>
              <a:buChar char="•"/>
              <a:defRPr/>
            </a:pPr>
            <a:r>
              <a:rPr kumimoji="0" lang="en-IN" sz="2000" b="1" i="0" u="none" strike="noStrike" kern="1200" cap="none" spc="0" normalizeH="0" baseline="0" noProof="0" dirty="0">
                <a:ln>
                  <a:noFill/>
                </a:ln>
                <a:solidFill>
                  <a:srgbClr val="000000"/>
                </a:solidFill>
                <a:effectLst/>
                <a:uLnTx/>
                <a:uFillTx/>
                <a:latin typeface="Calibri" panose="020F0502020204030204"/>
                <a:ea typeface="+mn-ea"/>
                <a:cs typeface="+mn-cs"/>
              </a:rPr>
              <a:t>CPU: </a:t>
            </a:r>
            <a:r>
              <a:rPr lang="en-IN" sz="2000" dirty="0"/>
              <a:t>Single Bare-Metal, Dual-Socket </a:t>
            </a:r>
            <a:r>
              <a:rPr lang="en-IN" sz="2000" b="1" dirty="0"/>
              <a:t>Xeon</a:t>
            </a:r>
            <a:r>
              <a:rPr lang="en-IN" sz="2000" dirty="0"/>
              <a:t>.</a:t>
            </a:r>
            <a:endParaRPr kumimoji="0" lang="en-IN" sz="2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dirty="0">
                <a:solidFill>
                  <a:srgbClr val="000000"/>
                </a:solidFill>
                <a:latin typeface="Calibri" panose="020F0502020204030204"/>
              </a:rPr>
              <a:t>RAM: </a:t>
            </a:r>
            <a:r>
              <a:rPr lang="en-IN" sz="2000" dirty="0">
                <a:solidFill>
                  <a:srgbClr val="000000"/>
                </a:solidFill>
                <a:latin typeface="Calibri" panose="020F0502020204030204"/>
              </a:rPr>
              <a:t>DDR5, 6400 MT/s</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dirty="0">
                <a:solidFill>
                  <a:srgbClr val="000000"/>
                </a:solidFill>
                <a:latin typeface="Calibri" panose="020F0502020204030204"/>
              </a:rPr>
              <a:t>No network or virtualisation overhead</a:t>
            </a:r>
          </a:p>
          <a:p>
            <a:pPr marR="0" lvl="0" algn="l" defTabSz="457200" rtl="0" eaLnBrk="1" fontAlgn="auto" latinLnBrk="0" hangingPunct="1">
              <a:lnSpc>
                <a:spcPct val="100000"/>
              </a:lnSpc>
              <a:spcBef>
                <a:spcPts val="0"/>
              </a:spcBef>
              <a:spcAft>
                <a:spcPts val="0"/>
              </a:spcAft>
              <a:buClrTx/>
              <a:buSzTx/>
              <a:tabLst/>
              <a:defRPr/>
            </a:pPr>
            <a:endParaRPr kumimoji="0" lang="en-IN" sz="20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80"/>
                </a:solidFill>
                <a:effectLst/>
                <a:uLnTx/>
                <a:uFillTx/>
                <a:latin typeface="Microsoft YaHei" panose="020B0503020204020204" pitchFamily="34" charset="-122"/>
                <a:ea typeface="Microsoft YaHei" panose="020B0503020204020204" pitchFamily="34" charset="-122"/>
                <a:cs typeface="+mn-cs"/>
              </a:rPr>
              <a:t>Automation &amp; Libraries</a:t>
            </a:r>
          </a:p>
          <a:p>
            <a:pPr marL="285750" indent="-285750">
              <a:buFont typeface="Arial" panose="020B0604020202020204" pitchFamily="34" charset="0"/>
              <a:buChar char="•"/>
              <a:defRPr/>
            </a:pPr>
            <a:r>
              <a:rPr lang="en-US" sz="2000" b="1" dirty="0"/>
              <a:t>Workflow:</a:t>
            </a:r>
            <a:r>
              <a:rPr lang="en-US" sz="2000" dirty="0"/>
              <a:t> Automated via Python/Bash scripts</a:t>
            </a:r>
            <a:endParaRPr kumimoji="0" lang="en-US" sz="2000" b="1" i="0" u="none" strike="noStrike" kern="1200" cap="none" spc="0" normalizeH="0" baseline="0" noProof="0" dirty="0">
              <a:ln>
                <a:noFill/>
              </a:ln>
              <a:solidFill>
                <a:srgbClr val="000080"/>
              </a:solidFill>
              <a:effectLst/>
              <a:uLnTx/>
              <a:uFillTx/>
              <a:latin typeface="Microsoft YaHei" panose="020B0503020204020204" pitchFamily="34" charset="-122"/>
              <a:ea typeface="Microsoft YaHei" panose="020B0503020204020204" pitchFamily="34" charset="-122"/>
              <a:cs typeface="+mn-cs"/>
            </a:endParaRPr>
          </a:p>
          <a:p>
            <a:pPr marL="285750" lvl="0" indent="-285750">
              <a:buFont typeface="Arial" panose="020B0604020202020204" pitchFamily="34" charset="0"/>
              <a:buChar char="•"/>
            </a:pPr>
            <a:r>
              <a:rPr lang="en-US" sz="2000" b="1" dirty="0"/>
              <a:t>Performance Constraint:</a:t>
            </a:r>
            <a:r>
              <a:rPr lang="en-US" sz="2000" dirty="0"/>
              <a:t> Minimize inter-socket communication through </a:t>
            </a:r>
            <a:r>
              <a:rPr lang="en-US" sz="2000" b="1" dirty="0"/>
              <a:t>strict NUMA-pinning</a:t>
            </a:r>
            <a:r>
              <a:rPr lang="en-US" sz="2000" dirty="0"/>
              <a:t>.</a:t>
            </a:r>
            <a:endParaRPr lang="en-US" sz="2000" b="1" dirty="0"/>
          </a:p>
          <a:p>
            <a:pPr marL="285750" lvl="0" indent="-285750">
              <a:buFont typeface="Arial" panose="020B0604020202020204" pitchFamily="34" charset="0"/>
              <a:buChar char="•"/>
            </a:pPr>
            <a:r>
              <a:rPr lang="en-US" sz="2000" b="1" dirty="0"/>
              <a:t>Tooling:</a:t>
            </a:r>
            <a:r>
              <a:rPr lang="en-US" sz="2000" dirty="0"/>
              <a:t> </a:t>
            </a:r>
            <a:r>
              <a:rPr lang="en-US" sz="2000" b="1" dirty="0"/>
              <a:t>Apache Spark</a:t>
            </a:r>
            <a:r>
              <a:rPr lang="en-US" sz="2000" dirty="0"/>
              <a:t> for data processing; </a:t>
            </a:r>
            <a:r>
              <a:rPr lang="en-US" sz="2000" b="1" dirty="0"/>
              <a:t>Sparkmeasure</a:t>
            </a:r>
            <a:r>
              <a:rPr lang="en-US" sz="2000" dirty="0"/>
              <a:t> for metric collection.</a:t>
            </a:r>
          </a:p>
        </p:txBody>
      </p:sp>
      <p:pic>
        <p:nvPicPr>
          <p:cNvPr id="6" name="Picture 5">
            <a:extLst>
              <a:ext uri="{FF2B5EF4-FFF2-40B4-BE49-F238E27FC236}">
                <a16:creationId xmlns:a16="http://schemas.microsoft.com/office/drawing/2014/main" id="{D2BA61B0-66C7-5A55-0FF5-41EDE2FAF58C}"/>
              </a:ext>
            </a:extLst>
          </p:cNvPr>
          <p:cNvPicPr>
            <a:picLocks noChangeAspect="1"/>
          </p:cNvPicPr>
          <p:nvPr/>
        </p:nvPicPr>
        <p:blipFill rotWithShape="1">
          <a:blip r:embed="rId3">
            <a:extLst>
              <a:ext uri="{28A0092B-C50C-407E-A947-70E740481C1C}">
                <a14:useLocalDpi xmlns:a14="http://schemas.microsoft.com/office/drawing/2010/main" val="0"/>
              </a:ext>
            </a:extLst>
          </a:blip>
          <a:srcRect t="61203" r="18522"/>
          <a:stretch>
            <a:fillRect/>
          </a:stretch>
        </p:blipFill>
        <p:spPr bwMode="auto">
          <a:xfrm>
            <a:off x="6719049" y="3045316"/>
            <a:ext cx="4970614" cy="3414467"/>
          </a:xfrm>
          <a:prstGeom prst="rect">
            <a:avLst/>
          </a:prstGeom>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811F5DD7-32BD-8D01-A5B9-99F461C3D464}"/>
              </a:ext>
            </a:extLst>
          </p:cNvPr>
          <p:cNvPicPr>
            <a:picLocks noChangeAspect="1"/>
          </p:cNvPicPr>
          <p:nvPr/>
        </p:nvPicPr>
        <p:blipFill>
          <a:blip r:embed="rId4"/>
          <a:stretch>
            <a:fillRect/>
          </a:stretch>
        </p:blipFill>
        <p:spPr>
          <a:xfrm>
            <a:off x="8972621" y="874755"/>
            <a:ext cx="2855395" cy="2032654"/>
          </a:xfrm>
          <a:prstGeom prst="rect">
            <a:avLst/>
          </a:prstGeom>
        </p:spPr>
      </p:pic>
      <p:pic>
        <p:nvPicPr>
          <p:cNvPr id="7" name="Picture 6">
            <a:extLst>
              <a:ext uri="{FF2B5EF4-FFF2-40B4-BE49-F238E27FC236}">
                <a16:creationId xmlns:a16="http://schemas.microsoft.com/office/drawing/2014/main" id="{2AC2EFBB-9EFE-C4E4-A2A6-F7AE7A0B72CA}"/>
              </a:ext>
            </a:extLst>
          </p:cNvPr>
          <p:cNvPicPr>
            <a:picLocks noChangeAspect="1"/>
          </p:cNvPicPr>
          <p:nvPr/>
        </p:nvPicPr>
        <p:blipFill>
          <a:blip r:embed="rId5"/>
          <a:srcRect r="54658"/>
          <a:stretch>
            <a:fillRect/>
          </a:stretch>
        </p:blipFill>
        <p:spPr>
          <a:xfrm>
            <a:off x="6751321" y="1296095"/>
            <a:ext cx="2034090" cy="1516336"/>
          </a:xfrm>
          <a:prstGeom prst="rect">
            <a:avLst/>
          </a:prstGeom>
        </p:spPr>
      </p:pic>
      <p:sp>
        <p:nvSpPr>
          <p:cNvPr id="10" name="TextBox 9">
            <a:extLst>
              <a:ext uri="{FF2B5EF4-FFF2-40B4-BE49-F238E27FC236}">
                <a16:creationId xmlns:a16="http://schemas.microsoft.com/office/drawing/2014/main" id="{6BB4F022-CD22-187A-38EA-F92CF68BAE3E}"/>
              </a:ext>
            </a:extLst>
          </p:cNvPr>
          <p:cNvSpPr txBox="1"/>
          <p:nvPr/>
        </p:nvSpPr>
        <p:spPr>
          <a:xfrm>
            <a:off x="363984" y="874755"/>
            <a:ext cx="6149130" cy="830997"/>
          </a:xfrm>
          <a:prstGeom prst="rect">
            <a:avLst/>
          </a:prstGeom>
          <a:noFill/>
        </p:spPr>
        <p:txBody>
          <a:bodyPr wrap="square">
            <a:spAutoFit/>
          </a:bodyPr>
          <a:lstStyle/>
          <a:p>
            <a:r>
              <a:rPr lang="en-US" sz="2400" dirty="0">
                <a:solidFill>
                  <a:schemeClr val="tx1"/>
                </a:solidFill>
              </a:rPr>
              <a:t>Creating an automated testbed for repeatable and accurate performance results.</a:t>
            </a:r>
            <a:endParaRPr lang="en-IN" sz="2400" dirty="0"/>
          </a:p>
        </p:txBody>
      </p:sp>
      <p:sp>
        <p:nvSpPr>
          <p:cNvPr id="11" name="Footer Placeholder 2">
            <a:extLst>
              <a:ext uri="{FF2B5EF4-FFF2-40B4-BE49-F238E27FC236}">
                <a16:creationId xmlns:a16="http://schemas.microsoft.com/office/drawing/2014/main" id="{44B90673-1A9E-E216-82A3-A130A4078605}"/>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3324366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48B77-77FA-8880-B0ED-9580EA378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0ECFE-021C-2A20-96E3-E26EF6669B88}"/>
              </a:ext>
            </a:extLst>
          </p:cNvPr>
          <p:cNvSpPr>
            <a:spLocks noGrp="1"/>
          </p:cNvSpPr>
          <p:nvPr>
            <p:ph type="title"/>
          </p:nvPr>
        </p:nvSpPr>
        <p:spPr/>
        <p:txBody>
          <a:bodyPr>
            <a:normAutofit/>
          </a:bodyPr>
          <a:lstStyle/>
          <a:p>
            <a:pPr>
              <a:lnSpc>
                <a:spcPct val="100000"/>
              </a:lnSpc>
            </a:pPr>
            <a:r>
              <a:rPr lang="en-US" dirty="0"/>
              <a:t>Analysis 1: Strong Scaling (Amdahl's Law)</a:t>
            </a:r>
            <a:endParaRPr lang="en-US" dirty="0">
              <a:solidFill>
                <a:schemeClr val="tx1"/>
              </a:solidFill>
            </a:endParaRPr>
          </a:p>
        </p:txBody>
      </p:sp>
      <p:sp>
        <p:nvSpPr>
          <p:cNvPr id="4" name="Slide Number Placeholder 3">
            <a:extLst>
              <a:ext uri="{FF2B5EF4-FFF2-40B4-BE49-F238E27FC236}">
                <a16:creationId xmlns:a16="http://schemas.microsoft.com/office/drawing/2014/main" id="{51A5A7AC-68AC-8184-3078-EFA7E3440EF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F5200E44-776E-2D86-D8BC-D574732B5E29}"/>
              </a:ext>
            </a:extLst>
          </p:cNvPr>
          <p:cNvSpPr txBox="1"/>
          <p:nvPr/>
        </p:nvSpPr>
        <p:spPr>
          <a:xfrm>
            <a:off x="363984" y="2296860"/>
            <a:ext cx="6254930" cy="3170099"/>
          </a:xfrm>
          <a:prstGeom prst="rect">
            <a:avLst/>
          </a:prstGeom>
          <a:noFill/>
        </p:spPr>
        <p:txBody>
          <a:bodyPr wrap="square" rtlCol="0">
            <a:spAutoFit/>
          </a:bodyPr>
          <a:lstStyle/>
          <a:p>
            <a:pPr lvl="0">
              <a:defRPr/>
            </a:pPr>
            <a:r>
              <a:rPr lang="en-US" sz="2000" b="1" dirty="0"/>
              <a:t>Peak Efficiency:</a:t>
            </a:r>
            <a:r>
              <a:rPr lang="en-US" sz="2000" dirty="0"/>
              <a:t> Optimal performance achieved at </a:t>
            </a:r>
            <a:r>
              <a:rPr lang="en-US" sz="2000" b="1" dirty="0"/>
              <a:t>4 workers, </a:t>
            </a:r>
            <a:r>
              <a:rPr lang="en-US" sz="2000" dirty="0"/>
              <a:t>yielding a </a:t>
            </a:r>
            <a:r>
              <a:rPr lang="en-US" sz="2000" b="1" dirty="0"/>
              <a:t>1.66x peak speedup</a:t>
            </a:r>
            <a:r>
              <a:rPr lang="en-US" sz="2000" dirty="0"/>
              <a:t>.</a:t>
            </a:r>
          </a:p>
          <a:p>
            <a:pPr lvl="0">
              <a:defRPr/>
            </a:pPr>
            <a:endParaRPr lang="en-US" sz="2000" dirty="0"/>
          </a:p>
          <a:p>
            <a:pPr lvl="0">
              <a:defRPr/>
            </a:pPr>
            <a:r>
              <a:rPr lang="en-US" sz="2000" b="1" dirty="0"/>
              <a:t>Bottleneck (The Limit):</a:t>
            </a:r>
            <a:r>
              <a:rPr lang="en-US" sz="2000" dirty="0"/>
              <a:t> Scalability flattens dramatically at </a:t>
            </a:r>
            <a:r>
              <a:rPr lang="en-US" sz="2000" b="1" dirty="0"/>
              <a:t>32 cores (8 workers)</a:t>
            </a:r>
            <a:r>
              <a:rPr lang="en-US" sz="2000" dirty="0"/>
              <a:t>. The overheads across multiple workers surpass the computational gains.</a:t>
            </a:r>
          </a:p>
          <a:p>
            <a:pPr lvl="0">
              <a:defRPr/>
            </a:pPr>
            <a:endParaRPr lang="en-US" sz="2000" dirty="0"/>
          </a:p>
          <a:p>
            <a:pPr lvl="0">
              <a:defRPr/>
            </a:pPr>
            <a:r>
              <a:rPr lang="en-US" sz="2000" b="1" dirty="0"/>
              <a:t>Conclusion:</a:t>
            </a:r>
            <a:r>
              <a:rPr lang="en-US" sz="2000" dirty="0"/>
              <a:t> This is a classic demonstration of </a:t>
            </a:r>
            <a:r>
              <a:rPr lang="en-US" sz="2000" b="1" dirty="0"/>
              <a:t>Amdahl's Law</a:t>
            </a:r>
            <a:r>
              <a:rPr lang="en-US" sz="2000" dirty="0"/>
              <a:t>. Sequential component limits speedup; parallelism decreases at a higher number of workers.</a:t>
            </a:r>
          </a:p>
        </p:txBody>
      </p:sp>
      <p:pic>
        <p:nvPicPr>
          <p:cNvPr id="32" name="Picture 31">
            <a:extLst>
              <a:ext uri="{FF2B5EF4-FFF2-40B4-BE49-F238E27FC236}">
                <a16:creationId xmlns:a16="http://schemas.microsoft.com/office/drawing/2014/main" id="{020F07AB-7FF8-18FF-F388-1C169A71FC2F}"/>
              </a:ext>
            </a:extLst>
          </p:cNvPr>
          <p:cNvPicPr>
            <a:picLocks noChangeAspect="1"/>
          </p:cNvPicPr>
          <p:nvPr/>
        </p:nvPicPr>
        <p:blipFill>
          <a:blip r:embed="rId3">
            <a:extLst>
              <a:ext uri="{28A0092B-C50C-407E-A947-70E740481C1C}">
                <a14:useLocalDpi xmlns:a14="http://schemas.microsoft.com/office/drawing/2010/main" val="0"/>
              </a:ext>
            </a:extLst>
          </a:blip>
          <a:srcRect l="1572" r="2388"/>
          <a:stretch>
            <a:fillRect/>
          </a:stretch>
        </p:blipFill>
        <p:spPr>
          <a:xfrm>
            <a:off x="7407953" y="3523361"/>
            <a:ext cx="3482652" cy="2527120"/>
          </a:xfrm>
          <a:prstGeom prst="rect">
            <a:avLst/>
          </a:prstGeom>
          <a:ln>
            <a:noFill/>
          </a:ln>
          <a:effectLst>
            <a:outerShdw blurRad="292100" dist="139700" dir="2640000" sx="95000" sy="95000" algn="tl" rotWithShape="0">
              <a:srgbClr val="333333">
                <a:alpha val="76000"/>
              </a:srgbClr>
            </a:outerShdw>
          </a:effectLst>
        </p:spPr>
      </p:pic>
      <p:graphicFrame>
        <p:nvGraphicFramePr>
          <p:cNvPr id="5" name="Table 4">
            <a:extLst>
              <a:ext uri="{FF2B5EF4-FFF2-40B4-BE49-F238E27FC236}">
                <a16:creationId xmlns:a16="http://schemas.microsoft.com/office/drawing/2014/main" id="{A7925B03-F31B-D7D9-75DE-83D4F8DC85C1}"/>
              </a:ext>
            </a:extLst>
          </p:cNvPr>
          <p:cNvGraphicFramePr>
            <a:graphicFrameLocks noGrp="1"/>
          </p:cNvGraphicFramePr>
          <p:nvPr>
            <p:extLst>
              <p:ext uri="{D42A27DB-BD31-4B8C-83A1-F6EECF244321}">
                <p14:modId xmlns:p14="http://schemas.microsoft.com/office/powerpoint/2010/main" val="1443692024"/>
              </p:ext>
            </p:extLst>
          </p:nvPr>
        </p:nvGraphicFramePr>
        <p:xfrm>
          <a:off x="6694558" y="1584198"/>
          <a:ext cx="4822805" cy="1632978"/>
        </p:xfrm>
        <a:graphic>
          <a:graphicData uri="http://schemas.openxmlformats.org/drawingml/2006/table">
            <a:tbl>
              <a:tblPr firstRow="1" firstCol="1" bandRow="1">
                <a:tableStyleId>{5C22544A-7EE6-4342-B048-85BDC9FD1C3A}</a:tableStyleId>
              </a:tblPr>
              <a:tblGrid>
                <a:gridCol w="957430">
                  <a:extLst>
                    <a:ext uri="{9D8B030D-6E8A-4147-A177-3AD203B41FA5}">
                      <a16:colId xmlns:a16="http://schemas.microsoft.com/office/drawing/2014/main" val="3598892225"/>
                    </a:ext>
                  </a:extLst>
                </a:gridCol>
                <a:gridCol w="836827">
                  <a:extLst>
                    <a:ext uri="{9D8B030D-6E8A-4147-A177-3AD203B41FA5}">
                      <a16:colId xmlns:a16="http://schemas.microsoft.com/office/drawing/2014/main" val="289995950"/>
                    </a:ext>
                  </a:extLst>
                </a:gridCol>
                <a:gridCol w="961563">
                  <a:extLst>
                    <a:ext uri="{9D8B030D-6E8A-4147-A177-3AD203B41FA5}">
                      <a16:colId xmlns:a16="http://schemas.microsoft.com/office/drawing/2014/main" val="266859653"/>
                    </a:ext>
                  </a:extLst>
                </a:gridCol>
                <a:gridCol w="887549">
                  <a:extLst>
                    <a:ext uri="{9D8B030D-6E8A-4147-A177-3AD203B41FA5}">
                      <a16:colId xmlns:a16="http://schemas.microsoft.com/office/drawing/2014/main" val="3258070282"/>
                    </a:ext>
                  </a:extLst>
                </a:gridCol>
                <a:gridCol w="1179436">
                  <a:extLst>
                    <a:ext uri="{9D8B030D-6E8A-4147-A177-3AD203B41FA5}">
                      <a16:colId xmlns:a16="http://schemas.microsoft.com/office/drawing/2014/main" val="2680351621"/>
                    </a:ext>
                  </a:extLst>
                </a:gridCol>
              </a:tblGrid>
              <a:tr h="467238">
                <a:tc>
                  <a:txBody>
                    <a:bodyPr/>
                    <a:lstStyle/>
                    <a:p>
                      <a:pPr algn="ctr">
                        <a:lnSpc>
                          <a:spcPct val="115000"/>
                        </a:lnSpc>
                        <a:spcAft>
                          <a:spcPts val="800"/>
                        </a:spcAft>
                        <a:buNone/>
                      </a:pPr>
                      <a:r>
                        <a:rPr lang="en-IN" sz="1200" kern="100" dirty="0">
                          <a:effectLst/>
                        </a:rPr>
                        <a:t>Num Workers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Cores per Worker</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E2E Time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E2E Throughput</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Throughput Speedup</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3145591"/>
                  </a:ext>
                </a:extLst>
              </a:tr>
              <a:tr h="233148">
                <a:tc>
                  <a:txBody>
                    <a:bodyPr/>
                    <a:lstStyle/>
                    <a:p>
                      <a:pPr algn="ctr">
                        <a:lnSpc>
                          <a:spcPct val="115000"/>
                        </a:lnSpc>
                        <a:spcAft>
                          <a:spcPts val="800"/>
                        </a:spcAft>
                        <a:buNone/>
                      </a:pPr>
                      <a:r>
                        <a:rPr lang="en-IN" sz="1200" kern="100" dirty="0">
                          <a:effectLst/>
                        </a:rPr>
                        <a:t>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270.34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2933.36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1.00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5426927"/>
                  </a:ext>
                </a:extLst>
              </a:tr>
              <a:tr h="233148">
                <a:tc>
                  <a:txBody>
                    <a:bodyPr/>
                    <a:lstStyle/>
                    <a:p>
                      <a:pPr algn="ctr">
                        <a:lnSpc>
                          <a:spcPct val="115000"/>
                        </a:lnSpc>
                        <a:spcAft>
                          <a:spcPts val="800"/>
                        </a:spcAft>
                        <a:buNone/>
                      </a:pPr>
                      <a:r>
                        <a:rPr lang="en-IN" sz="1200" kern="100" dirty="0">
                          <a:effectLst/>
                        </a:rPr>
                        <a:t>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183.86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4313.01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1.47</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7220818"/>
                  </a:ext>
                </a:extLst>
              </a:tr>
              <a:tr h="233148">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163.00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4865.14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1.66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5311400"/>
                  </a:ext>
                </a:extLst>
              </a:tr>
              <a:tr h="233148">
                <a:tc>
                  <a:txBody>
                    <a:bodyPr/>
                    <a:lstStyle/>
                    <a:p>
                      <a:pPr algn="ctr">
                        <a:lnSpc>
                          <a:spcPct val="115000"/>
                        </a:lnSpc>
                        <a:spcAft>
                          <a:spcPts val="800"/>
                        </a:spcAft>
                        <a:buNone/>
                      </a:pPr>
                      <a:r>
                        <a:rPr lang="en-IN" sz="1200" kern="100" dirty="0">
                          <a:effectLst/>
                        </a:rPr>
                        <a:t>8</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146.84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5400.47</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1.84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6949094"/>
                  </a:ext>
                </a:extLst>
              </a:tr>
              <a:tr h="233148">
                <a:tc>
                  <a:txBody>
                    <a:bodyPr/>
                    <a:lstStyle/>
                    <a:p>
                      <a:pPr algn="ctr">
                        <a:lnSpc>
                          <a:spcPct val="115000"/>
                        </a:lnSpc>
                        <a:spcAft>
                          <a:spcPts val="800"/>
                        </a:spcAft>
                        <a:buNone/>
                      </a:pPr>
                      <a:r>
                        <a:rPr lang="en-IN" sz="1200" kern="100" dirty="0">
                          <a:effectLst/>
                        </a:rPr>
                        <a:t>16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134.40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5900.44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2.01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4588592"/>
                  </a:ext>
                </a:extLst>
              </a:tr>
            </a:tbl>
          </a:graphicData>
        </a:graphic>
      </p:graphicFrame>
      <p:sp>
        <p:nvSpPr>
          <p:cNvPr id="7" name="TextBox 6">
            <a:extLst>
              <a:ext uri="{FF2B5EF4-FFF2-40B4-BE49-F238E27FC236}">
                <a16:creationId xmlns:a16="http://schemas.microsoft.com/office/drawing/2014/main" id="{F9A69EEA-A744-61A5-FBB8-6A1ABB7DCB02}"/>
              </a:ext>
            </a:extLst>
          </p:cNvPr>
          <p:cNvSpPr txBox="1"/>
          <p:nvPr/>
        </p:nvSpPr>
        <p:spPr>
          <a:xfrm>
            <a:off x="363984" y="898676"/>
            <a:ext cx="6270770" cy="830997"/>
          </a:xfrm>
          <a:prstGeom prst="rect">
            <a:avLst/>
          </a:prstGeom>
          <a:noFill/>
        </p:spPr>
        <p:txBody>
          <a:bodyPr wrap="square">
            <a:spAutoFit/>
          </a:bodyPr>
          <a:lstStyle/>
          <a:p>
            <a:r>
              <a:rPr lang="en-US" sz="2400" dirty="0">
                <a:solidFill>
                  <a:schemeClr val="tx1"/>
                </a:solidFill>
              </a:rPr>
              <a:t>Diminishing returns with more resources for the same problem size.</a:t>
            </a:r>
            <a:endParaRPr lang="en-IN" sz="2400" dirty="0"/>
          </a:p>
        </p:txBody>
      </p:sp>
      <p:sp>
        <p:nvSpPr>
          <p:cNvPr id="9" name="Footer Placeholder 2">
            <a:extLst>
              <a:ext uri="{FF2B5EF4-FFF2-40B4-BE49-F238E27FC236}">
                <a16:creationId xmlns:a16="http://schemas.microsoft.com/office/drawing/2014/main" id="{D961D485-1C07-4AE2-5847-4F4226137EC3}"/>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262481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DFD7C-72DB-078D-F2F4-C4FB62204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1956E-7E67-751F-F9FE-E9DEDE652CC4}"/>
              </a:ext>
            </a:extLst>
          </p:cNvPr>
          <p:cNvSpPr>
            <a:spLocks noGrp="1"/>
          </p:cNvSpPr>
          <p:nvPr>
            <p:ph type="title"/>
          </p:nvPr>
        </p:nvSpPr>
        <p:spPr/>
        <p:txBody>
          <a:bodyPr>
            <a:normAutofit/>
          </a:bodyPr>
          <a:lstStyle/>
          <a:p>
            <a:pPr>
              <a:lnSpc>
                <a:spcPct val="100000"/>
              </a:lnSpc>
            </a:pPr>
            <a:r>
              <a:rPr lang="en-US" dirty="0"/>
              <a:t>Analysis 1 Deep Dive: Where Did the Time Go?</a:t>
            </a:r>
            <a:endParaRPr lang="en-US" dirty="0">
              <a:solidFill>
                <a:schemeClr val="tx1"/>
              </a:solidFill>
            </a:endParaRPr>
          </a:p>
        </p:txBody>
      </p:sp>
      <p:sp>
        <p:nvSpPr>
          <p:cNvPr id="4" name="Slide Number Placeholder 3">
            <a:extLst>
              <a:ext uri="{FF2B5EF4-FFF2-40B4-BE49-F238E27FC236}">
                <a16:creationId xmlns:a16="http://schemas.microsoft.com/office/drawing/2014/main" id="{0D1CAB60-835E-2775-0F89-52C39E1B843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390BD01C-DAF6-6DD0-4067-5BA11FD6F3E3}"/>
              </a:ext>
            </a:extLst>
          </p:cNvPr>
          <p:cNvSpPr txBox="1"/>
          <p:nvPr/>
        </p:nvSpPr>
        <p:spPr>
          <a:xfrm>
            <a:off x="363984" y="1843950"/>
            <a:ext cx="6313653" cy="3170099"/>
          </a:xfrm>
          <a:prstGeom prst="rect">
            <a:avLst/>
          </a:prstGeom>
          <a:noFill/>
        </p:spPr>
        <p:txBody>
          <a:bodyPr wrap="square" rtlCol="0">
            <a:spAutoFit/>
          </a:bodyPr>
          <a:lstStyle/>
          <a:p>
            <a:pPr lvl="0">
              <a:defRPr/>
            </a:pPr>
            <a:r>
              <a:rPr lang="en-US" sz="2000" b="1" dirty="0"/>
              <a:t>Metrics:</a:t>
            </a:r>
            <a:r>
              <a:rPr lang="en-US" sz="2000" dirty="0"/>
              <a:t> We tracked Executor </a:t>
            </a:r>
            <a:r>
              <a:rPr lang="en-US" sz="2000" b="1" dirty="0"/>
              <a:t>Run Time</a:t>
            </a:r>
            <a:r>
              <a:rPr lang="en-US" sz="2000" dirty="0"/>
              <a:t> (total time) vs. </a:t>
            </a:r>
            <a:r>
              <a:rPr lang="en-US" sz="2000" b="1" dirty="0"/>
              <a:t>Executor</a:t>
            </a:r>
            <a:r>
              <a:rPr lang="en-US" sz="2000" dirty="0"/>
              <a:t> </a:t>
            </a:r>
            <a:r>
              <a:rPr lang="en-US" sz="2000" b="1" dirty="0"/>
              <a:t>CPU Time</a:t>
            </a:r>
            <a:r>
              <a:rPr lang="en-US" sz="2000" dirty="0"/>
              <a:t> (usable work) to calculate </a:t>
            </a:r>
            <a:r>
              <a:rPr lang="en-US" sz="2000" b="1" dirty="0"/>
              <a:t>CPU Efficiency</a:t>
            </a:r>
            <a:r>
              <a:rPr lang="en-US" sz="2000" dirty="0"/>
              <a:t>.</a:t>
            </a:r>
          </a:p>
          <a:p>
            <a:pPr lvl="0">
              <a:defRPr/>
            </a:pPr>
            <a:endParaRPr lang="en-US" sz="2000" dirty="0"/>
          </a:p>
          <a:p>
            <a:pPr lvl="0">
              <a:defRPr/>
            </a:pPr>
            <a:r>
              <a:rPr lang="en-US" sz="2000" b="1" dirty="0"/>
              <a:t>Result:</a:t>
            </a:r>
            <a:r>
              <a:rPr lang="en-US" sz="2000" dirty="0"/>
              <a:t> At high scale (64 cores), </a:t>
            </a:r>
            <a:r>
              <a:rPr lang="en-US" sz="2000" b="1" dirty="0"/>
              <a:t>Run Time </a:t>
            </a:r>
            <a:r>
              <a:rPr lang="en-US" sz="2000" b="1" i="1" dirty="0"/>
              <a:t>increased by 36%</a:t>
            </a:r>
            <a:r>
              <a:rPr lang="en-US" sz="2000" dirty="0"/>
              <a:t> (Anti-Scaling Effect).</a:t>
            </a:r>
          </a:p>
          <a:p>
            <a:pPr lvl="0">
              <a:defRPr/>
            </a:pPr>
            <a:endParaRPr lang="en-US" sz="2000" dirty="0"/>
          </a:p>
          <a:p>
            <a:pPr lvl="0">
              <a:defRPr/>
            </a:pPr>
            <a:r>
              <a:rPr lang="en-US" sz="2000" b="1" dirty="0"/>
              <a:t>Bottleneck:</a:t>
            </a:r>
            <a:r>
              <a:rPr lang="en-US" sz="2000" dirty="0"/>
              <a:t> </a:t>
            </a:r>
            <a:r>
              <a:rPr lang="en-US" sz="2000" b="1" dirty="0"/>
              <a:t>CPU Efficiency remained below 39%</a:t>
            </a:r>
            <a:r>
              <a:rPr lang="en-US" sz="2000" dirty="0"/>
              <a:t>. Cores were idle, proving the workload is bottlenecked by </a:t>
            </a:r>
            <a:r>
              <a:rPr lang="en-US" sz="2000" b="1" dirty="0"/>
              <a:t>shuffling and I/O overhead</a:t>
            </a:r>
            <a:r>
              <a:rPr lang="en-US" sz="2000" dirty="0"/>
              <a:t>, not computation.</a:t>
            </a:r>
          </a:p>
        </p:txBody>
      </p:sp>
      <p:pic>
        <p:nvPicPr>
          <p:cNvPr id="31" name="Picture 30">
            <a:extLst>
              <a:ext uri="{FF2B5EF4-FFF2-40B4-BE49-F238E27FC236}">
                <a16:creationId xmlns:a16="http://schemas.microsoft.com/office/drawing/2014/main" id="{39AE3C64-B928-C58B-4EAB-D9F3C456B6AA}"/>
              </a:ext>
            </a:extLst>
          </p:cNvPr>
          <p:cNvPicPr>
            <a:picLocks noChangeAspect="1"/>
          </p:cNvPicPr>
          <p:nvPr/>
        </p:nvPicPr>
        <p:blipFill>
          <a:blip r:embed="rId3">
            <a:extLst>
              <a:ext uri="{28A0092B-C50C-407E-A947-70E740481C1C}">
                <a14:useLocalDpi xmlns:a14="http://schemas.microsoft.com/office/drawing/2010/main" val="0"/>
              </a:ext>
            </a:extLst>
          </a:blip>
          <a:srcRect t="321" b="339"/>
          <a:stretch>
            <a:fillRect/>
          </a:stretch>
        </p:blipFill>
        <p:spPr>
          <a:xfrm>
            <a:off x="7407953" y="736847"/>
            <a:ext cx="3482652" cy="2527120"/>
          </a:xfrm>
          <a:prstGeom prst="rect">
            <a:avLst/>
          </a:prstGeom>
          <a:ln>
            <a:noFill/>
          </a:ln>
          <a:effectLst>
            <a:outerShdw blurRad="292100" dist="139700" dir="2640000" sx="95000" sy="95000" algn="tl" rotWithShape="0">
              <a:srgbClr val="333333">
                <a:alpha val="76000"/>
              </a:srgbClr>
            </a:outerShdw>
          </a:effectLst>
        </p:spPr>
      </p:pic>
      <p:pic>
        <p:nvPicPr>
          <p:cNvPr id="32" name="Picture 31">
            <a:extLst>
              <a:ext uri="{FF2B5EF4-FFF2-40B4-BE49-F238E27FC236}">
                <a16:creationId xmlns:a16="http://schemas.microsoft.com/office/drawing/2014/main" id="{0C163D88-05A2-FC46-DF3F-7406B518FC53}"/>
              </a:ext>
            </a:extLst>
          </p:cNvPr>
          <p:cNvPicPr>
            <a:picLocks noChangeAspect="1"/>
          </p:cNvPicPr>
          <p:nvPr/>
        </p:nvPicPr>
        <p:blipFill>
          <a:blip r:embed="rId4">
            <a:extLst>
              <a:ext uri="{28A0092B-C50C-407E-A947-70E740481C1C}">
                <a14:useLocalDpi xmlns:a14="http://schemas.microsoft.com/office/drawing/2010/main" val="0"/>
              </a:ext>
            </a:extLst>
          </a:blip>
          <a:srcRect t="586" b="822"/>
          <a:stretch>
            <a:fillRect/>
          </a:stretch>
        </p:blipFill>
        <p:spPr>
          <a:xfrm>
            <a:off x="7407953" y="3485625"/>
            <a:ext cx="3482652" cy="2588004"/>
          </a:xfrm>
          <a:prstGeom prst="rect">
            <a:avLst/>
          </a:prstGeom>
          <a:ln>
            <a:noFill/>
          </a:ln>
          <a:effectLst>
            <a:outerShdw blurRad="292100" dist="139700" dir="2640000" sx="95000" sy="95000" algn="tl" rotWithShape="0">
              <a:srgbClr val="333333">
                <a:alpha val="76000"/>
              </a:srgbClr>
            </a:outerShdw>
          </a:effectLst>
        </p:spPr>
      </p:pic>
      <p:sp>
        <p:nvSpPr>
          <p:cNvPr id="6" name="TextBox 5">
            <a:extLst>
              <a:ext uri="{FF2B5EF4-FFF2-40B4-BE49-F238E27FC236}">
                <a16:creationId xmlns:a16="http://schemas.microsoft.com/office/drawing/2014/main" id="{E887354C-A409-7EB8-6EB7-E2CBF19A2F68}"/>
              </a:ext>
            </a:extLst>
          </p:cNvPr>
          <p:cNvSpPr txBox="1"/>
          <p:nvPr/>
        </p:nvSpPr>
        <p:spPr>
          <a:xfrm>
            <a:off x="363984" y="899371"/>
            <a:ext cx="6270770" cy="461665"/>
          </a:xfrm>
          <a:prstGeom prst="rect">
            <a:avLst/>
          </a:prstGeom>
          <a:noFill/>
        </p:spPr>
        <p:txBody>
          <a:bodyPr wrap="square">
            <a:spAutoFit/>
          </a:bodyPr>
          <a:lstStyle/>
          <a:p>
            <a:r>
              <a:rPr lang="en-US" sz="2400" dirty="0">
                <a:solidFill>
                  <a:schemeClr val="tx1"/>
                </a:solidFill>
              </a:rPr>
              <a:t>Proving that overhead</a:t>
            </a:r>
            <a:r>
              <a:rPr lang="en-US" sz="2400" dirty="0"/>
              <a:t> </a:t>
            </a:r>
            <a:r>
              <a:rPr lang="en-US" sz="2400" dirty="0">
                <a:solidFill>
                  <a:schemeClr val="tx1"/>
                </a:solidFill>
              </a:rPr>
              <a:t>became the bottleneck.</a:t>
            </a:r>
            <a:endParaRPr lang="en-IN" sz="2400" dirty="0"/>
          </a:p>
        </p:txBody>
      </p:sp>
      <p:sp>
        <p:nvSpPr>
          <p:cNvPr id="7" name="Footer Placeholder 2">
            <a:extLst>
              <a:ext uri="{FF2B5EF4-FFF2-40B4-BE49-F238E27FC236}">
                <a16:creationId xmlns:a16="http://schemas.microsoft.com/office/drawing/2014/main" id="{451F4BBE-A39E-559E-55F7-61855E344AF0}"/>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1229845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9E59F-6868-A1B0-ECD7-BAC859DBC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E23D4-37C1-E3C8-90AA-406C2AEC1BC4}"/>
              </a:ext>
            </a:extLst>
          </p:cNvPr>
          <p:cNvSpPr>
            <a:spLocks noGrp="1"/>
          </p:cNvSpPr>
          <p:nvPr>
            <p:ph type="title"/>
          </p:nvPr>
        </p:nvSpPr>
        <p:spPr/>
        <p:txBody>
          <a:bodyPr>
            <a:normAutofit/>
          </a:bodyPr>
          <a:lstStyle/>
          <a:p>
            <a:pPr>
              <a:lnSpc>
                <a:spcPct val="100000"/>
              </a:lnSpc>
            </a:pPr>
            <a:r>
              <a:rPr lang="en-US" dirty="0"/>
              <a:t>Analysis 2: Weak Scaling (Gustafson's Law)</a:t>
            </a:r>
            <a:endParaRPr lang="en-US" dirty="0">
              <a:solidFill>
                <a:schemeClr val="tx1"/>
              </a:solidFill>
            </a:endParaRPr>
          </a:p>
        </p:txBody>
      </p:sp>
      <p:sp>
        <p:nvSpPr>
          <p:cNvPr id="4" name="Slide Number Placeholder 3">
            <a:extLst>
              <a:ext uri="{FF2B5EF4-FFF2-40B4-BE49-F238E27FC236}">
                <a16:creationId xmlns:a16="http://schemas.microsoft.com/office/drawing/2014/main" id="{28E937DD-2EF0-DAF3-2B3A-C4C044DCC13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94E0629E-2FEB-76A3-5513-26CC8B495420}"/>
              </a:ext>
            </a:extLst>
          </p:cNvPr>
          <p:cNvSpPr txBox="1"/>
          <p:nvPr/>
        </p:nvSpPr>
        <p:spPr>
          <a:xfrm>
            <a:off x="363984" y="1854558"/>
            <a:ext cx="6144140" cy="3785652"/>
          </a:xfrm>
          <a:prstGeom prst="rect">
            <a:avLst/>
          </a:prstGeom>
          <a:noFill/>
        </p:spPr>
        <p:txBody>
          <a:bodyPr wrap="square" rtlCol="0">
            <a:spAutoFit/>
          </a:bodyPr>
          <a:lstStyle/>
          <a:p>
            <a:pPr lvl="0">
              <a:defRPr/>
            </a:pPr>
            <a:r>
              <a:rPr lang="en-US" sz="2000" b="1" dirty="0"/>
              <a:t>Test: </a:t>
            </a:r>
            <a:r>
              <a:rPr lang="en-US" sz="2000" dirty="0"/>
              <a:t>Weak Scaling (Data size proportional to Worker count with 4 cores per worker).</a:t>
            </a:r>
          </a:p>
          <a:p>
            <a:pPr lvl="0">
              <a:defRPr/>
            </a:pPr>
            <a:endParaRPr lang="en-US" sz="2000" dirty="0"/>
          </a:p>
          <a:p>
            <a:pPr lvl="0">
              <a:defRPr/>
            </a:pPr>
            <a:r>
              <a:rPr lang="en-US" sz="2000" b="1" dirty="0"/>
              <a:t>Success:</a:t>
            </a:r>
            <a:r>
              <a:rPr lang="en-US" sz="2000" dirty="0"/>
              <a:t> Achieved </a:t>
            </a:r>
            <a:r>
              <a:rPr lang="en-US" sz="2000" b="1" dirty="0"/>
              <a:t>4.45x throughput growth</a:t>
            </a:r>
            <a:r>
              <a:rPr lang="en-US" sz="2000" dirty="0"/>
              <a:t> (from 1370.5 to 6098.4 records/sec).</a:t>
            </a:r>
          </a:p>
          <a:p>
            <a:pPr lvl="0">
              <a:defRPr/>
            </a:pPr>
            <a:endParaRPr lang="en-US" sz="2000" dirty="0"/>
          </a:p>
          <a:p>
            <a:pPr>
              <a:defRPr/>
            </a:pPr>
            <a:r>
              <a:rPr lang="en-US" altLang="en-US" sz="2000" b="1" dirty="0">
                <a:latin typeface="Google Sans Text"/>
              </a:rPr>
              <a:t>Bottleneck:</a:t>
            </a:r>
            <a:r>
              <a:rPr lang="en-US" altLang="en-US" sz="2000" dirty="0"/>
              <a:t> </a:t>
            </a:r>
            <a:r>
              <a:rPr lang="en-US" altLang="en-US" sz="2000" b="1" dirty="0">
                <a:latin typeface="Google Sans Text"/>
              </a:rPr>
              <a:t>End-to-End (E2E) Time significantly increased</a:t>
            </a:r>
            <a:r>
              <a:rPr lang="en-US" altLang="en-US" sz="2000" dirty="0"/>
              <a:t> after 16 cores (e.g., 56.45s → 130.04s).</a:t>
            </a:r>
            <a:endParaRPr lang="en-US" altLang="en-US" sz="2000" dirty="0">
              <a:latin typeface="Arial" panose="020B0604020202020204" pitchFamily="34" charset="0"/>
            </a:endParaRPr>
          </a:p>
          <a:p>
            <a:pPr>
              <a:defRPr/>
            </a:pPr>
            <a:endParaRPr lang="en-US" sz="2000" dirty="0"/>
          </a:p>
          <a:p>
            <a:pPr lvl="0">
              <a:defRPr/>
            </a:pPr>
            <a:r>
              <a:rPr lang="en-US" sz="2000" b="1" dirty="0"/>
              <a:t>Conclusion:</a:t>
            </a:r>
            <a:r>
              <a:rPr lang="en-US" sz="2000" dirty="0"/>
              <a:t> Throughput continues to increase sub-linearly even at 16 workers. Due to overheads, linear scaling could not be achieved.</a:t>
            </a:r>
          </a:p>
        </p:txBody>
      </p:sp>
      <p:pic>
        <p:nvPicPr>
          <p:cNvPr id="6" name="Picture 5">
            <a:extLst>
              <a:ext uri="{FF2B5EF4-FFF2-40B4-BE49-F238E27FC236}">
                <a16:creationId xmlns:a16="http://schemas.microsoft.com/office/drawing/2014/main" id="{5B765E47-A6AC-8F94-7918-3E2009F776DF}"/>
              </a:ext>
            </a:extLst>
          </p:cNvPr>
          <p:cNvPicPr>
            <a:picLocks noChangeAspect="1"/>
          </p:cNvPicPr>
          <p:nvPr/>
        </p:nvPicPr>
        <p:blipFill>
          <a:blip r:embed="rId3">
            <a:extLst>
              <a:ext uri="{28A0092B-C50C-407E-A947-70E740481C1C}">
                <a14:useLocalDpi xmlns:a14="http://schemas.microsoft.com/office/drawing/2010/main" val="0"/>
              </a:ext>
            </a:extLst>
          </a:blip>
          <a:srcRect t="-747" b="242"/>
          <a:stretch>
            <a:fillRect/>
          </a:stretch>
        </p:blipFill>
        <p:spPr>
          <a:xfrm>
            <a:off x="7658643" y="3573711"/>
            <a:ext cx="3392987" cy="2499919"/>
          </a:xfrm>
          <a:prstGeom prst="rect">
            <a:avLst/>
          </a:prstGeom>
          <a:ln>
            <a:noFill/>
          </a:ln>
          <a:effectLst>
            <a:outerShdw blurRad="292100" dist="139700" dir="2640000" sx="95000" sy="95000" algn="tl" rotWithShape="0">
              <a:srgbClr val="333333">
                <a:alpha val="76000"/>
              </a:srgbClr>
            </a:outerShdw>
          </a:effectLst>
        </p:spPr>
      </p:pic>
      <p:sp>
        <p:nvSpPr>
          <p:cNvPr id="9" name="TextBox 8">
            <a:extLst>
              <a:ext uri="{FF2B5EF4-FFF2-40B4-BE49-F238E27FC236}">
                <a16:creationId xmlns:a16="http://schemas.microsoft.com/office/drawing/2014/main" id="{64CD2088-3592-6C1F-C287-E75FA51472B5}"/>
              </a:ext>
            </a:extLst>
          </p:cNvPr>
          <p:cNvSpPr txBox="1"/>
          <p:nvPr/>
        </p:nvSpPr>
        <p:spPr>
          <a:xfrm>
            <a:off x="363984" y="812937"/>
            <a:ext cx="6272010" cy="830997"/>
          </a:xfrm>
          <a:prstGeom prst="rect">
            <a:avLst/>
          </a:prstGeom>
          <a:noFill/>
        </p:spPr>
        <p:txBody>
          <a:bodyPr wrap="square">
            <a:spAutoFit/>
          </a:bodyPr>
          <a:lstStyle/>
          <a:p>
            <a:r>
              <a:rPr lang="en-US" sz="2400" dirty="0"/>
              <a:t>Increasing efficiency by scaling the resources with problem size</a:t>
            </a:r>
            <a:endParaRPr lang="en-IN" sz="2400" dirty="0"/>
          </a:p>
        </p:txBody>
      </p:sp>
      <p:graphicFrame>
        <p:nvGraphicFramePr>
          <p:cNvPr id="13" name="Table 12">
            <a:extLst>
              <a:ext uri="{FF2B5EF4-FFF2-40B4-BE49-F238E27FC236}">
                <a16:creationId xmlns:a16="http://schemas.microsoft.com/office/drawing/2014/main" id="{3BCB4BBD-0E01-E576-E4AD-7ECC5DBA1C0A}"/>
              </a:ext>
            </a:extLst>
          </p:cNvPr>
          <p:cNvGraphicFramePr>
            <a:graphicFrameLocks noGrp="1"/>
          </p:cNvGraphicFramePr>
          <p:nvPr>
            <p:extLst>
              <p:ext uri="{D42A27DB-BD31-4B8C-83A1-F6EECF244321}">
                <p14:modId xmlns:p14="http://schemas.microsoft.com/office/powerpoint/2010/main" val="4262913089"/>
              </p:ext>
            </p:extLst>
          </p:nvPr>
        </p:nvGraphicFramePr>
        <p:xfrm>
          <a:off x="6528092" y="1305381"/>
          <a:ext cx="5299924" cy="1699795"/>
        </p:xfrm>
        <a:graphic>
          <a:graphicData uri="http://schemas.openxmlformats.org/drawingml/2006/table">
            <a:tbl>
              <a:tblPr firstRow="1" firstCol="1" bandRow="1">
                <a:tableStyleId>{5C22544A-7EE6-4342-B048-85BDC9FD1C3A}</a:tableStyleId>
              </a:tblPr>
              <a:tblGrid>
                <a:gridCol w="892935">
                  <a:extLst>
                    <a:ext uri="{9D8B030D-6E8A-4147-A177-3AD203B41FA5}">
                      <a16:colId xmlns:a16="http://schemas.microsoft.com/office/drawing/2014/main" val="1817740211"/>
                    </a:ext>
                  </a:extLst>
                </a:gridCol>
                <a:gridCol w="1141927">
                  <a:extLst>
                    <a:ext uri="{9D8B030D-6E8A-4147-A177-3AD203B41FA5}">
                      <a16:colId xmlns:a16="http://schemas.microsoft.com/office/drawing/2014/main" val="2805699596"/>
                    </a:ext>
                  </a:extLst>
                </a:gridCol>
                <a:gridCol w="862884">
                  <a:extLst>
                    <a:ext uri="{9D8B030D-6E8A-4147-A177-3AD203B41FA5}">
                      <a16:colId xmlns:a16="http://schemas.microsoft.com/office/drawing/2014/main" val="2553295834"/>
                    </a:ext>
                  </a:extLst>
                </a:gridCol>
                <a:gridCol w="957330">
                  <a:extLst>
                    <a:ext uri="{9D8B030D-6E8A-4147-A177-3AD203B41FA5}">
                      <a16:colId xmlns:a16="http://schemas.microsoft.com/office/drawing/2014/main" val="3665426909"/>
                    </a:ext>
                  </a:extLst>
                </a:gridCol>
                <a:gridCol w="1444848">
                  <a:extLst>
                    <a:ext uri="{9D8B030D-6E8A-4147-A177-3AD203B41FA5}">
                      <a16:colId xmlns:a16="http://schemas.microsoft.com/office/drawing/2014/main" val="3304212600"/>
                    </a:ext>
                  </a:extLst>
                </a:gridCol>
              </a:tblGrid>
              <a:tr h="495025">
                <a:tc>
                  <a:txBody>
                    <a:bodyPr/>
                    <a:lstStyle/>
                    <a:p>
                      <a:pPr algn="ctr">
                        <a:lnSpc>
                          <a:spcPct val="115000"/>
                        </a:lnSpc>
                        <a:spcAft>
                          <a:spcPts val="800"/>
                        </a:spcAft>
                        <a:buNone/>
                      </a:pPr>
                      <a:r>
                        <a:rPr lang="en-IN" sz="1200" kern="100" dirty="0">
                          <a:effectLst/>
                        </a:rPr>
                        <a:t>Num Workers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Dataset scale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E2E Time</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E2E Throughput</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Throughput Speedup</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89962027"/>
                  </a:ext>
                </a:extLst>
              </a:tr>
              <a:tr h="240954">
                <a:tc>
                  <a:txBody>
                    <a:bodyPr/>
                    <a:lstStyle/>
                    <a:p>
                      <a:pPr algn="ctr">
                        <a:lnSpc>
                          <a:spcPct val="115000"/>
                        </a:lnSpc>
                        <a:spcAft>
                          <a:spcPts val="800"/>
                        </a:spcAft>
                        <a:buNone/>
                      </a:pPr>
                      <a:r>
                        <a:rPr lang="en-IN" sz="1200" kern="100" dirty="0">
                          <a:effectLst/>
                        </a:rPr>
                        <a:t>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0.0625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36.16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1370.52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1.00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6473194"/>
                  </a:ext>
                </a:extLst>
              </a:tr>
              <a:tr h="240954">
                <a:tc>
                  <a:txBody>
                    <a:bodyPr/>
                    <a:lstStyle/>
                    <a:p>
                      <a:pPr algn="ctr">
                        <a:lnSpc>
                          <a:spcPct val="115000"/>
                        </a:lnSpc>
                        <a:spcAft>
                          <a:spcPts val="800"/>
                        </a:spcAft>
                        <a:buNone/>
                      </a:pPr>
                      <a:r>
                        <a:rPr lang="en-IN" sz="1200" kern="100" dirty="0">
                          <a:effectLst/>
                        </a:rPr>
                        <a:t>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0.125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49.99</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1983.10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1.45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2333704"/>
                  </a:ext>
                </a:extLst>
              </a:tr>
              <a:tr h="240954">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0.25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56.45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3512.11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2.56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944822"/>
                  </a:ext>
                </a:extLst>
              </a:tr>
              <a:tr h="240954">
                <a:tc>
                  <a:txBody>
                    <a:bodyPr/>
                    <a:lstStyle/>
                    <a:p>
                      <a:pPr algn="ctr">
                        <a:lnSpc>
                          <a:spcPct val="115000"/>
                        </a:lnSpc>
                        <a:spcAft>
                          <a:spcPts val="800"/>
                        </a:spcAft>
                        <a:buNone/>
                      </a:pPr>
                      <a:r>
                        <a:rPr lang="en-IN" sz="1200" kern="100" dirty="0">
                          <a:effectLst/>
                        </a:rPr>
                        <a:t>8</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0.5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83.40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4754.02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3.47</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4596207"/>
                  </a:ext>
                </a:extLst>
              </a:tr>
              <a:tr h="240954">
                <a:tc>
                  <a:txBody>
                    <a:bodyPr/>
                    <a:lstStyle/>
                    <a:p>
                      <a:pPr algn="ctr">
                        <a:lnSpc>
                          <a:spcPct val="115000"/>
                        </a:lnSpc>
                        <a:spcAft>
                          <a:spcPts val="800"/>
                        </a:spcAft>
                        <a:buNone/>
                      </a:pPr>
                      <a:r>
                        <a:rPr lang="en-IN" sz="1200" kern="100" dirty="0">
                          <a:effectLst/>
                        </a:rPr>
                        <a:t>16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130.04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6098.38</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4.45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52213021"/>
                  </a:ext>
                </a:extLst>
              </a:tr>
            </a:tbl>
          </a:graphicData>
        </a:graphic>
      </p:graphicFrame>
      <p:pic>
        <p:nvPicPr>
          <p:cNvPr id="15" name="Picture 14">
            <a:extLst>
              <a:ext uri="{FF2B5EF4-FFF2-40B4-BE49-F238E27FC236}">
                <a16:creationId xmlns:a16="http://schemas.microsoft.com/office/drawing/2014/main" id="{7066E3DF-0651-7DB8-C7BA-914D6E2FF763}"/>
              </a:ext>
            </a:extLst>
          </p:cNvPr>
          <p:cNvPicPr>
            <a:picLocks noChangeAspect="1"/>
          </p:cNvPicPr>
          <p:nvPr/>
        </p:nvPicPr>
        <p:blipFill>
          <a:blip r:embed="rId4"/>
          <a:stretch>
            <a:fillRect/>
          </a:stretch>
        </p:blipFill>
        <p:spPr>
          <a:xfrm>
            <a:off x="3686175" y="6453434"/>
            <a:ext cx="4819650" cy="371475"/>
          </a:xfrm>
          <a:prstGeom prst="rect">
            <a:avLst/>
          </a:prstGeom>
        </p:spPr>
      </p:pic>
    </p:spTree>
    <p:extLst>
      <p:ext uri="{BB962C8B-B14F-4D97-AF65-F5344CB8AC3E}">
        <p14:creationId xmlns:p14="http://schemas.microsoft.com/office/powerpoint/2010/main" val="3762403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A348C-03A2-C8B8-99DB-1D878F2F6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99F14-EB64-7E6B-F4B3-5345E4764BE0}"/>
              </a:ext>
            </a:extLst>
          </p:cNvPr>
          <p:cNvSpPr>
            <a:spLocks noGrp="1"/>
          </p:cNvSpPr>
          <p:nvPr>
            <p:ph type="title"/>
          </p:nvPr>
        </p:nvSpPr>
        <p:spPr/>
        <p:txBody>
          <a:bodyPr>
            <a:normAutofit/>
          </a:bodyPr>
          <a:lstStyle/>
          <a:p>
            <a:pPr>
              <a:lnSpc>
                <a:spcPct val="100000"/>
              </a:lnSpc>
            </a:pPr>
            <a:r>
              <a:rPr lang="en-US" dirty="0"/>
              <a:t>Analysis 3: Finding the "Sweet Spot" (Worker Sweep)</a:t>
            </a:r>
            <a:endParaRPr lang="en-US" dirty="0">
              <a:solidFill>
                <a:schemeClr val="tx1"/>
              </a:solidFill>
            </a:endParaRPr>
          </a:p>
        </p:txBody>
      </p:sp>
      <p:sp>
        <p:nvSpPr>
          <p:cNvPr id="4" name="Slide Number Placeholder 3">
            <a:extLst>
              <a:ext uri="{FF2B5EF4-FFF2-40B4-BE49-F238E27FC236}">
                <a16:creationId xmlns:a16="http://schemas.microsoft.com/office/drawing/2014/main" id="{45510A8F-C2E0-C536-E151-BC402DC9123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B96049D4-598A-912A-CE73-498A9CFB8949}"/>
              </a:ext>
            </a:extLst>
          </p:cNvPr>
          <p:cNvSpPr txBox="1"/>
          <p:nvPr/>
        </p:nvSpPr>
        <p:spPr>
          <a:xfrm>
            <a:off x="363984" y="1521398"/>
            <a:ext cx="6116511" cy="5016758"/>
          </a:xfrm>
          <a:prstGeom prst="rect">
            <a:avLst/>
          </a:prstGeom>
          <a:noFill/>
        </p:spPr>
        <p:txBody>
          <a:bodyPr wrap="square" rtlCol="0">
            <a:spAutoFit/>
          </a:bodyPr>
          <a:lstStyle/>
          <a:p>
            <a:pPr lvl="0">
              <a:defRPr/>
            </a:pPr>
            <a:r>
              <a:rPr lang="en-US" sz="2000" b="1" dirty="0"/>
              <a:t>The Test:</a:t>
            </a:r>
            <a:r>
              <a:rPr lang="en-US" sz="2000" dirty="0"/>
              <a:t> Fixed system (64 cores) and dataset (100%). Varied the </a:t>
            </a:r>
            <a:r>
              <a:rPr lang="en-US" sz="2000" b="1" dirty="0"/>
              <a:t>worker-to-core ratio</a:t>
            </a:r>
            <a:r>
              <a:rPr lang="en-US" sz="2000" dirty="0"/>
              <a:t>.</a:t>
            </a:r>
          </a:p>
          <a:p>
            <a:pPr lvl="0">
              <a:defRPr/>
            </a:pPr>
            <a:endParaRPr lang="en-US" sz="2000" dirty="0"/>
          </a:p>
          <a:p>
            <a:r>
              <a:rPr lang="en-IN" sz="2000" b="1" dirty="0"/>
              <a:t>The "Aha!" Moment: </a:t>
            </a:r>
            <a:r>
              <a:rPr lang="en-US" sz="2000" dirty="0"/>
              <a:t>The </a:t>
            </a:r>
            <a:r>
              <a:rPr lang="en-US" sz="2000" b="1" dirty="0"/>
              <a:t>8 Workers (8 cores/worker)</a:t>
            </a:r>
            <a:r>
              <a:rPr lang="en-US" sz="2000" dirty="0"/>
              <a:t> configuration was the clear winner.</a:t>
            </a:r>
          </a:p>
          <a:p>
            <a:pPr marL="742950" lvl="1" indent="-285750">
              <a:buFont typeface="Arial" panose="020B0604020202020204" pitchFamily="34" charset="0"/>
              <a:buChar char="•"/>
            </a:pPr>
            <a:r>
              <a:rPr lang="en-US" sz="2000" dirty="0"/>
              <a:t>Achieved the fastest End-to-End (E2E) time (~117s).</a:t>
            </a:r>
          </a:p>
          <a:p>
            <a:pPr marL="742950" lvl="1" indent="-285750">
              <a:buFont typeface="Arial" panose="020B0604020202020204" pitchFamily="34" charset="0"/>
              <a:buChar char="•"/>
            </a:pPr>
            <a:r>
              <a:rPr lang="en-US" sz="2000" dirty="0"/>
              <a:t>Delivered the highest throughput (&gt;6700 records/sec).</a:t>
            </a:r>
          </a:p>
          <a:p>
            <a:pPr lvl="1"/>
            <a:endParaRPr lang="en-US" sz="2000" dirty="0"/>
          </a:p>
          <a:p>
            <a:pPr>
              <a:defRPr/>
            </a:pPr>
            <a:r>
              <a:rPr lang="en-IN" sz="2000" b="1" dirty="0"/>
              <a:t>Final Takeaway: </a:t>
            </a:r>
          </a:p>
          <a:p>
            <a:pPr marL="800100" lvl="1" indent="-342900">
              <a:buFont typeface="Arial" panose="020B0604020202020204" pitchFamily="34" charset="0"/>
              <a:buChar char="•"/>
              <a:defRPr/>
            </a:pPr>
            <a:r>
              <a:rPr lang="en-IN" sz="2000" dirty="0"/>
              <a:t>Too few workers offer poor parallelization.</a:t>
            </a:r>
          </a:p>
          <a:p>
            <a:pPr marL="800100" lvl="1" indent="-342900">
              <a:buFont typeface="Arial" panose="020B0604020202020204" pitchFamily="34" charset="0"/>
              <a:buChar char="•"/>
              <a:defRPr/>
            </a:pPr>
            <a:r>
              <a:rPr lang="en-IN" sz="2000" dirty="0"/>
              <a:t>Too many workers require excessive scheduling.</a:t>
            </a:r>
          </a:p>
          <a:p>
            <a:pPr marL="800100" lvl="1" indent="-342900">
              <a:buFont typeface="Arial" panose="020B0604020202020204" pitchFamily="34" charset="0"/>
              <a:buChar char="•"/>
              <a:defRPr/>
            </a:pPr>
            <a:r>
              <a:rPr lang="en-IN" sz="2000" dirty="0"/>
              <a:t>8W-8C config provided optimal balance.</a:t>
            </a:r>
          </a:p>
          <a:p>
            <a:pPr marL="742950" lvl="1" indent="-285750">
              <a:buFont typeface="Arial" panose="020B0604020202020204" pitchFamily="34" charset="0"/>
              <a:buChar char="•"/>
              <a:defRPr/>
            </a:pPr>
            <a:endParaRPr lang="en-IN" sz="2000" b="1" dirty="0"/>
          </a:p>
          <a:p>
            <a:pPr>
              <a:defRPr/>
            </a:pPr>
            <a:endParaRPr lang="en-IN" sz="2000" b="1" dirty="0"/>
          </a:p>
        </p:txBody>
      </p:sp>
      <p:pic>
        <p:nvPicPr>
          <p:cNvPr id="12" name="Picture 11">
            <a:extLst>
              <a:ext uri="{FF2B5EF4-FFF2-40B4-BE49-F238E27FC236}">
                <a16:creationId xmlns:a16="http://schemas.microsoft.com/office/drawing/2014/main" id="{D8EF8147-5076-9B94-C050-E59E910C8A65}"/>
              </a:ext>
            </a:extLst>
          </p:cNvPr>
          <p:cNvPicPr>
            <a:picLocks noChangeAspect="1"/>
          </p:cNvPicPr>
          <p:nvPr/>
        </p:nvPicPr>
        <p:blipFill>
          <a:blip r:embed="rId3">
            <a:extLst>
              <a:ext uri="{28A0092B-C50C-407E-A947-70E740481C1C}">
                <a14:useLocalDpi xmlns:a14="http://schemas.microsoft.com/office/drawing/2010/main" val="0"/>
              </a:ext>
            </a:extLst>
          </a:blip>
          <a:srcRect t="844" b="844"/>
          <a:stretch/>
        </p:blipFill>
        <p:spPr>
          <a:xfrm>
            <a:off x="7200895" y="3579469"/>
            <a:ext cx="3573943" cy="2526409"/>
          </a:xfrm>
          <a:prstGeom prst="rect">
            <a:avLst/>
          </a:prstGeom>
          <a:ln>
            <a:noFill/>
          </a:ln>
          <a:effectLst>
            <a:outerShdw blurRad="292100" dist="139700" dir="2640000" sx="95000" sy="95000" algn="tl" rotWithShape="0">
              <a:srgbClr val="333333">
                <a:alpha val="76000"/>
              </a:srgbClr>
            </a:outerShdw>
          </a:effectLst>
        </p:spPr>
      </p:pic>
      <p:sp>
        <p:nvSpPr>
          <p:cNvPr id="6" name="TextBox 5">
            <a:extLst>
              <a:ext uri="{FF2B5EF4-FFF2-40B4-BE49-F238E27FC236}">
                <a16:creationId xmlns:a16="http://schemas.microsoft.com/office/drawing/2014/main" id="{0A7FB67C-5F6D-CF93-D3D4-4F4FD4F65A5D}"/>
              </a:ext>
            </a:extLst>
          </p:cNvPr>
          <p:cNvSpPr txBox="1"/>
          <p:nvPr/>
        </p:nvSpPr>
        <p:spPr>
          <a:xfrm>
            <a:off x="363984" y="843378"/>
            <a:ext cx="6491870" cy="461665"/>
          </a:xfrm>
          <a:prstGeom prst="rect">
            <a:avLst/>
          </a:prstGeom>
          <a:noFill/>
        </p:spPr>
        <p:txBody>
          <a:bodyPr wrap="square">
            <a:spAutoFit/>
          </a:bodyPr>
          <a:lstStyle/>
          <a:p>
            <a:r>
              <a:rPr lang="en-US" sz="2400" dirty="0">
                <a:solidFill>
                  <a:schemeClr val="tx1"/>
                </a:solidFill>
              </a:rPr>
              <a:t>Find the best configuration for this 64-core system</a:t>
            </a:r>
            <a:endParaRPr lang="en-IN" sz="2400" dirty="0"/>
          </a:p>
        </p:txBody>
      </p:sp>
      <p:graphicFrame>
        <p:nvGraphicFramePr>
          <p:cNvPr id="14" name="Table 13">
            <a:extLst>
              <a:ext uri="{FF2B5EF4-FFF2-40B4-BE49-F238E27FC236}">
                <a16:creationId xmlns:a16="http://schemas.microsoft.com/office/drawing/2014/main" id="{4C9609D8-0E5C-17D9-F8A0-4270A5342439}"/>
              </a:ext>
            </a:extLst>
          </p:cNvPr>
          <p:cNvGraphicFramePr>
            <a:graphicFrameLocks noGrp="1"/>
          </p:cNvGraphicFramePr>
          <p:nvPr>
            <p:extLst>
              <p:ext uri="{D42A27DB-BD31-4B8C-83A1-F6EECF244321}">
                <p14:modId xmlns:p14="http://schemas.microsoft.com/office/powerpoint/2010/main" val="3362179519"/>
              </p:ext>
            </p:extLst>
          </p:nvPr>
        </p:nvGraphicFramePr>
        <p:xfrm>
          <a:off x="6612967" y="1605406"/>
          <a:ext cx="4749800" cy="1508636"/>
        </p:xfrm>
        <a:graphic>
          <a:graphicData uri="http://schemas.openxmlformats.org/drawingml/2006/table">
            <a:tbl>
              <a:tblPr firstRow="1" firstCol="1" bandRow="1">
                <a:tableStyleId>{5C22544A-7EE6-4342-B048-85BDC9FD1C3A}</a:tableStyleId>
              </a:tblPr>
              <a:tblGrid>
                <a:gridCol w="1333500">
                  <a:extLst>
                    <a:ext uri="{9D8B030D-6E8A-4147-A177-3AD203B41FA5}">
                      <a16:colId xmlns:a16="http://schemas.microsoft.com/office/drawing/2014/main" val="1453637836"/>
                    </a:ext>
                  </a:extLst>
                </a:gridCol>
                <a:gridCol w="1270000">
                  <a:extLst>
                    <a:ext uri="{9D8B030D-6E8A-4147-A177-3AD203B41FA5}">
                      <a16:colId xmlns:a16="http://schemas.microsoft.com/office/drawing/2014/main" val="2634915731"/>
                    </a:ext>
                  </a:extLst>
                </a:gridCol>
                <a:gridCol w="1028700">
                  <a:extLst>
                    <a:ext uri="{9D8B030D-6E8A-4147-A177-3AD203B41FA5}">
                      <a16:colId xmlns:a16="http://schemas.microsoft.com/office/drawing/2014/main" val="1671645687"/>
                    </a:ext>
                  </a:extLst>
                </a:gridCol>
                <a:gridCol w="1117600">
                  <a:extLst>
                    <a:ext uri="{9D8B030D-6E8A-4147-A177-3AD203B41FA5}">
                      <a16:colId xmlns:a16="http://schemas.microsoft.com/office/drawing/2014/main" val="489720861"/>
                    </a:ext>
                  </a:extLst>
                </a:gridCol>
              </a:tblGrid>
              <a:tr h="180975">
                <a:tc>
                  <a:txBody>
                    <a:bodyPr/>
                    <a:lstStyle/>
                    <a:p>
                      <a:pPr algn="ctr">
                        <a:lnSpc>
                          <a:spcPct val="115000"/>
                        </a:lnSpc>
                        <a:spcAft>
                          <a:spcPts val="800"/>
                        </a:spcAft>
                        <a:buNone/>
                      </a:pPr>
                      <a:r>
                        <a:rPr lang="en-IN" sz="1200" kern="100" dirty="0">
                          <a:effectLst/>
                        </a:rPr>
                        <a:t>Num Workers</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Cores per worker</a:t>
                      </a:r>
                    </a:p>
                    <a:p>
                      <a:pPr algn="ctr">
                        <a:lnSpc>
                          <a:spcPct val="115000"/>
                        </a:lnSpc>
                        <a:spcAft>
                          <a:spcPts val="800"/>
                        </a:spcAft>
                        <a:buNone/>
                      </a:pPr>
                      <a:r>
                        <a:rPr lang="en-IN" sz="1200" kern="100" dirty="0">
                          <a:effectLst/>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E2E Time</a:t>
                      </a:r>
                    </a:p>
                    <a:p>
                      <a:pPr algn="ctr">
                        <a:lnSpc>
                          <a:spcPct val="115000"/>
                        </a:lnSpc>
                        <a:spcAft>
                          <a:spcPts val="800"/>
                        </a:spcAft>
                        <a:buNone/>
                      </a:pPr>
                      <a:r>
                        <a:rPr lang="en-IN" sz="1200" kern="100" dirty="0">
                          <a:effectLst/>
                        </a:rPr>
                        <a:t> </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E2E Throughput</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1395432"/>
                  </a:ext>
                </a:extLst>
              </a:tr>
              <a:tr h="184150">
                <a:tc>
                  <a:txBody>
                    <a:bodyPr/>
                    <a:lstStyle/>
                    <a:p>
                      <a:pPr algn="ctr">
                        <a:lnSpc>
                          <a:spcPct val="115000"/>
                        </a:lnSpc>
                        <a:spcAft>
                          <a:spcPts val="800"/>
                        </a:spcAft>
                        <a:buNone/>
                      </a:pPr>
                      <a:r>
                        <a:rPr lang="en-IN" sz="1200" kern="100" dirty="0">
                          <a:effectLst/>
                        </a:rPr>
                        <a:t>1</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128</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268.53</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2953.16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32556350"/>
                  </a:ext>
                </a:extLst>
              </a:tr>
              <a:tr h="184150">
                <a:tc>
                  <a:txBody>
                    <a:bodyPr/>
                    <a:lstStyle/>
                    <a:p>
                      <a:pPr algn="ctr">
                        <a:lnSpc>
                          <a:spcPct val="115000"/>
                        </a:lnSpc>
                        <a:spcAft>
                          <a:spcPts val="800"/>
                        </a:spcAft>
                        <a:buNone/>
                      </a:pPr>
                      <a:r>
                        <a:rPr lang="en-IN" sz="1200" kern="100" dirty="0">
                          <a:effectLst/>
                        </a:rPr>
                        <a:t>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64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161.92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4897.47</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9948323"/>
                  </a:ext>
                </a:extLst>
              </a:tr>
              <a:tr h="184150">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32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126.04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6291.50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0699504"/>
                  </a:ext>
                </a:extLst>
              </a:tr>
              <a:tr h="184150">
                <a:tc>
                  <a:txBody>
                    <a:bodyPr/>
                    <a:lstStyle/>
                    <a:p>
                      <a:pPr algn="ctr">
                        <a:lnSpc>
                          <a:spcPct val="115000"/>
                        </a:lnSpc>
                        <a:spcAft>
                          <a:spcPts val="800"/>
                        </a:spcAft>
                        <a:buNone/>
                      </a:pPr>
                      <a:r>
                        <a:rPr lang="en-IN" sz="1200" kern="100" dirty="0">
                          <a:effectLst/>
                        </a:rPr>
                        <a:t>16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8</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132.56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5982.44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5107436"/>
                  </a:ext>
                </a:extLst>
              </a:tr>
              <a:tr h="184150">
                <a:tc>
                  <a:txBody>
                    <a:bodyPr/>
                    <a:lstStyle/>
                    <a:p>
                      <a:pPr algn="ctr">
                        <a:lnSpc>
                          <a:spcPct val="115000"/>
                        </a:lnSpc>
                        <a:spcAft>
                          <a:spcPts val="800"/>
                        </a:spcAft>
                        <a:buNone/>
                      </a:pPr>
                      <a:r>
                        <a:rPr lang="en-IN" sz="1200" kern="100" dirty="0">
                          <a:effectLst/>
                        </a:rPr>
                        <a:t>32</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4</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135.90</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1200" kern="100" dirty="0">
                          <a:effectLst/>
                        </a:rPr>
                        <a:t>5835.26</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3045169"/>
                  </a:ext>
                </a:extLst>
              </a:tr>
            </a:tbl>
          </a:graphicData>
        </a:graphic>
      </p:graphicFrame>
      <p:pic>
        <p:nvPicPr>
          <p:cNvPr id="15" name="Picture 14">
            <a:extLst>
              <a:ext uri="{FF2B5EF4-FFF2-40B4-BE49-F238E27FC236}">
                <a16:creationId xmlns:a16="http://schemas.microsoft.com/office/drawing/2014/main" id="{14B34378-1DA6-378B-C73D-4311165FF0D2}"/>
              </a:ext>
            </a:extLst>
          </p:cNvPr>
          <p:cNvPicPr>
            <a:picLocks noChangeAspect="1"/>
          </p:cNvPicPr>
          <p:nvPr/>
        </p:nvPicPr>
        <p:blipFill>
          <a:blip r:embed="rId4"/>
          <a:stretch>
            <a:fillRect/>
          </a:stretch>
        </p:blipFill>
        <p:spPr>
          <a:xfrm>
            <a:off x="3686175" y="6453434"/>
            <a:ext cx="4819650" cy="371475"/>
          </a:xfrm>
          <a:prstGeom prst="rect">
            <a:avLst/>
          </a:prstGeom>
        </p:spPr>
      </p:pic>
    </p:spTree>
    <p:extLst>
      <p:ext uri="{BB962C8B-B14F-4D97-AF65-F5344CB8AC3E}">
        <p14:creationId xmlns:p14="http://schemas.microsoft.com/office/powerpoint/2010/main" val="725790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FE636-9B63-5BAE-F006-FC2CB751F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65319-7DA2-038F-36B3-F92B1945C1AD}"/>
              </a:ext>
            </a:extLst>
          </p:cNvPr>
          <p:cNvSpPr>
            <a:spLocks noGrp="1"/>
          </p:cNvSpPr>
          <p:nvPr>
            <p:ph type="title"/>
          </p:nvPr>
        </p:nvSpPr>
        <p:spPr/>
        <p:txBody>
          <a:bodyPr>
            <a:normAutofit/>
          </a:bodyPr>
          <a:lstStyle/>
          <a:p>
            <a:pPr>
              <a:lnSpc>
                <a:spcPct val="100000"/>
              </a:lnSpc>
            </a:pPr>
            <a:r>
              <a:rPr lang="en-US" dirty="0"/>
              <a:t>Analysis 3 Deep Dive: Proving the “Sweet Spot”</a:t>
            </a:r>
            <a:endParaRPr lang="en-US" dirty="0">
              <a:solidFill>
                <a:schemeClr val="tx1"/>
              </a:solidFill>
            </a:endParaRPr>
          </a:p>
        </p:txBody>
      </p:sp>
      <p:sp>
        <p:nvSpPr>
          <p:cNvPr id="4" name="Slide Number Placeholder 3">
            <a:extLst>
              <a:ext uri="{FF2B5EF4-FFF2-40B4-BE49-F238E27FC236}">
                <a16:creationId xmlns:a16="http://schemas.microsoft.com/office/drawing/2014/main" id="{C6B11C9A-7D52-1F67-C3E9-23A9309CC6B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D4F54D9B-A587-6F01-8056-717087F9A644}"/>
              </a:ext>
            </a:extLst>
          </p:cNvPr>
          <p:cNvSpPr txBox="1"/>
          <p:nvPr/>
        </p:nvSpPr>
        <p:spPr>
          <a:xfrm>
            <a:off x="363984" y="1719142"/>
            <a:ext cx="5401458" cy="4401205"/>
          </a:xfrm>
          <a:prstGeom prst="rect">
            <a:avLst/>
          </a:prstGeom>
          <a:noFill/>
        </p:spPr>
        <p:txBody>
          <a:bodyPr wrap="square" rtlCol="0">
            <a:spAutoFit/>
          </a:bodyPr>
          <a:lstStyle/>
          <a:p>
            <a:pPr lvl="0">
              <a:defRPr/>
            </a:pPr>
            <a:r>
              <a:rPr lang="en-US" sz="2000" b="1" dirty="0"/>
              <a:t>Observation:</a:t>
            </a:r>
            <a:r>
              <a:rPr lang="en-US" sz="2000" dirty="0"/>
              <a:t> Garbage Collection (GC) is a </a:t>
            </a:r>
            <a:r>
              <a:rPr lang="en-US" sz="2000" b="1" dirty="0"/>
              <a:t>substantial inefficiency</a:t>
            </a:r>
            <a:r>
              <a:rPr lang="en-US" sz="2000" dirty="0"/>
              <a:t> in this Java (Spark) workload.</a:t>
            </a:r>
          </a:p>
          <a:p>
            <a:pPr lvl="0">
              <a:defRPr/>
            </a:pPr>
            <a:endParaRPr lang="en-US" sz="2000" dirty="0"/>
          </a:p>
          <a:p>
            <a:pPr lvl="0">
              <a:defRPr/>
            </a:pPr>
            <a:r>
              <a:rPr lang="en-US" sz="2000" b="1" dirty="0"/>
              <a:t>Case 1 (1W-64C):</a:t>
            </a:r>
            <a:r>
              <a:rPr lang="en-US" sz="2000" dirty="0"/>
              <a:t> The single worker's memory was overwhelmed, leading to high GC time.</a:t>
            </a:r>
          </a:p>
          <a:p>
            <a:pPr lvl="0">
              <a:defRPr/>
            </a:pPr>
            <a:endParaRPr lang="en-US" sz="2000" dirty="0"/>
          </a:p>
          <a:p>
            <a:pPr lvl="0"/>
            <a:r>
              <a:rPr lang="en-US" sz="2000" b="1" dirty="0"/>
              <a:t>Case 2 (16W-4C): </a:t>
            </a:r>
            <a:r>
              <a:rPr lang="en-US" sz="2000" dirty="0"/>
              <a:t>Achieved the </a:t>
            </a:r>
            <a:r>
              <a:rPr lang="en-US" sz="2000" b="1" dirty="0"/>
              <a:t>Lowest Total GC Time, </a:t>
            </a:r>
            <a:r>
              <a:rPr lang="en-US" sz="2000" dirty="0"/>
              <a:t>but worse E2E Time due to </a:t>
            </a:r>
            <a:r>
              <a:rPr lang="en-US" sz="2000" b="1" dirty="0"/>
              <a:t>shuffle overhead</a:t>
            </a:r>
            <a:r>
              <a:rPr lang="en-US" sz="2000" dirty="0"/>
              <a:t> from managing 16 executors (JVMs).</a:t>
            </a:r>
          </a:p>
          <a:p>
            <a:pPr lvl="0"/>
            <a:endParaRPr lang="en-US" sz="2000" b="1" dirty="0"/>
          </a:p>
          <a:p>
            <a:pPr>
              <a:defRPr/>
            </a:pPr>
            <a:r>
              <a:rPr lang="en-US" sz="2000" b="1" dirty="0"/>
              <a:t>Conclusion: </a:t>
            </a:r>
            <a:r>
              <a:rPr lang="en-US" sz="2000" dirty="0"/>
              <a:t>The </a:t>
            </a:r>
            <a:r>
              <a:rPr lang="en-US" sz="2000" b="1" dirty="0"/>
              <a:t>8 Workers </a:t>
            </a:r>
            <a:r>
              <a:rPr lang="en-US" sz="2000" dirty="0"/>
              <a:t>setup provides the </a:t>
            </a:r>
            <a:r>
              <a:rPr lang="en-US" sz="2000" b="1" dirty="0"/>
              <a:t>best balance</a:t>
            </a:r>
            <a:r>
              <a:rPr lang="en-US" sz="2000" dirty="0"/>
              <a:t>, accepting slightly higher GC time to drastically reduce the dominant shuffle overhead.</a:t>
            </a:r>
            <a:endParaRPr lang="en-US" sz="2000" b="1" dirty="0"/>
          </a:p>
        </p:txBody>
      </p:sp>
      <p:pic>
        <p:nvPicPr>
          <p:cNvPr id="6" name="Picture 5">
            <a:extLst>
              <a:ext uri="{FF2B5EF4-FFF2-40B4-BE49-F238E27FC236}">
                <a16:creationId xmlns:a16="http://schemas.microsoft.com/office/drawing/2014/main" id="{C9C64EA6-CDEE-3251-A23F-A3FDFAEE82D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02062" y="1871993"/>
            <a:ext cx="5592342" cy="3452645"/>
          </a:xfrm>
          <a:prstGeom prst="rect">
            <a:avLst/>
          </a:prstGeom>
        </p:spPr>
      </p:pic>
      <p:pic>
        <p:nvPicPr>
          <p:cNvPr id="5" name="Picture 4">
            <a:extLst>
              <a:ext uri="{FF2B5EF4-FFF2-40B4-BE49-F238E27FC236}">
                <a16:creationId xmlns:a16="http://schemas.microsoft.com/office/drawing/2014/main" id="{D1588A9B-8E8E-FD35-E671-62194202C51A}"/>
              </a:ext>
            </a:extLst>
          </p:cNvPr>
          <p:cNvPicPr>
            <a:picLocks noChangeAspect="1"/>
          </p:cNvPicPr>
          <p:nvPr/>
        </p:nvPicPr>
        <p:blipFill>
          <a:blip r:embed="rId4"/>
          <a:stretch>
            <a:fillRect/>
          </a:stretch>
        </p:blipFill>
        <p:spPr>
          <a:xfrm>
            <a:off x="3686175" y="6453434"/>
            <a:ext cx="4819650" cy="371475"/>
          </a:xfrm>
          <a:prstGeom prst="rect">
            <a:avLst/>
          </a:prstGeom>
        </p:spPr>
      </p:pic>
      <p:sp>
        <p:nvSpPr>
          <p:cNvPr id="9" name="TextBox 8">
            <a:extLst>
              <a:ext uri="{FF2B5EF4-FFF2-40B4-BE49-F238E27FC236}">
                <a16:creationId xmlns:a16="http://schemas.microsoft.com/office/drawing/2014/main" id="{A41124B8-A00C-A291-B842-E0B1BE3324C5}"/>
              </a:ext>
            </a:extLst>
          </p:cNvPr>
          <p:cNvSpPr txBox="1"/>
          <p:nvPr/>
        </p:nvSpPr>
        <p:spPr>
          <a:xfrm>
            <a:off x="363984" y="845930"/>
            <a:ext cx="10097954" cy="461665"/>
          </a:xfrm>
          <a:prstGeom prst="rect">
            <a:avLst/>
          </a:prstGeom>
          <a:noFill/>
        </p:spPr>
        <p:txBody>
          <a:bodyPr wrap="square">
            <a:spAutoFit/>
          </a:bodyPr>
          <a:lstStyle/>
          <a:p>
            <a:r>
              <a:rPr lang="en-US" sz="2400" dirty="0">
                <a:solidFill>
                  <a:schemeClr val="tx1"/>
                </a:solidFill>
              </a:rPr>
              <a:t>Proving that Garbage Collection and overhead were the primary bottlenecks.</a:t>
            </a:r>
            <a:endParaRPr lang="en-IN" sz="2400" dirty="0"/>
          </a:p>
        </p:txBody>
      </p:sp>
    </p:spTree>
    <p:extLst>
      <p:ext uri="{BB962C8B-B14F-4D97-AF65-F5344CB8AC3E}">
        <p14:creationId xmlns:p14="http://schemas.microsoft.com/office/powerpoint/2010/main" val="505780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0A88-ADD4-FAC6-2329-7710AF647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E8522-F58D-71B4-5C72-947C858DD8E5}"/>
              </a:ext>
            </a:extLst>
          </p:cNvPr>
          <p:cNvSpPr>
            <a:spLocks noGrp="1"/>
          </p:cNvSpPr>
          <p:nvPr>
            <p:ph type="title"/>
          </p:nvPr>
        </p:nvSpPr>
        <p:spPr/>
        <p:txBody>
          <a:bodyPr>
            <a:normAutofit/>
          </a:bodyPr>
          <a:lstStyle/>
          <a:p>
            <a:pPr>
              <a:lnSpc>
                <a:spcPct val="100000"/>
              </a:lnSpc>
            </a:pPr>
            <a:r>
              <a:rPr lang="en-US" dirty="0"/>
              <a:t>Real-Time Inference with Kafka + Spark Streaming</a:t>
            </a:r>
            <a:endParaRPr lang="en-US" dirty="0">
              <a:solidFill>
                <a:schemeClr val="tx1"/>
              </a:solidFill>
            </a:endParaRPr>
          </a:p>
        </p:txBody>
      </p:sp>
      <p:sp>
        <p:nvSpPr>
          <p:cNvPr id="4" name="Slide Number Placeholder 3">
            <a:extLst>
              <a:ext uri="{FF2B5EF4-FFF2-40B4-BE49-F238E27FC236}">
                <a16:creationId xmlns:a16="http://schemas.microsoft.com/office/drawing/2014/main" id="{388D03CA-86A5-4AB5-4328-D9C3002DDB3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F1758FF-0BF1-4103-A89A-38EC40E85429}" type="slidenum">
              <a:rPr kumimoji="0" lang="en-SG" sz="900" b="0" i="0" u="none" strike="noStrike" kern="1200" cap="none" spc="0" normalizeH="0" baseline="0" noProof="0" smtClean="0">
                <a:ln>
                  <a:noFill/>
                </a:ln>
                <a:solidFill>
                  <a:prstClr val="white">
                    <a:lumMod val="50000"/>
                  </a:prstClr>
                </a:solidFill>
                <a:effectLst/>
                <a:uLnTx/>
                <a:uFillTx/>
                <a:latin typeface="Arial Nova" panose="020B05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
        <p:nvSpPr>
          <p:cNvPr id="8" name="TextBox 7">
            <a:extLst>
              <a:ext uri="{FF2B5EF4-FFF2-40B4-BE49-F238E27FC236}">
                <a16:creationId xmlns:a16="http://schemas.microsoft.com/office/drawing/2014/main" id="{066781E7-2BF9-E955-DE19-9FA0EC5B5913}"/>
              </a:ext>
            </a:extLst>
          </p:cNvPr>
          <p:cNvSpPr txBox="1"/>
          <p:nvPr/>
        </p:nvSpPr>
        <p:spPr>
          <a:xfrm>
            <a:off x="363984" y="1690062"/>
            <a:ext cx="5646157" cy="3785652"/>
          </a:xfrm>
          <a:prstGeom prst="rect">
            <a:avLst/>
          </a:prstGeom>
          <a:noFill/>
        </p:spPr>
        <p:txBody>
          <a:bodyPr wrap="square" rtlCol="0">
            <a:spAutoFit/>
          </a:bodyPr>
          <a:lstStyle/>
          <a:p>
            <a:pPr lvl="0">
              <a:defRPr/>
            </a:pPr>
            <a:r>
              <a:rPr lang="en-IN" sz="2000" b="1" dirty="0"/>
              <a:t>Pipeline Core: </a:t>
            </a:r>
            <a:r>
              <a:rPr lang="en-US" sz="2000" dirty="0"/>
              <a:t>Ingestion via Web Scraping Producer feeds directly into Spark Streaming for real-time transformation.</a:t>
            </a:r>
          </a:p>
          <a:p>
            <a:pPr lvl="0">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a:defRPr/>
            </a:pPr>
            <a:r>
              <a:rPr lang="en-IN" sz="2000" b="1" dirty="0"/>
              <a:t>Data Flow: </a:t>
            </a:r>
            <a:r>
              <a:rPr lang="en-US" sz="2000" dirty="0"/>
              <a:t>Raw telemetry is published to </a:t>
            </a:r>
            <a:r>
              <a:rPr lang="en-US" dirty="0"/>
              <a:t>scraped-data</a:t>
            </a:r>
            <a:r>
              <a:rPr lang="en-US" sz="2000" dirty="0"/>
              <a:t>, processed, and moved to the </a:t>
            </a:r>
            <a:r>
              <a:rPr lang="en-US" dirty="0"/>
              <a:t>processed-data</a:t>
            </a:r>
            <a:r>
              <a:rPr lang="en-US" sz="2000" dirty="0"/>
              <a:t> topic through Spark streaming.</a:t>
            </a:r>
          </a:p>
          <a:p>
            <a:pPr lvl="0">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a:defRPr/>
            </a:pPr>
            <a:r>
              <a:rPr lang="en-US" sz="2000" b="1" dirty="0"/>
              <a:t>Smart Routing:</a:t>
            </a:r>
            <a:r>
              <a:rPr lang="en-US" sz="2000" dirty="0"/>
              <a:t> Custom model evaluates confidence scores to classify the content and route them to labelled-data for scores &gt; 80%, otherwise sent for review to the verify-data topic.</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2C73A26-6E8F-251A-60CD-F4F7CFC16E73}"/>
              </a:ext>
            </a:extLst>
          </p:cNvPr>
          <p:cNvPicPr>
            <a:picLocks noChangeAspect="1"/>
          </p:cNvPicPr>
          <p:nvPr/>
        </p:nvPicPr>
        <p:blipFill rotWithShape="1">
          <a:blip r:embed="rId3">
            <a:extLst>
              <a:ext uri="{28A0092B-C50C-407E-A947-70E740481C1C}">
                <a14:useLocalDpi xmlns:a14="http://schemas.microsoft.com/office/drawing/2010/main" val="0"/>
              </a:ext>
            </a:extLst>
          </a:blip>
          <a:srcRect l="1814" t="2593" r="221" b="2105"/>
          <a:stretch>
            <a:fillRect/>
          </a:stretch>
        </p:blipFill>
        <p:spPr bwMode="auto">
          <a:xfrm>
            <a:off x="6225996" y="1690061"/>
            <a:ext cx="5602020" cy="3264011"/>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47511681-91F4-0E47-4448-11903E264505}"/>
              </a:ext>
            </a:extLst>
          </p:cNvPr>
          <p:cNvSpPr txBox="1"/>
          <p:nvPr/>
        </p:nvSpPr>
        <p:spPr>
          <a:xfrm>
            <a:off x="363984" y="874755"/>
            <a:ext cx="6149130" cy="461665"/>
          </a:xfrm>
          <a:prstGeom prst="rect">
            <a:avLst/>
          </a:prstGeom>
          <a:noFill/>
        </p:spPr>
        <p:txBody>
          <a:bodyPr wrap="square">
            <a:spAutoFit/>
          </a:bodyPr>
          <a:lstStyle/>
          <a:p>
            <a:pPr lvl="0"/>
            <a:r>
              <a:rPr lang="en-US" sz="2400" dirty="0"/>
              <a:t>Turning Raw Streams into Reliable Intelligence</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ooter Placeholder 2">
            <a:extLst>
              <a:ext uri="{FF2B5EF4-FFF2-40B4-BE49-F238E27FC236}">
                <a16:creationId xmlns:a16="http://schemas.microsoft.com/office/drawing/2014/main" id="{CFD34AAA-05EE-D43E-C47B-169C8A44B0E1}"/>
              </a:ext>
            </a:extLst>
          </p:cNvPr>
          <p:cNvSpPr>
            <a:spLocks noGrp="1"/>
          </p:cNvSpPr>
          <p:nvPr>
            <p:ph type="ftr" sz="quarter" idx="11"/>
          </p:nvPr>
        </p:nvSpPr>
        <p:spPr>
          <a:xfrm>
            <a:off x="3686185" y="6459785"/>
            <a:ext cx="4822804"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rPr>
              <a:t>DA 231o: Data Engineering at Scale</a:t>
            </a:r>
            <a:endParaRPr kumimoji="0" lang="en-SG" sz="900" b="0" i="0" u="none" strike="noStrike" kern="1200" cap="none" spc="0" normalizeH="0" baseline="0" noProof="0" dirty="0">
              <a:ln>
                <a:noFill/>
              </a:ln>
              <a:solidFill>
                <a:prstClr val="white">
                  <a:lumMod val="50000"/>
                </a:prstClr>
              </a:solidFill>
              <a:effectLst/>
              <a:uLnTx/>
              <a:uFillTx/>
              <a:latin typeface="Arial Nova" panose="020B0504020202020204" pitchFamily="34" charset="0"/>
              <a:ea typeface="+mn-ea"/>
              <a:cs typeface="+mn-cs"/>
            </a:endParaRPr>
          </a:p>
        </p:txBody>
      </p:sp>
    </p:spTree>
    <p:extLst>
      <p:ext uri="{BB962C8B-B14F-4D97-AF65-F5344CB8AC3E}">
        <p14:creationId xmlns:p14="http://schemas.microsoft.com/office/powerpoint/2010/main" val="3333905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8F151-6D5B-E79C-744B-C5A834F1E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B01B1-6A36-A176-7022-61CAD8FE70ED}"/>
              </a:ext>
            </a:extLst>
          </p:cNvPr>
          <p:cNvSpPr>
            <a:spLocks noGrp="1"/>
          </p:cNvSpPr>
          <p:nvPr>
            <p:ph type="title"/>
          </p:nvPr>
        </p:nvSpPr>
        <p:spPr/>
        <p:txBody>
          <a:bodyPr>
            <a:normAutofit/>
          </a:bodyPr>
          <a:lstStyle/>
          <a:p>
            <a:r>
              <a:rPr lang="en-US" dirty="0"/>
              <a:t>First Attempt : Using Logistic Regression</a:t>
            </a:r>
          </a:p>
        </p:txBody>
      </p:sp>
      <p:sp>
        <p:nvSpPr>
          <p:cNvPr id="4" name="Slide Number Placeholder 3">
            <a:extLst>
              <a:ext uri="{FF2B5EF4-FFF2-40B4-BE49-F238E27FC236}">
                <a16:creationId xmlns:a16="http://schemas.microsoft.com/office/drawing/2014/main" id="{BBB78083-DF24-3C01-BD0E-3DF3E65236A2}"/>
              </a:ext>
            </a:extLst>
          </p:cNvPr>
          <p:cNvSpPr>
            <a:spLocks noGrp="1"/>
          </p:cNvSpPr>
          <p:nvPr>
            <p:ph type="sldNum" sz="quarter" idx="12"/>
          </p:nvPr>
        </p:nvSpPr>
        <p:spPr/>
        <p:txBody>
          <a:bodyPr/>
          <a:lstStyle/>
          <a:p>
            <a:fld id="{BF1758FF-0BF1-4103-A89A-38EC40E85429}" type="slidenum">
              <a:rPr lang="en-SG" smtClean="0"/>
              <a:t>20</a:t>
            </a:fld>
            <a:endParaRPr lang="en-SG" dirty="0"/>
          </a:p>
        </p:txBody>
      </p:sp>
      <p:sp>
        <p:nvSpPr>
          <p:cNvPr id="8" name="TextBox 7">
            <a:extLst>
              <a:ext uri="{FF2B5EF4-FFF2-40B4-BE49-F238E27FC236}">
                <a16:creationId xmlns:a16="http://schemas.microsoft.com/office/drawing/2014/main" id="{3BDA1724-AFB3-19F2-8747-87A875FACFCA}"/>
              </a:ext>
            </a:extLst>
          </p:cNvPr>
          <p:cNvSpPr txBox="1"/>
          <p:nvPr/>
        </p:nvSpPr>
        <p:spPr>
          <a:xfrm>
            <a:off x="363984" y="951722"/>
            <a:ext cx="11243298" cy="5447645"/>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Base Line: Logistic Regression                  Classification Report</a:t>
            </a:r>
          </a:p>
          <a:p>
            <a:endParaRPr lang="en-US" sz="1800" b="1" dirty="0">
              <a:solidFill>
                <a:srgbClr val="000080"/>
              </a:solidFill>
              <a:latin typeface="Microsoft YaHei" panose="020B0503020204020204" pitchFamily="34" charset="-122"/>
              <a:ea typeface="Microsoft YaHei" panose="020B0503020204020204" pitchFamily="34" charset="-122"/>
            </a:endParaRPr>
          </a:p>
          <a:p>
            <a:pPr marL="457200" indent="-457200">
              <a:buFont typeface="Arial" panose="020B0604020202020204" pitchFamily="34" charset="0"/>
              <a:buChar char="•"/>
            </a:pPr>
            <a:r>
              <a:rPr lang="en-US" sz="1800" dirty="0">
                <a:solidFill>
                  <a:srgbClr val="000000"/>
                </a:solidFill>
              </a:rPr>
              <a:t>Accuracy : 8</a:t>
            </a:r>
            <a:r>
              <a:rPr lang="en-US" dirty="0">
                <a:solidFill>
                  <a:srgbClr val="000000"/>
                </a:solidFill>
              </a:rPr>
              <a:t>0</a:t>
            </a:r>
            <a:r>
              <a:rPr lang="en-US" sz="1800" dirty="0">
                <a:solidFill>
                  <a:srgbClr val="000000"/>
                </a:solidFill>
              </a:rPr>
              <a:t>.44%</a:t>
            </a:r>
          </a:p>
          <a:p>
            <a:pPr marL="457200" indent="-457200">
              <a:buFont typeface="Arial" panose="020B0604020202020204" pitchFamily="34" charset="0"/>
              <a:buChar char="•"/>
            </a:pPr>
            <a:r>
              <a:rPr lang="en-US" sz="1800" dirty="0">
                <a:solidFill>
                  <a:srgbClr val="000000"/>
                </a:solidFill>
              </a:rPr>
              <a:t>ROC AUC : 0.88    </a:t>
            </a:r>
          </a:p>
          <a:p>
            <a:endParaRPr lang="en-US" b="1" dirty="0">
              <a:solidFill>
                <a:srgbClr val="000080"/>
              </a:solidFill>
              <a:latin typeface="Microsoft YaHei" panose="020B0503020204020204" pitchFamily="34" charset="-122"/>
              <a:ea typeface="Microsoft YaHei" panose="020B0503020204020204" pitchFamily="34" charset="-122"/>
            </a:endParaRPr>
          </a:p>
          <a:p>
            <a:endParaRPr lang="en-US" sz="1800" b="1" dirty="0">
              <a:solidFill>
                <a:srgbClr val="000080"/>
              </a:solidFill>
              <a:latin typeface="Microsoft YaHei" panose="020B0503020204020204" pitchFamily="34" charset="-122"/>
              <a:ea typeface="Microsoft YaHei" panose="020B0503020204020204" pitchFamily="34" charset="-122"/>
            </a:endParaRPr>
          </a:p>
          <a:p>
            <a:r>
              <a:rPr lang="en-US" sz="2000" b="1" dirty="0">
                <a:solidFill>
                  <a:srgbClr val="000080"/>
                </a:solidFill>
                <a:latin typeface="Microsoft YaHei" panose="020B0503020204020204" pitchFamily="34" charset="-122"/>
                <a:ea typeface="Microsoft YaHei" panose="020B0503020204020204" pitchFamily="34" charset="-122"/>
              </a:rPr>
              <a:t>Architecture/Hyperparameter, </a:t>
            </a:r>
          </a:p>
          <a:p>
            <a:endParaRPr lang="en-US" sz="2000" b="1" dirty="0">
              <a:solidFill>
                <a:srgbClr val="000080"/>
              </a:solidFill>
              <a:latin typeface="Microsoft YaHei" panose="020B0503020204020204" pitchFamily="34" charset="-122"/>
              <a:ea typeface="Microsoft YaHei" panose="020B0503020204020204" pitchFamily="34" charset="-122"/>
            </a:endParaRPr>
          </a:p>
          <a:p>
            <a:r>
              <a:rPr lang="en-US" sz="2000" b="1" dirty="0"/>
              <a:t>Model Type:</a:t>
            </a:r>
            <a:r>
              <a:rPr lang="en-US" sz="2000" dirty="0"/>
              <a:t> </a:t>
            </a:r>
            <a:r>
              <a:rPr lang="en-US" sz="2000" b="1" dirty="0"/>
              <a:t>Linear Model</a:t>
            </a:r>
            <a:r>
              <a:rPr lang="en-US" sz="2000" dirty="0"/>
              <a:t> based on the sigmoid function.</a:t>
            </a:r>
          </a:p>
          <a:p>
            <a:r>
              <a:rPr lang="en-US" sz="2000" b="1" dirty="0"/>
              <a:t>Goal:</a:t>
            </a:r>
            <a:r>
              <a:rPr lang="en-US" sz="2000" dirty="0"/>
              <a:t> Finds the optimal weights for the 8,000 TF-IDF features to maximize the separation between the two classes (e.g., Real vs. Fake).</a:t>
            </a:r>
          </a:p>
          <a:p>
            <a:endParaRPr lang="en-US" sz="2000" dirty="0"/>
          </a:p>
          <a:p>
            <a:r>
              <a:rPr lang="en-IN" sz="2000" b="1" dirty="0"/>
              <a:t>Hyperparameters:</a:t>
            </a:r>
            <a:endParaRPr lang="en-US" sz="2000" b="1" dirty="0"/>
          </a:p>
          <a:p>
            <a:r>
              <a:rPr lang="en-US" b="1" dirty="0"/>
              <a:t>max_iter=300</a:t>
            </a:r>
            <a:r>
              <a:rPr lang="en-US" sz="2000" dirty="0"/>
              <a:t>: Ensures the solver has enough iterations to fully converge (find the optimal weights).</a:t>
            </a:r>
          </a:p>
          <a:p>
            <a:r>
              <a:rPr lang="en-US" sz="2000" dirty="0"/>
              <a:t>C=3.0: This is the inverse of the regularization strength (higher C means lower regularization). A value of 3.0 allows the model to fit the data quite closely, potentially improving accuracy, but requiring careful monitoring for overfitting.</a:t>
            </a:r>
          </a:p>
          <a:p>
            <a:r>
              <a:rPr lang="en-US" b="1" dirty="0"/>
              <a:t>n_jobs=-1</a:t>
            </a:r>
            <a:r>
              <a:rPr lang="en-US" sz="2000" dirty="0"/>
              <a:t>: Utilizes all available CPU cores for fitting, ensuring </a:t>
            </a:r>
            <a:r>
              <a:rPr lang="en-US" sz="2000" b="1" dirty="0"/>
              <a:t>fast training time</a:t>
            </a:r>
            <a:r>
              <a:rPr lang="en-US" sz="2000" dirty="0"/>
              <a:t>.</a:t>
            </a:r>
          </a:p>
        </p:txBody>
      </p:sp>
      <p:graphicFrame>
        <p:nvGraphicFramePr>
          <p:cNvPr id="7" name="Table 6">
            <a:extLst>
              <a:ext uri="{FF2B5EF4-FFF2-40B4-BE49-F238E27FC236}">
                <a16:creationId xmlns:a16="http://schemas.microsoft.com/office/drawing/2014/main" id="{AA21A010-BCE6-2EE3-EB28-135946A710FD}"/>
              </a:ext>
            </a:extLst>
          </p:cNvPr>
          <p:cNvGraphicFramePr>
            <a:graphicFrameLocks noGrp="1"/>
          </p:cNvGraphicFramePr>
          <p:nvPr>
            <p:extLst>
              <p:ext uri="{D42A27DB-BD31-4B8C-83A1-F6EECF244321}">
                <p14:modId xmlns:p14="http://schemas.microsoft.com/office/powerpoint/2010/main" val="692590772"/>
              </p:ext>
            </p:extLst>
          </p:nvPr>
        </p:nvGraphicFramePr>
        <p:xfrm>
          <a:off x="5095112" y="1383285"/>
          <a:ext cx="5991225" cy="1150404"/>
        </p:xfrm>
        <a:graphic>
          <a:graphicData uri="http://schemas.openxmlformats.org/drawingml/2006/table">
            <a:tbl>
              <a:tblPr firstRow="1" bandRow="1">
                <a:tableStyleId>{5C22544A-7EE6-4342-B048-85BDC9FD1C3A}</a:tableStyleId>
              </a:tblPr>
              <a:tblGrid>
                <a:gridCol w="1198245">
                  <a:extLst>
                    <a:ext uri="{9D8B030D-6E8A-4147-A177-3AD203B41FA5}">
                      <a16:colId xmlns:a16="http://schemas.microsoft.com/office/drawing/2014/main" val="1824103824"/>
                    </a:ext>
                  </a:extLst>
                </a:gridCol>
                <a:gridCol w="1198245">
                  <a:extLst>
                    <a:ext uri="{9D8B030D-6E8A-4147-A177-3AD203B41FA5}">
                      <a16:colId xmlns:a16="http://schemas.microsoft.com/office/drawing/2014/main" val="2181989826"/>
                    </a:ext>
                  </a:extLst>
                </a:gridCol>
                <a:gridCol w="1198245">
                  <a:extLst>
                    <a:ext uri="{9D8B030D-6E8A-4147-A177-3AD203B41FA5}">
                      <a16:colId xmlns:a16="http://schemas.microsoft.com/office/drawing/2014/main" val="1472622155"/>
                    </a:ext>
                  </a:extLst>
                </a:gridCol>
                <a:gridCol w="1198245">
                  <a:extLst>
                    <a:ext uri="{9D8B030D-6E8A-4147-A177-3AD203B41FA5}">
                      <a16:colId xmlns:a16="http://schemas.microsoft.com/office/drawing/2014/main" val="4032482017"/>
                    </a:ext>
                  </a:extLst>
                </a:gridCol>
                <a:gridCol w="1198245">
                  <a:extLst>
                    <a:ext uri="{9D8B030D-6E8A-4147-A177-3AD203B41FA5}">
                      <a16:colId xmlns:a16="http://schemas.microsoft.com/office/drawing/2014/main" val="2481797693"/>
                    </a:ext>
                  </a:extLst>
                </a:gridCol>
              </a:tblGrid>
              <a:tr h="418884">
                <a:tc>
                  <a:txBody>
                    <a:bodyPr/>
                    <a:lstStyle/>
                    <a:p>
                      <a:endParaRPr lang="en-IN" dirty="0"/>
                    </a:p>
                  </a:txBody>
                  <a:tcPr/>
                </a:tc>
                <a:tc>
                  <a:txBody>
                    <a:bodyPr/>
                    <a:lstStyle/>
                    <a:p>
                      <a:r>
                        <a:rPr lang="en-US" dirty="0"/>
                        <a:t>Precision </a:t>
                      </a:r>
                      <a:endParaRPr lang="en-IN" dirty="0"/>
                    </a:p>
                  </a:txBody>
                  <a:tcPr/>
                </a:tc>
                <a:tc>
                  <a:txBody>
                    <a:bodyPr/>
                    <a:lstStyle/>
                    <a:p>
                      <a:r>
                        <a:rPr lang="en-US" dirty="0"/>
                        <a:t>Recall</a:t>
                      </a:r>
                      <a:endParaRPr lang="en-IN" dirty="0"/>
                    </a:p>
                  </a:txBody>
                  <a:tcPr/>
                </a:tc>
                <a:tc>
                  <a:txBody>
                    <a:bodyPr/>
                    <a:lstStyle/>
                    <a:p>
                      <a:r>
                        <a:rPr lang="en-US" dirty="0"/>
                        <a:t>F1-score</a:t>
                      </a:r>
                      <a:endParaRPr lang="en-IN" dirty="0"/>
                    </a:p>
                  </a:txBody>
                  <a:tcPr/>
                </a:tc>
                <a:tc>
                  <a:txBody>
                    <a:bodyPr/>
                    <a:lstStyle/>
                    <a:p>
                      <a:r>
                        <a:rPr lang="en-US" dirty="0"/>
                        <a:t>Support</a:t>
                      </a:r>
                      <a:endParaRPr lang="en-IN" dirty="0"/>
                    </a:p>
                  </a:txBody>
                  <a:tcPr/>
                </a:tc>
                <a:extLst>
                  <a:ext uri="{0D108BD9-81ED-4DB2-BD59-A6C34878D82A}">
                    <a16:rowId xmlns:a16="http://schemas.microsoft.com/office/drawing/2014/main" val="1269819584"/>
                  </a:ext>
                </a:extLst>
              </a:tr>
              <a:tr h="283129">
                <a:tc>
                  <a:txBody>
                    <a:bodyPr/>
                    <a:lstStyle/>
                    <a:p>
                      <a:r>
                        <a:rPr lang="en-US" dirty="0"/>
                        <a:t>  Fake</a:t>
                      </a:r>
                      <a:endParaRPr lang="en-IN" dirty="0"/>
                    </a:p>
                  </a:txBody>
                  <a:tcPr/>
                </a:tc>
                <a:tc>
                  <a:txBody>
                    <a:bodyPr/>
                    <a:lstStyle/>
                    <a:p>
                      <a:r>
                        <a:rPr lang="en-US" dirty="0"/>
                        <a:t>0.821</a:t>
                      </a:r>
                      <a:endParaRPr lang="en-IN" dirty="0"/>
                    </a:p>
                  </a:txBody>
                  <a:tcPr/>
                </a:tc>
                <a:tc>
                  <a:txBody>
                    <a:bodyPr/>
                    <a:lstStyle/>
                    <a:p>
                      <a:r>
                        <a:rPr lang="en-US" dirty="0"/>
                        <a:t>0.786</a:t>
                      </a:r>
                      <a:endParaRPr lang="en-IN" dirty="0"/>
                    </a:p>
                  </a:txBody>
                  <a:tcPr/>
                </a:tc>
                <a:tc>
                  <a:txBody>
                    <a:bodyPr/>
                    <a:lstStyle/>
                    <a:p>
                      <a:r>
                        <a:rPr lang="en-US" dirty="0"/>
                        <a:t>0.803</a:t>
                      </a:r>
                      <a:endParaRPr lang="en-IN" dirty="0"/>
                    </a:p>
                  </a:txBody>
                  <a:tcPr/>
                </a:tc>
                <a:tc>
                  <a:txBody>
                    <a:bodyPr/>
                    <a:lstStyle/>
                    <a:p>
                      <a:r>
                        <a:rPr lang="en-US" dirty="0"/>
                        <a:t>8066</a:t>
                      </a:r>
                      <a:endParaRPr lang="en-IN" dirty="0"/>
                    </a:p>
                  </a:txBody>
                  <a:tcPr/>
                </a:tc>
                <a:extLst>
                  <a:ext uri="{0D108BD9-81ED-4DB2-BD59-A6C34878D82A}">
                    <a16:rowId xmlns:a16="http://schemas.microsoft.com/office/drawing/2014/main" val="1125190486"/>
                  </a:ext>
                </a:extLst>
              </a:tr>
              <a:tr h="283129">
                <a:tc>
                  <a:txBody>
                    <a:bodyPr/>
                    <a:lstStyle/>
                    <a:p>
                      <a:r>
                        <a:rPr lang="en-US" dirty="0"/>
                        <a:t>  Real</a:t>
                      </a:r>
                      <a:endParaRPr lang="en-IN" dirty="0"/>
                    </a:p>
                  </a:txBody>
                  <a:tcPr/>
                </a:tc>
                <a:tc>
                  <a:txBody>
                    <a:bodyPr/>
                    <a:lstStyle/>
                    <a:p>
                      <a:r>
                        <a:rPr lang="en-US" dirty="0"/>
                        <a:t>0.789</a:t>
                      </a:r>
                      <a:endParaRPr lang="en-IN" dirty="0"/>
                    </a:p>
                  </a:txBody>
                  <a:tcPr/>
                </a:tc>
                <a:tc>
                  <a:txBody>
                    <a:bodyPr/>
                    <a:lstStyle/>
                    <a:p>
                      <a:r>
                        <a:rPr lang="en-US" dirty="0"/>
                        <a:t>0.823</a:t>
                      </a:r>
                      <a:endParaRPr lang="en-IN" dirty="0"/>
                    </a:p>
                  </a:txBody>
                  <a:tcPr/>
                </a:tc>
                <a:tc>
                  <a:txBody>
                    <a:bodyPr/>
                    <a:lstStyle/>
                    <a:p>
                      <a:r>
                        <a:rPr lang="en-US" dirty="0"/>
                        <a:t>0.806</a:t>
                      </a:r>
                      <a:endParaRPr lang="en-IN" dirty="0"/>
                    </a:p>
                  </a:txBody>
                  <a:tcPr/>
                </a:tc>
                <a:tc>
                  <a:txBody>
                    <a:bodyPr/>
                    <a:lstStyle/>
                    <a:p>
                      <a:r>
                        <a:rPr lang="en-US" dirty="0"/>
                        <a:t>7827</a:t>
                      </a:r>
                      <a:endParaRPr lang="en-IN" dirty="0"/>
                    </a:p>
                  </a:txBody>
                  <a:tcPr/>
                </a:tc>
                <a:extLst>
                  <a:ext uri="{0D108BD9-81ED-4DB2-BD59-A6C34878D82A}">
                    <a16:rowId xmlns:a16="http://schemas.microsoft.com/office/drawing/2014/main" val="1667289240"/>
                  </a:ext>
                </a:extLst>
              </a:tr>
            </a:tbl>
          </a:graphicData>
        </a:graphic>
      </p:graphicFrame>
      <p:sp>
        <p:nvSpPr>
          <p:cNvPr id="5" name="Footer Placeholder 2">
            <a:extLst>
              <a:ext uri="{FF2B5EF4-FFF2-40B4-BE49-F238E27FC236}">
                <a16:creationId xmlns:a16="http://schemas.microsoft.com/office/drawing/2014/main" id="{109CD301-F4B7-31DC-A2FA-D4E0ACAAE364}"/>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1973200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608CB-8C8E-1294-0096-CE6CC3FC2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C29EE-F79C-D730-6BB4-FF5F871B83CD}"/>
              </a:ext>
            </a:extLst>
          </p:cNvPr>
          <p:cNvSpPr>
            <a:spLocks noGrp="1"/>
          </p:cNvSpPr>
          <p:nvPr>
            <p:ph type="title"/>
          </p:nvPr>
        </p:nvSpPr>
        <p:spPr/>
        <p:txBody>
          <a:bodyPr>
            <a:normAutofit/>
          </a:bodyPr>
          <a:lstStyle/>
          <a:p>
            <a:r>
              <a:rPr lang="en-US" dirty="0"/>
              <a:t>Second Attempt : Using Ensemble(XGBoost)</a:t>
            </a:r>
          </a:p>
        </p:txBody>
      </p:sp>
      <p:sp>
        <p:nvSpPr>
          <p:cNvPr id="4" name="Slide Number Placeholder 3">
            <a:extLst>
              <a:ext uri="{FF2B5EF4-FFF2-40B4-BE49-F238E27FC236}">
                <a16:creationId xmlns:a16="http://schemas.microsoft.com/office/drawing/2014/main" id="{F0A1660C-20B3-ACF2-B682-3DF8E9C24888}"/>
              </a:ext>
            </a:extLst>
          </p:cNvPr>
          <p:cNvSpPr>
            <a:spLocks noGrp="1"/>
          </p:cNvSpPr>
          <p:nvPr>
            <p:ph type="sldNum" sz="quarter" idx="12"/>
          </p:nvPr>
        </p:nvSpPr>
        <p:spPr/>
        <p:txBody>
          <a:bodyPr/>
          <a:lstStyle/>
          <a:p>
            <a:fld id="{BF1758FF-0BF1-4103-A89A-38EC40E85429}" type="slidenum">
              <a:rPr lang="en-SG" smtClean="0"/>
              <a:t>21</a:t>
            </a:fld>
            <a:endParaRPr lang="en-SG" dirty="0"/>
          </a:p>
        </p:txBody>
      </p:sp>
      <p:sp>
        <p:nvSpPr>
          <p:cNvPr id="8" name="TextBox 7">
            <a:extLst>
              <a:ext uri="{FF2B5EF4-FFF2-40B4-BE49-F238E27FC236}">
                <a16:creationId xmlns:a16="http://schemas.microsoft.com/office/drawing/2014/main" id="{7A368A6F-A25D-4234-935E-70E0ABC42587}"/>
              </a:ext>
            </a:extLst>
          </p:cNvPr>
          <p:cNvSpPr txBox="1"/>
          <p:nvPr/>
        </p:nvSpPr>
        <p:spPr>
          <a:xfrm>
            <a:off x="363984" y="951722"/>
            <a:ext cx="11243298" cy="5632311"/>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Ensemble Technique-XGBoost                  Classification Report</a:t>
            </a:r>
          </a:p>
          <a:p>
            <a:pPr marL="457200" indent="-457200">
              <a:buFont typeface="Arial" panose="020B0604020202020204" pitchFamily="34" charset="0"/>
              <a:buChar char="•"/>
            </a:pPr>
            <a:endParaRPr lang="en-US" sz="1800" dirty="0">
              <a:solidFill>
                <a:srgbClr val="000000"/>
              </a:solidFill>
            </a:endParaRPr>
          </a:p>
          <a:p>
            <a:pPr marL="457200" indent="-457200">
              <a:buFont typeface="Arial" panose="020B0604020202020204" pitchFamily="34" charset="0"/>
              <a:buChar char="•"/>
            </a:pPr>
            <a:r>
              <a:rPr lang="en-US" sz="1800" dirty="0">
                <a:solidFill>
                  <a:srgbClr val="000000"/>
                </a:solidFill>
              </a:rPr>
              <a:t>Accuracy : 85.14%</a:t>
            </a:r>
          </a:p>
          <a:p>
            <a:pPr marL="457200" indent="-457200">
              <a:buFont typeface="Arial" panose="020B0604020202020204" pitchFamily="34" charset="0"/>
              <a:buChar char="•"/>
            </a:pPr>
            <a:r>
              <a:rPr lang="en-US" sz="1800" dirty="0">
                <a:solidFill>
                  <a:srgbClr val="000000"/>
                </a:solidFill>
              </a:rPr>
              <a:t>ROC AUC : 0.93      </a:t>
            </a:r>
          </a:p>
          <a:p>
            <a:endParaRPr lang="en-US" b="1" dirty="0">
              <a:solidFill>
                <a:srgbClr val="000080"/>
              </a:solidFill>
              <a:latin typeface="Microsoft YaHei" panose="020B0503020204020204" pitchFamily="34" charset="-122"/>
              <a:ea typeface="Microsoft YaHei" panose="020B0503020204020204" pitchFamily="34" charset="-122"/>
            </a:endParaRPr>
          </a:p>
          <a:p>
            <a:endParaRPr lang="en-US" sz="1800" b="1" dirty="0">
              <a:solidFill>
                <a:srgbClr val="000080"/>
              </a:solidFill>
              <a:latin typeface="Microsoft YaHei" panose="020B0503020204020204" pitchFamily="34" charset="-122"/>
              <a:ea typeface="Microsoft YaHei" panose="020B0503020204020204" pitchFamily="34" charset="-122"/>
            </a:endParaRPr>
          </a:p>
          <a:p>
            <a:endParaRPr lang="en-US" sz="1800" b="1" dirty="0">
              <a:solidFill>
                <a:srgbClr val="000080"/>
              </a:solidFill>
              <a:latin typeface="Microsoft YaHei" panose="020B0503020204020204" pitchFamily="34" charset="-122"/>
              <a:ea typeface="Microsoft YaHei" panose="020B0503020204020204" pitchFamily="34" charset="-122"/>
            </a:endParaRPr>
          </a:p>
          <a:p>
            <a:endParaRPr lang="en-US" sz="1800" b="1" dirty="0">
              <a:solidFill>
                <a:srgbClr val="000080"/>
              </a:solidFill>
              <a:latin typeface="Microsoft YaHei" panose="020B0503020204020204" pitchFamily="34" charset="-122"/>
              <a:ea typeface="Microsoft YaHei" panose="020B0503020204020204" pitchFamily="34" charset="-122"/>
            </a:endParaRPr>
          </a:p>
          <a:p>
            <a:endParaRPr lang="en-US" b="1" dirty="0">
              <a:solidFill>
                <a:srgbClr val="000080"/>
              </a:solidFill>
              <a:latin typeface="Microsoft YaHei" panose="020B0503020204020204" pitchFamily="34" charset="-122"/>
              <a:ea typeface="Microsoft YaHei" panose="020B0503020204020204" pitchFamily="34" charset="-122"/>
            </a:endParaRPr>
          </a:p>
          <a:p>
            <a:endParaRPr lang="en-US" sz="1800" b="1" dirty="0">
              <a:solidFill>
                <a:srgbClr val="000080"/>
              </a:solidFill>
              <a:latin typeface="Microsoft YaHei" panose="020B0503020204020204" pitchFamily="34" charset="-122"/>
              <a:ea typeface="Microsoft YaHei" panose="020B0503020204020204" pitchFamily="34" charset="-122"/>
            </a:endParaRPr>
          </a:p>
          <a:p>
            <a:r>
              <a:rPr lang="en-US" sz="2000" b="1" dirty="0">
                <a:solidFill>
                  <a:srgbClr val="000080"/>
                </a:solidFill>
                <a:latin typeface="Microsoft YaHei" panose="020B0503020204020204" pitchFamily="34" charset="-122"/>
                <a:ea typeface="Microsoft YaHei" panose="020B0503020204020204" pitchFamily="34" charset="-122"/>
              </a:rPr>
              <a:t>Architecture/Hyperparameter, </a:t>
            </a:r>
          </a:p>
          <a:p>
            <a:pPr marL="342900" indent="-342900">
              <a:buFont typeface="Arial" panose="020B0604020202020204" pitchFamily="34" charset="0"/>
              <a:buChar char="•"/>
            </a:pPr>
            <a:r>
              <a:rPr lang="en-US" sz="2000" dirty="0">
                <a:solidFill>
                  <a:srgbClr val="000000"/>
                </a:solidFill>
                <a:effectLst/>
              </a:rPr>
              <a:t>Estimators(n_estimators):300</a:t>
            </a:r>
            <a:r>
              <a:rPr lang="en-US" sz="2000" b="0" dirty="0">
                <a:solidFill>
                  <a:srgbClr val="000000"/>
                </a:solidFill>
                <a:effectLst/>
              </a:rPr>
              <a:t> (total number of tree built)</a:t>
            </a:r>
          </a:p>
          <a:p>
            <a:pPr marL="342900" indent="-342900">
              <a:buFont typeface="Arial" panose="020B0604020202020204" pitchFamily="34" charset="0"/>
              <a:buChar char="•"/>
            </a:pPr>
            <a:r>
              <a:rPr lang="en-US" sz="2000" dirty="0">
                <a:solidFill>
                  <a:srgbClr val="000000"/>
                </a:solidFill>
              </a:rPr>
              <a:t>Learning Rate:0.1(Step size for correction)</a:t>
            </a:r>
          </a:p>
          <a:p>
            <a:pPr marL="342900" indent="-342900">
              <a:buFont typeface="Arial" panose="020B0604020202020204" pitchFamily="34" charset="0"/>
              <a:buChar char="•"/>
            </a:pPr>
            <a:r>
              <a:rPr lang="en-US" sz="2000" dirty="0">
                <a:solidFill>
                  <a:srgbClr val="000000"/>
                </a:solidFill>
              </a:rPr>
              <a:t>Tree Depth(max_depth): 6 (Control the complexity of individual trees)</a:t>
            </a:r>
          </a:p>
          <a:p>
            <a:pPr marL="342900" indent="-342900">
              <a:buFont typeface="Arial" panose="020B0604020202020204" pitchFamily="34" charset="0"/>
              <a:buChar char="•"/>
            </a:pPr>
            <a:r>
              <a:rPr lang="en-US" sz="2000" dirty="0">
                <a:solidFill>
                  <a:srgbClr val="000000"/>
                </a:solidFill>
                <a:effectLst/>
              </a:rPr>
              <a:t>Evaluation</a:t>
            </a:r>
            <a:r>
              <a:rPr lang="en-US" sz="2000" dirty="0">
                <a:solidFill>
                  <a:srgbClr val="000000"/>
                </a:solidFill>
              </a:rPr>
              <a:t>_Metric(eval_metric):logloss(monitoring training progress using logarithmic loss)</a:t>
            </a:r>
          </a:p>
          <a:p>
            <a:pPr marL="342900" indent="-342900">
              <a:buFont typeface="Arial" panose="020B0604020202020204" pitchFamily="34" charset="0"/>
              <a:buChar char="•"/>
            </a:pPr>
            <a:r>
              <a:rPr lang="en-US" sz="2000" dirty="0">
                <a:solidFill>
                  <a:srgbClr val="000000"/>
                </a:solidFill>
                <a:effectLst/>
              </a:rPr>
              <a:t>Row Sampling(subsample): 80% </a:t>
            </a:r>
            <a:r>
              <a:rPr lang="en-US" sz="2000" b="0" dirty="0">
                <a:solidFill>
                  <a:srgbClr val="000000"/>
                </a:solidFill>
                <a:effectLst/>
              </a:rPr>
              <a:t>of data used per tree(Prevents overfitting)</a:t>
            </a:r>
          </a:p>
          <a:p>
            <a:pPr marL="342900" indent="-342900">
              <a:buFont typeface="Arial" panose="020B0604020202020204" pitchFamily="34" charset="0"/>
              <a:buChar char="•"/>
            </a:pPr>
            <a:r>
              <a:rPr lang="en-US" sz="2000" dirty="0">
                <a:solidFill>
                  <a:srgbClr val="000000"/>
                </a:solidFill>
              </a:rPr>
              <a:t>Feature Sampling(colsample_bytree):80% of features used per tree(Adds further regularization)</a:t>
            </a:r>
          </a:p>
          <a:p>
            <a:pPr marL="342900" indent="-342900">
              <a:buFont typeface="Arial" panose="020B0604020202020204" pitchFamily="34" charset="0"/>
              <a:buChar char="•"/>
            </a:pPr>
            <a:r>
              <a:rPr lang="en-US" sz="2000" dirty="0">
                <a:solidFill>
                  <a:srgbClr val="000000"/>
                </a:solidFill>
                <a:effectLst/>
              </a:rPr>
              <a:t>Parallel processing:n_jobs = -1</a:t>
            </a:r>
            <a:r>
              <a:rPr lang="en-US" sz="2000" b="0" dirty="0">
                <a:solidFill>
                  <a:srgbClr val="000000"/>
                </a:solidFill>
                <a:effectLst/>
              </a:rPr>
              <a:t>(Uses all CPU cores for fast training)</a:t>
            </a:r>
          </a:p>
          <a:p>
            <a:pPr marL="342900" indent="-342900">
              <a:buFont typeface="Arial" panose="020B0604020202020204" pitchFamily="34" charset="0"/>
              <a:buChar char="•"/>
            </a:pPr>
            <a:r>
              <a:rPr lang="en-US" sz="2000" dirty="0">
                <a:solidFill>
                  <a:srgbClr val="000000"/>
                </a:solidFill>
                <a:effectLst/>
              </a:rPr>
              <a:t>Output: Binary Prediction (Fake or Real </a:t>
            </a:r>
            <a:r>
              <a:rPr lang="en-US" sz="2000" dirty="0">
                <a:solidFill>
                  <a:srgbClr val="000000"/>
                </a:solidFill>
              </a:rPr>
              <a:t>)</a:t>
            </a:r>
          </a:p>
        </p:txBody>
      </p:sp>
      <p:graphicFrame>
        <p:nvGraphicFramePr>
          <p:cNvPr id="7" name="Table 6">
            <a:extLst>
              <a:ext uri="{FF2B5EF4-FFF2-40B4-BE49-F238E27FC236}">
                <a16:creationId xmlns:a16="http://schemas.microsoft.com/office/drawing/2014/main" id="{48907E70-5579-65D1-7046-1A386128E449}"/>
              </a:ext>
            </a:extLst>
          </p:cNvPr>
          <p:cNvGraphicFramePr>
            <a:graphicFrameLocks noGrp="1"/>
          </p:cNvGraphicFramePr>
          <p:nvPr>
            <p:extLst>
              <p:ext uri="{D42A27DB-BD31-4B8C-83A1-F6EECF244321}">
                <p14:modId xmlns:p14="http://schemas.microsoft.com/office/powerpoint/2010/main" val="1071538125"/>
              </p:ext>
            </p:extLst>
          </p:nvPr>
        </p:nvGraphicFramePr>
        <p:xfrm>
          <a:off x="5131688" y="1383285"/>
          <a:ext cx="5991225" cy="1150404"/>
        </p:xfrm>
        <a:graphic>
          <a:graphicData uri="http://schemas.openxmlformats.org/drawingml/2006/table">
            <a:tbl>
              <a:tblPr firstRow="1" bandRow="1">
                <a:tableStyleId>{5C22544A-7EE6-4342-B048-85BDC9FD1C3A}</a:tableStyleId>
              </a:tblPr>
              <a:tblGrid>
                <a:gridCol w="1198245">
                  <a:extLst>
                    <a:ext uri="{9D8B030D-6E8A-4147-A177-3AD203B41FA5}">
                      <a16:colId xmlns:a16="http://schemas.microsoft.com/office/drawing/2014/main" val="1824103824"/>
                    </a:ext>
                  </a:extLst>
                </a:gridCol>
                <a:gridCol w="1198245">
                  <a:extLst>
                    <a:ext uri="{9D8B030D-6E8A-4147-A177-3AD203B41FA5}">
                      <a16:colId xmlns:a16="http://schemas.microsoft.com/office/drawing/2014/main" val="2181989826"/>
                    </a:ext>
                  </a:extLst>
                </a:gridCol>
                <a:gridCol w="1198245">
                  <a:extLst>
                    <a:ext uri="{9D8B030D-6E8A-4147-A177-3AD203B41FA5}">
                      <a16:colId xmlns:a16="http://schemas.microsoft.com/office/drawing/2014/main" val="1472622155"/>
                    </a:ext>
                  </a:extLst>
                </a:gridCol>
                <a:gridCol w="1198245">
                  <a:extLst>
                    <a:ext uri="{9D8B030D-6E8A-4147-A177-3AD203B41FA5}">
                      <a16:colId xmlns:a16="http://schemas.microsoft.com/office/drawing/2014/main" val="4032482017"/>
                    </a:ext>
                  </a:extLst>
                </a:gridCol>
                <a:gridCol w="1198245">
                  <a:extLst>
                    <a:ext uri="{9D8B030D-6E8A-4147-A177-3AD203B41FA5}">
                      <a16:colId xmlns:a16="http://schemas.microsoft.com/office/drawing/2014/main" val="2481797693"/>
                    </a:ext>
                  </a:extLst>
                </a:gridCol>
              </a:tblGrid>
              <a:tr h="418884">
                <a:tc>
                  <a:txBody>
                    <a:bodyPr/>
                    <a:lstStyle/>
                    <a:p>
                      <a:endParaRPr lang="en-IN" dirty="0"/>
                    </a:p>
                  </a:txBody>
                  <a:tcPr/>
                </a:tc>
                <a:tc>
                  <a:txBody>
                    <a:bodyPr/>
                    <a:lstStyle/>
                    <a:p>
                      <a:r>
                        <a:rPr lang="en-US" dirty="0"/>
                        <a:t>Precision </a:t>
                      </a:r>
                      <a:endParaRPr lang="en-IN" dirty="0"/>
                    </a:p>
                  </a:txBody>
                  <a:tcPr/>
                </a:tc>
                <a:tc>
                  <a:txBody>
                    <a:bodyPr/>
                    <a:lstStyle/>
                    <a:p>
                      <a:r>
                        <a:rPr lang="en-US" dirty="0"/>
                        <a:t>Recall</a:t>
                      </a:r>
                      <a:endParaRPr lang="en-IN" dirty="0"/>
                    </a:p>
                  </a:txBody>
                  <a:tcPr/>
                </a:tc>
                <a:tc>
                  <a:txBody>
                    <a:bodyPr/>
                    <a:lstStyle/>
                    <a:p>
                      <a:r>
                        <a:rPr lang="en-US" dirty="0"/>
                        <a:t>F1-score</a:t>
                      </a:r>
                      <a:endParaRPr lang="en-IN" dirty="0"/>
                    </a:p>
                  </a:txBody>
                  <a:tcPr/>
                </a:tc>
                <a:tc>
                  <a:txBody>
                    <a:bodyPr/>
                    <a:lstStyle/>
                    <a:p>
                      <a:r>
                        <a:rPr lang="en-US" dirty="0"/>
                        <a:t>Support</a:t>
                      </a:r>
                      <a:endParaRPr lang="en-IN" dirty="0"/>
                    </a:p>
                  </a:txBody>
                  <a:tcPr/>
                </a:tc>
                <a:extLst>
                  <a:ext uri="{0D108BD9-81ED-4DB2-BD59-A6C34878D82A}">
                    <a16:rowId xmlns:a16="http://schemas.microsoft.com/office/drawing/2014/main" val="1269819584"/>
                  </a:ext>
                </a:extLst>
              </a:tr>
              <a:tr h="283129">
                <a:tc>
                  <a:txBody>
                    <a:bodyPr/>
                    <a:lstStyle/>
                    <a:p>
                      <a:r>
                        <a:rPr lang="en-US" dirty="0"/>
                        <a:t>  Fake</a:t>
                      </a:r>
                      <a:endParaRPr lang="en-IN" dirty="0"/>
                    </a:p>
                  </a:txBody>
                  <a:tcPr/>
                </a:tc>
                <a:tc>
                  <a:txBody>
                    <a:bodyPr/>
                    <a:lstStyle/>
                    <a:p>
                      <a:r>
                        <a:rPr lang="en-US" dirty="0"/>
                        <a:t>0.908</a:t>
                      </a:r>
                      <a:endParaRPr lang="en-IN" dirty="0"/>
                    </a:p>
                  </a:txBody>
                  <a:tcPr/>
                </a:tc>
                <a:tc>
                  <a:txBody>
                    <a:bodyPr/>
                    <a:lstStyle/>
                    <a:p>
                      <a:r>
                        <a:rPr lang="en-US" dirty="0"/>
                        <a:t>0.787</a:t>
                      </a:r>
                      <a:endParaRPr lang="en-IN" dirty="0"/>
                    </a:p>
                  </a:txBody>
                  <a:tcPr/>
                </a:tc>
                <a:tc>
                  <a:txBody>
                    <a:bodyPr/>
                    <a:lstStyle/>
                    <a:p>
                      <a:r>
                        <a:rPr lang="en-US" dirty="0"/>
                        <a:t>0.843</a:t>
                      </a:r>
                      <a:endParaRPr lang="en-IN" dirty="0"/>
                    </a:p>
                  </a:txBody>
                  <a:tcPr/>
                </a:tc>
                <a:tc>
                  <a:txBody>
                    <a:bodyPr/>
                    <a:lstStyle/>
                    <a:p>
                      <a:r>
                        <a:rPr lang="en-US" dirty="0"/>
                        <a:t>8066</a:t>
                      </a:r>
                      <a:endParaRPr lang="en-IN" dirty="0"/>
                    </a:p>
                  </a:txBody>
                  <a:tcPr/>
                </a:tc>
                <a:extLst>
                  <a:ext uri="{0D108BD9-81ED-4DB2-BD59-A6C34878D82A}">
                    <a16:rowId xmlns:a16="http://schemas.microsoft.com/office/drawing/2014/main" val="1125190486"/>
                  </a:ext>
                </a:extLst>
              </a:tr>
              <a:tr h="283129">
                <a:tc>
                  <a:txBody>
                    <a:bodyPr/>
                    <a:lstStyle/>
                    <a:p>
                      <a:r>
                        <a:rPr lang="en-US" dirty="0"/>
                        <a:t>  Real</a:t>
                      </a:r>
                      <a:endParaRPr lang="en-IN" dirty="0"/>
                    </a:p>
                  </a:txBody>
                  <a:tcPr/>
                </a:tc>
                <a:tc>
                  <a:txBody>
                    <a:bodyPr/>
                    <a:lstStyle/>
                    <a:p>
                      <a:r>
                        <a:rPr lang="en-US" dirty="0"/>
                        <a:t>0.807</a:t>
                      </a:r>
                      <a:endParaRPr lang="en-IN" dirty="0"/>
                    </a:p>
                  </a:txBody>
                  <a:tcPr/>
                </a:tc>
                <a:tc>
                  <a:txBody>
                    <a:bodyPr/>
                    <a:lstStyle/>
                    <a:p>
                      <a:r>
                        <a:rPr lang="en-US" dirty="0"/>
                        <a:t>0.918</a:t>
                      </a:r>
                      <a:endParaRPr lang="en-IN" dirty="0"/>
                    </a:p>
                  </a:txBody>
                  <a:tcPr/>
                </a:tc>
                <a:tc>
                  <a:txBody>
                    <a:bodyPr/>
                    <a:lstStyle/>
                    <a:p>
                      <a:r>
                        <a:rPr lang="en-US" dirty="0"/>
                        <a:t>0.859</a:t>
                      </a:r>
                      <a:endParaRPr lang="en-IN" dirty="0"/>
                    </a:p>
                  </a:txBody>
                  <a:tcPr/>
                </a:tc>
                <a:tc>
                  <a:txBody>
                    <a:bodyPr/>
                    <a:lstStyle/>
                    <a:p>
                      <a:r>
                        <a:rPr lang="en-US" dirty="0"/>
                        <a:t>7827</a:t>
                      </a:r>
                      <a:endParaRPr lang="en-IN" dirty="0"/>
                    </a:p>
                  </a:txBody>
                  <a:tcPr/>
                </a:tc>
                <a:extLst>
                  <a:ext uri="{0D108BD9-81ED-4DB2-BD59-A6C34878D82A}">
                    <a16:rowId xmlns:a16="http://schemas.microsoft.com/office/drawing/2014/main" val="1667289240"/>
                  </a:ext>
                </a:extLst>
              </a:tr>
            </a:tbl>
          </a:graphicData>
        </a:graphic>
      </p:graphicFrame>
      <p:sp>
        <p:nvSpPr>
          <p:cNvPr id="5" name="Footer Placeholder 2">
            <a:extLst>
              <a:ext uri="{FF2B5EF4-FFF2-40B4-BE49-F238E27FC236}">
                <a16:creationId xmlns:a16="http://schemas.microsoft.com/office/drawing/2014/main" id="{67D4D3BD-44C3-AD6A-0199-D034ABA16630}"/>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2886279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63DC1-FB36-C83D-BE4A-751BDB80D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B2B1A-11AC-7632-3357-DCFC69E16963}"/>
              </a:ext>
            </a:extLst>
          </p:cNvPr>
          <p:cNvSpPr>
            <a:spLocks noGrp="1"/>
          </p:cNvSpPr>
          <p:nvPr>
            <p:ph type="title"/>
          </p:nvPr>
        </p:nvSpPr>
        <p:spPr/>
        <p:txBody>
          <a:bodyPr>
            <a:normAutofit/>
          </a:bodyPr>
          <a:lstStyle/>
          <a:p>
            <a:r>
              <a:rPr lang="en-US" dirty="0"/>
              <a:t>Third Attempt : Using LSTM</a:t>
            </a:r>
          </a:p>
        </p:txBody>
      </p:sp>
      <p:sp>
        <p:nvSpPr>
          <p:cNvPr id="4" name="Slide Number Placeholder 3">
            <a:extLst>
              <a:ext uri="{FF2B5EF4-FFF2-40B4-BE49-F238E27FC236}">
                <a16:creationId xmlns:a16="http://schemas.microsoft.com/office/drawing/2014/main" id="{371D6978-6C3A-5DDB-080E-EFFF7B98D0FF}"/>
              </a:ext>
            </a:extLst>
          </p:cNvPr>
          <p:cNvSpPr>
            <a:spLocks noGrp="1"/>
          </p:cNvSpPr>
          <p:nvPr>
            <p:ph type="sldNum" sz="quarter" idx="12"/>
          </p:nvPr>
        </p:nvSpPr>
        <p:spPr/>
        <p:txBody>
          <a:bodyPr/>
          <a:lstStyle/>
          <a:p>
            <a:fld id="{BF1758FF-0BF1-4103-A89A-38EC40E85429}" type="slidenum">
              <a:rPr lang="en-SG" smtClean="0"/>
              <a:t>22</a:t>
            </a:fld>
            <a:endParaRPr lang="en-SG" dirty="0"/>
          </a:p>
        </p:txBody>
      </p:sp>
      <p:sp>
        <p:nvSpPr>
          <p:cNvPr id="8" name="TextBox 7">
            <a:extLst>
              <a:ext uri="{FF2B5EF4-FFF2-40B4-BE49-F238E27FC236}">
                <a16:creationId xmlns:a16="http://schemas.microsoft.com/office/drawing/2014/main" id="{B06A485C-4649-59EC-D011-3EE62D363C8F}"/>
              </a:ext>
            </a:extLst>
          </p:cNvPr>
          <p:cNvSpPr txBox="1"/>
          <p:nvPr/>
        </p:nvSpPr>
        <p:spPr>
          <a:xfrm>
            <a:off x="363984" y="951722"/>
            <a:ext cx="11243298" cy="5632311"/>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Bidirectional LSTM Model                         Classification Report</a:t>
            </a:r>
          </a:p>
          <a:p>
            <a:pPr marL="457200" indent="-457200">
              <a:buFont typeface="Arial" panose="020B0604020202020204" pitchFamily="34" charset="0"/>
              <a:buChar char="•"/>
            </a:pPr>
            <a:endParaRPr lang="en-US" dirty="0">
              <a:solidFill>
                <a:srgbClr val="000000"/>
              </a:solidFill>
            </a:endParaRPr>
          </a:p>
          <a:p>
            <a:pPr marL="457200" indent="-457200">
              <a:buFont typeface="Arial" panose="020B0604020202020204" pitchFamily="34" charset="0"/>
              <a:buChar char="•"/>
            </a:pPr>
            <a:r>
              <a:rPr lang="en-US" dirty="0">
                <a:solidFill>
                  <a:srgbClr val="000000"/>
                </a:solidFill>
              </a:rPr>
              <a:t>Accuracy : 86.26%</a:t>
            </a:r>
          </a:p>
          <a:p>
            <a:pPr marL="457200" indent="-457200">
              <a:buFont typeface="Arial" panose="020B0604020202020204" pitchFamily="34" charset="0"/>
              <a:buChar char="•"/>
            </a:pPr>
            <a:r>
              <a:rPr lang="en-US" dirty="0">
                <a:solidFill>
                  <a:srgbClr val="000000"/>
                </a:solidFill>
              </a:rPr>
              <a:t>ROC AUC : 0.87</a:t>
            </a:r>
          </a:p>
          <a:p>
            <a:endParaRPr lang="en-US" b="1" dirty="0">
              <a:solidFill>
                <a:srgbClr val="000080"/>
              </a:solidFill>
              <a:latin typeface="Microsoft YaHei" panose="020B0503020204020204" pitchFamily="34" charset="-122"/>
              <a:ea typeface="Microsoft YaHei" panose="020B0503020204020204" pitchFamily="34" charset="-122"/>
            </a:endParaRPr>
          </a:p>
          <a:p>
            <a:endParaRPr lang="en-US" b="1" dirty="0">
              <a:solidFill>
                <a:srgbClr val="000080"/>
              </a:solidFill>
              <a:latin typeface="Microsoft YaHei" panose="020B0503020204020204" pitchFamily="34" charset="-122"/>
              <a:ea typeface="Microsoft YaHei" panose="020B0503020204020204" pitchFamily="34" charset="-122"/>
            </a:endParaRPr>
          </a:p>
          <a:p>
            <a:endParaRPr lang="en-US" b="1" dirty="0">
              <a:solidFill>
                <a:srgbClr val="000080"/>
              </a:solidFill>
              <a:latin typeface="Microsoft YaHei" panose="020B0503020204020204" pitchFamily="34" charset="-122"/>
              <a:ea typeface="Microsoft YaHei" panose="020B0503020204020204" pitchFamily="34" charset="-122"/>
            </a:endParaRPr>
          </a:p>
          <a:p>
            <a:r>
              <a:rPr lang="en-US" b="1" dirty="0">
                <a:solidFill>
                  <a:srgbClr val="000080"/>
                </a:solidFill>
                <a:latin typeface="Microsoft YaHei" panose="020B0503020204020204" pitchFamily="34" charset="-122"/>
                <a:ea typeface="Microsoft YaHei" panose="020B0503020204020204" pitchFamily="34" charset="-122"/>
              </a:rPr>
              <a:t>Architecture/Hyperparameter, </a:t>
            </a:r>
          </a:p>
          <a:p>
            <a:pPr marL="342900" indent="-342900">
              <a:buFont typeface="Arial" panose="020B0604020202020204" pitchFamily="34" charset="0"/>
              <a:buChar char="•"/>
            </a:pPr>
            <a:r>
              <a:rPr lang="en-US" dirty="0">
                <a:solidFill>
                  <a:srgbClr val="000000"/>
                </a:solidFill>
              </a:rPr>
              <a:t>Embedding Layer (10,000 vocab → 64 dimensions)</a:t>
            </a:r>
          </a:p>
          <a:p>
            <a:pPr marL="342900" indent="-342900">
              <a:buFont typeface="Arial" panose="020B0604020202020204" pitchFamily="34" charset="0"/>
              <a:buChar char="•"/>
            </a:pPr>
            <a:r>
              <a:rPr lang="en-US" dirty="0">
                <a:solidFill>
                  <a:srgbClr val="000000"/>
                </a:solidFill>
              </a:rPr>
              <a:t>Bidirectional LSTM (64 units) ← reads forward &amp; backward</a:t>
            </a:r>
          </a:p>
          <a:p>
            <a:pPr marL="342900" indent="-342900">
              <a:buFont typeface="Arial" panose="020B0604020202020204" pitchFamily="34" charset="0"/>
              <a:buChar char="•"/>
            </a:pPr>
            <a:r>
              <a:rPr lang="en-US" dirty="0">
                <a:solidFill>
                  <a:srgbClr val="000000"/>
                </a:solidFill>
              </a:rPr>
              <a:t>Bidirectional LSTM (16 units)</a:t>
            </a:r>
          </a:p>
          <a:p>
            <a:pPr marL="342900" indent="-342900">
              <a:buFont typeface="Arial" panose="020B0604020202020204" pitchFamily="34" charset="0"/>
              <a:buChar char="•"/>
            </a:pPr>
            <a:r>
              <a:rPr lang="en-US" dirty="0">
                <a:solidFill>
                  <a:srgbClr val="000000"/>
                </a:solidFill>
              </a:rPr>
              <a:t>Dense Layer (64 neurons, ReLU activation)</a:t>
            </a:r>
          </a:p>
          <a:p>
            <a:pPr marL="342900" indent="-342900">
              <a:buFont typeface="Arial" panose="020B0604020202020204" pitchFamily="34" charset="0"/>
              <a:buChar char="•"/>
            </a:pPr>
            <a:r>
              <a:rPr lang="en-US" dirty="0">
                <a:solidFill>
                  <a:srgbClr val="000000"/>
                </a:solidFill>
              </a:rPr>
              <a:t>Dropout (50% - prevents overfitting)</a:t>
            </a:r>
          </a:p>
          <a:p>
            <a:pPr marL="342900" indent="-342900">
              <a:buFont typeface="Arial" panose="020B0604020202020204" pitchFamily="34" charset="0"/>
              <a:buChar char="•"/>
            </a:pPr>
            <a:r>
              <a:rPr lang="en-US" dirty="0">
                <a:solidFill>
                  <a:srgbClr val="000000"/>
                </a:solidFill>
              </a:rPr>
              <a:t>Output (1 neuron, sigmoid) → Fake or Real?</a:t>
            </a:r>
          </a:p>
          <a:p>
            <a:endParaRPr lang="en-US" dirty="0">
              <a:solidFill>
                <a:srgbClr val="000000"/>
              </a:solidFill>
            </a:endParaRPr>
          </a:p>
          <a:p>
            <a:r>
              <a:rPr lang="en-US" b="1" dirty="0">
                <a:solidFill>
                  <a:srgbClr val="000080"/>
                </a:solidFill>
                <a:latin typeface="Microsoft YaHei" panose="020B0503020204020204" pitchFamily="34" charset="-122"/>
                <a:ea typeface="Microsoft YaHei" panose="020B0503020204020204" pitchFamily="34" charset="-122"/>
              </a:rPr>
              <a:t>Training Process, </a:t>
            </a:r>
          </a:p>
          <a:p>
            <a:pPr marL="342900" indent="-342900">
              <a:buFont typeface="Arial" panose="020B0604020202020204" pitchFamily="34" charset="0"/>
              <a:buChar char="•"/>
            </a:pPr>
            <a:r>
              <a:rPr lang="en-US" dirty="0">
                <a:solidFill>
                  <a:srgbClr val="000000"/>
                </a:solidFill>
              </a:rPr>
              <a:t>Batch size: 30</a:t>
            </a:r>
          </a:p>
          <a:p>
            <a:pPr marL="342900" indent="-342900">
              <a:buFont typeface="Arial" panose="020B0604020202020204" pitchFamily="34" charset="0"/>
              <a:buChar char="•"/>
            </a:pPr>
            <a:r>
              <a:rPr lang="en-US" dirty="0">
                <a:solidFill>
                  <a:srgbClr val="000000"/>
                </a:solidFill>
              </a:rPr>
              <a:t>Optimizer: Adam (lr=0.0001)</a:t>
            </a:r>
          </a:p>
          <a:p>
            <a:pPr marL="342900" indent="-342900">
              <a:buFont typeface="Arial" panose="020B0604020202020204" pitchFamily="34" charset="0"/>
              <a:buChar char="•"/>
            </a:pPr>
            <a:r>
              <a:rPr lang="en-US" dirty="0">
                <a:solidFill>
                  <a:srgbClr val="000000"/>
                </a:solidFill>
              </a:rPr>
              <a:t>Early stopping: Patience = 2 epochs</a:t>
            </a:r>
          </a:p>
          <a:p>
            <a:pPr marL="342900" indent="-342900">
              <a:buFont typeface="Arial" panose="020B0604020202020204" pitchFamily="34" charset="0"/>
              <a:buChar char="•"/>
            </a:pPr>
            <a:r>
              <a:rPr lang="en-US" dirty="0">
                <a:solidFill>
                  <a:srgbClr val="000000"/>
                </a:solidFill>
              </a:rPr>
              <a:t>Max epochs: 10</a:t>
            </a:r>
          </a:p>
        </p:txBody>
      </p:sp>
      <p:graphicFrame>
        <p:nvGraphicFramePr>
          <p:cNvPr id="7" name="Table 6">
            <a:extLst>
              <a:ext uri="{FF2B5EF4-FFF2-40B4-BE49-F238E27FC236}">
                <a16:creationId xmlns:a16="http://schemas.microsoft.com/office/drawing/2014/main" id="{18799B0E-D805-EF08-0F45-01FC824CF355}"/>
              </a:ext>
            </a:extLst>
          </p:cNvPr>
          <p:cNvGraphicFramePr>
            <a:graphicFrameLocks noGrp="1"/>
          </p:cNvGraphicFramePr>
          <p:nvPr>
            <p:extLst>
              <p:ext uri="{D42A27DB-BD31-4B8C-83A1-F6EECF244321}">
                <p14:modId xmlns:p14="http://schemas.microsoft.com/office/powerpoint/2010/main" val="2776997605"/>
              </p:ext>
            </p:extLst>
          </p:nvPr>
        </p:nvGraphicFramePr>
        <p:xfrm>
          <a:off x="5132242" y="1374048"/>
          <a:ext cx="5991225" cy="1150404"/>
        </p:xfrm>
        <a:graphic>
          <a:graphicData uri="http://schemas.openxmlformats.org/drawingml/2006/table">
            <a:tbl>
              <a:tblPr firstRow="1" bandRow="1">
                <a:tableStyleId>{5C22544A-7EE6-4342-B048-85BDC9FD1C3A}</a:tableStyleId>
              </a:tblPr>
              <a:tblGrid>
                <a:gridCol w="1198245">
                  <a:extLst>
                    <a:ext uri="{9D8B030D-6E8A-4147-A177-3AD203B41FA5}">
                      <a16:colId xmlns:a16="http://schemas.microsoft.com/office/drawing/2014/main" val="1824103824"/>
                    </a:ext>
                  </a:extLst>
                </a:gridCol>
                <a:gridCol w="1198245">
                  <a:extLst>
                    <a:ext uri="{9D8B030D-6E8A-4147-A177-3AD203B41FA5}">
                      <a16:colId xmlns:a16="http://schemas.microsoft.com/office/drawing/2014/main" val="2181989826"/>
                    </a:ext>
                  </a:extLst>
                </a:gridCol>
                <a:gridCol w="1198245">
                  <a:extLst>
                    <a:ext uri="{9D8B030D-6E8A-4147-A177-3AD203B41FA5}">
                      <a16:colId xmlns:a16="http://schemas.microsoft.com/office/drawing/2014/main" val="1472622155"/>
                    </a:ext>
                  </a:extLst>
                </a:gridCol>
                <a:gridCol w="1198245">
                  <a:extLst>
                    <a:ext uri="{9D8B030D-6E8A-4147-A177-3AD203B41FA5}">
                      <a16:colId xmlns:a16="http://schemas.microsoft.com/office/drawing/2014/main" val="4032482017"/>
                    </a:ext>
                  </a:extLst>
                </a:gridCol>
                <a:gridCol w="1198245">
                  <a:extLst>
                    <a:ext uri="{9D8B030D-6E8A-4147-A177-3AD203B41FA5}">
                      <a16:colId xmlns:a16="http://schemas.microsoft.com/office/drawing/2014/main" val="2481797693"/>
                    </a:ext>
                  </a:extLst>
                </a:gridCol>
              </a:tblGrid>
              <a:tr h="418884">
                <a:tc>
                  <a:txBody>
                    <a:bodyPr/>
                    <a:lstStyle/>
                    <a:p>
                      <a:endParaRPr lang="en-IN" dirty="0"/>
                    </a:p>
                  </a:txBody>
                  <a:tcPr/>
                </a:tc>
                <a:tc>
                  <a:txBody>
                    <a:bodyPr/>
                    <a:lstStyle/>
                    <a:p>
                      <a:r>
                        <a:rPr lang="en-US" dirty="0"/>
                        <a:t>Precision </a:t>
                      </a:r>
                      <a:endParaRPr lang="en-IN" dirty="0"/>
                    </a:p>
                  </a:txBody>
                  <a:tcPr/>
                </a:tc>
                <a:tc>
                  <a:txBody>
                    <a:bodyPr/>
                    <a:lstStyle/>
                    <a:p>
                      <a:r>
                        <a:rPr lang="en-US" dirty="0"/>
                        <a:t>Recall</a:t>
                      </a:r>
                      <a:endParaRPr lang="en-IN" dirty="0"/>
                    </a:p>
                  </a:txBody>
                  <a:tcPr/>
                </a:tc>
                <a:tc>
                  <a:txBody>
                    <a:bodyPr/>
                    <a:lstStyle/>
                    <a:p>
                      <a:r>
                        <a:rPr lang="en-US" dirty="0"/>
                        <a:t>F1-score</a:t>
                      </a:r>
                      <a:endParaRPr lang="en-IN" dirty="0"/>
                    </a:p>
                  </a:txBody>
                  <a:tcPr/>
                </a:tc>
                <a:tc>
                  <a:txBody>
                    <a:bodyPr/>
                    <a:lstStyle/>
                    <a:p>
                      <a:r>
                        <a:rPr lang="en-US" dirty="0"/>
                        <a:t>Support</a:t>
                      </a:r>
                      <a:endParaRPr lang="en-IN" dirty="0"/>
                    </a:p>
                  </a:txBody>
                  <a:tcPr/>
                </a:tc>
                <a:extLst>
                  <a:ext uri="{0D108BD9-81ED-4DB2-BD59-A6C34878D82A}">
                    <a16:rowId xmlns:a16="http://schemas.microsoft.com/office/drawing/2014/main" val="1269819584"/>
                  </a:ext>
                </a:extLst>
              </a:tr>
              <a:tr h="283129">
                <a:tc>
                  <a:txBody>
                    <a:bodyPr/>
                    <a:lstStyle/>
                    <a:p>
                      <a:r>
                        <a:rPr lang="en-US" dirty="0"/>
                        <a:t>  Fake</a:t>
                      </a:r>
                      <a:endParaRPr lang="en-IN" dirty="0"/>
                    </a:p>
                  </a:txBody>
                  <a:tcPr/>
                </a:tc>
                <a:tc>
                  <a:txBody>
                    <a:bodyPr/>
                    <a:lstStyle/>
                    <a:p>
                      <a:r>
                        <a:rPr lang="en-US" dirty="0"/>
                        <a:t>0.860</a:t>
                      </a:r>
                      <a:endParaRPr lang="en-IN" dirty="0"/>
                    </a:p>
                  </a:txBody>
                  <a:tcPr/>
                </a:tc>
                <a:tc>
                  <a:txBody>
                    <a:bodyPr/>
                    <a:lstStyle/>
                    <a:p>
                      <a:r>
                        <a:rPr lang="en-US" dirty="0"/>
                        <a:t>0.871</a:t>
                      </a:r>
                      <a:endParaRPr lang="en-IN" dirty="0"/>
                    </a:p>
                  </a:txBody>
                  <a:tcPr/>
                </a:tc>
                <a:tc>
                  <a:txBody>
                    <a:bodyPr/>
                    <a:lstStyle/>
                    <a:p>
                      <a:r>
                        <a:rPr lang="en-US" dirty="0"/>
                        <a:t>0.865</a:t>
                      </a:r>
                      <a:endParaRPr lang="en-IN" dirty="0"/>
                    </a:p>
                  </a:txBody>
                  <a:tcPr/>
                </a:tc>
                <a:tc>
                  <a:txBody>
                    <a:bodyPr/>
                    <a:lstStyle/>
                    <a:p>
                      <a:r>
                        <a:rPr lang="en-US" dirty="0"/>
                        <a:t>8066</a:t>
                      </a:r>
                      <a:endParaRPr lang="en-IN" dirty="0"/>
                    </a:p>
                  </a:txBody>
                  <a:tcPr/>
                </a:tc>
                <a:extLst>
                  <a:ext uri="{0D108BD9-81ED-4DB2-BD59-A6C34878D82A}">
                    <a16:rowId xmlns:a16="http://schemas.microsoft.com/office/drawing/2014/main" val="1125190486"/>
                  </a:ext>
                </a:extLst>
              </a:tr>
              <a:tr h="283129">
                <a:tc>
                  <a:txBody>
                    <a:bodyPr/>
                    <a:lstStyle/>
                    <a:p>
                      <a:r>
                        <a:rPr lang="en-US" dirty="0"/>
                        <a:t>  Real</a:t>
                      </a:r>
                      <a:endParaRPr lang="en-IN" dirty="0"/>
                    </a:p>
                  </a:txBody>
                  <a:tcPr/>
                </a:tc>
                <a:tc>
                  <a:txBody>
                    <a:bodyPr/>
                    <a:lstStyle/>
                    <a:p>
                      <a:r>
                        <a:rPr lang="en-US" dirty="0"/>
                        <a:t>0.865</a:t>
                      </a:r>
                      <a:endParaRPr lang="en-IN" dirty="0"/>
                    </a:p>
                  </a:txBody>
                  <a:tcPr/>
                </a:tc>
                <a:tc>
                  <a:txBody>
                    <a:bodyPr/>
                    <a:lstStyle/>
                    <a:p>
                      <a:r>
                        <a:rPr lang="en-US" dirty="0"/>
                        <a:t>0.854</a:t>
                      </a:r>
                      <a:endParaRPr lang="en-IN" dirty="0"/>
                    </a:p>
                  </a:txBody>
                  <a:tcPr/>
                </a:tc>
                <a:tc>
                  <a:txBody>
                    <a:bodyPr/>
                    <a:lstStyle/>
                    <a:p>
                      <a:r>
                        <a:rPr lang="en-US" dirty="0"/>
                        <a:t>0.860</a:t>
                      </a:r>
                      <a:endParaRPr lang="en-IN" dirty="0"/>
                    </a:p>
                  </a:txBody>
                  <a:tcPr/>
                </a:tc>
                <a:tc>
                  <a:txBody>
                    <a:bodyPr/>
                    <a:lstStyle/>
                    <a:p>
                      <a:r>
                        <a:rPr lang="en-US" dirty="0"/>
                        <a:t>7827</a:t>
                      </a:r>
                      <a:endParaRPr lang="en-IN" dirty="0"/>
                    </a:p>
                  </a:txBody>
                  <a:tcPr/>
                </a:tc>
                <a:extLst>
                  <a:ext uri="{0D108BD9-81ED-4DB2-BD59-A6C34878D82A}">
                    <a16:rowId xmlns:a16="http://schemas.microsoft.com/office/drawing/2014/main" val="1667289240"/>
                  </a:ext>
                </a:extLst>
              </a:tr>
            </a:tbl>
          </a:graphicData>
        </a:graphic>
      </p:graphicFrame>
      <p:sp>
        <p:nvSpPr>
          <p:cNvPr id="5" name="Footer Placeholder 2">
            <a:extLst>
              <a:ext uri="{FF2B5EF4-FFF2-40B4-BE49-F238E27FC236}">
                <a16:creationId xmlns:a16="http://schemas.microsoft.com/office/drawing/2014/main" id="{F9B9AA26-097D-06EB-47BF-3E8DC5830D39}"/>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pic>
        <p:nvPicPr>
          <p:cNvPr id="3" name="Picture 2">
            <a:extLst>
              <a:ext uri="{FF2B5EF4-FFF2-40B4-BE49-F238E27FC236}">
                <a16:creationId xmlns:a16="http://schemas.microsoft.com/office/drawing/2014/main" id="{06B0912E-EEC5-5C3F-C8A6-D5B9722D0033}"/>
              </a:ext>
            </a:extLst>
          </p:cNvPr>
          <p:cNvPicPr>
            <a:picLocks noChangeAspect="1"/>
          </p:cNvPicPr>
          <p:nvPr/>
        </p:nvPicPr>
        <p:blipFill>
          <a:blip r:embed="rId2"/>
          <a:stretch>
            <a:fillRect/>
          </a:stretch>
        </p:blipFill>
        <p:spPr>
          <a:xfrm>
            <a:off x="6681135" y="3467775"/>
            <a:ext cx="4442332" cy="2408807"/>
          </a:xfrm>
          <a:prstGeom prst="rect">
            <a:avLst/>
          </a:prstGeom>
        </p:spPr>
      </p:pic>
    </p:spTree>
    <p:extLst>
      <p:ext uri="{BB962C8B-B14F-4D97-AF65-F5344CB8AC3E}">
        <p14:creationId xmlns:p14="http://schemas.microsoft.com/office/powerpoint/2010/main" val="3671398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2E000-1F5B-4323-78CD-D2C335962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7CF51-204F-D7AD-AF18-74B96B5C1597}"/>
              </a:ext>
            </a:extLst>
          </p:cNvPr>
          <p:cNvSpPr>
            <a:spLocks noGrp="1"/>
          </p:cNvSpPr>
          <p:nvPr>
            <p:ph type="title"/>
          </p:nvPr>
        </p:nvSpPr>
        <p:spPr/>
        <p:txBody>
          <a:bodyPr>
            <a:normAutofit/>
          </a:bodyPr>
          <a:lstStyle/>
          <a:p>
            <a:r>
              <a:rPr lang="en-US" dirty="0"/>
              <a:t>The Moment of Truth : Model Comparison</a:t>
            </a:r>
          </a:p>
        </p:txBody>
      </p:sp>
      <p:sp>
        <p:nvSpPr>
          <p:cNvPr id="4" name="Slide Number Placeholder 3">
            <a:extLst>
              <a:ext uri="{FF2B5EF4-FFF2-40B4-BE49-F238E27FC236}">
                <a16:creationId xmlns:a16="http://schemas.microsoft.com/office/drawing/2014/main" id="{26E22274-937A-A175-7CE5-6B70B301CDA2}"/>
              </a:ext>
            </a:extLst>
          </p:cNvPr>
          <p:cNvSpPr>
            <a:spLocks noGrp="1"/>
          </p:cNvSpPr>
          <p:nvPr>
            <p:ph type="sldNum" sz="quarter" idx="12"/>
          </p:nvPr>
        </p:nvSpPr>
        <p:spPr/>
        <p:txBody>
          <a:bodyPr/>
          <a:lstStyle/>
          <a:p>
            <a:fld id="{BF1758FF-0BF1-4103-A89A-38EC40E85429}" type="slidenum">
              <a:rPr lang="en-SG" smtClean="0"/>
              <a:t>23</a:t>
            </a:fld>
            <a:endParaRPr lang="en-SG" dirty="0"/>
          </a:p>
        </p:txBody>
      </p:sp>
      <p:sp>
        <p:nvSpPr>
          <p:cNvPr id="11" name="TextBox 10">
            <a:extLst>
              <a:ext uri="{FF2B5EF4-FFF2-40B4-BE49-F238E27FC236}">
                <a16:creationId xmlns:a16="http://schemas.microsoft.com/office/drawing/2014/main" id="{D934B992-6C2F-C722-4554-B1BFE03508C4}"/>
              </a:ext>
            </a:extLst>
          </p:cNvPr>
          <p:cNvSpPr txBox="1"/>
          <p:nvPr/>
        </p:nvSpPr>
        <p:spPr>
          <a:xfrm>
            <a:off x="452487" y="1168923"/>
            <a:ext cx="5643513" cy="369332"/>
          </a:xfrm>
          <a:prstGeom prst="rect">
            <a:avLst/>
          </a:prstGeom>
          <a:noFill/>
        </p:spPr>
        <p:txBody>
          <a:bodyPr wrap="square">
            <a:spAutoFit/>
          </a:bodyPr>
          <a:lstStyle/>
          <a:p>
            <a:endParaRPr lang="en-IN" dirty="0"/>
          </a:p>
        </p:txBody>
      </p:sp>
      <p:graphicFrame>
        <p:nvGraphicFramePr>
          <p:cNvPr id="13" name="Table 12">
            <a:extLst>
              <a:ext uri="{FF2B5EF4-FFF2-40B4-BE49-F238E27FC236}">
                <a16:creationId xmlns:a16="http://schemas.microsoft.com/office/drawing/2014/main" id="{17F9400D-E2BD-F0B2-9F58-F4D7A4580162}"/>
              </a:ext>
            </a:extLst>
          </p:cNvPr>
          <p:cNvGraphicFramePr>
            <a:graphicFrameLocks noGrp="1"/>
          </p:cNvGraphicFramePr>
          <p:nvPr>
            <p:extLst>
              <p:ext uri="{D42A27DB-BD31-4B8C-83A1-F6EECF244321}">
                <p14:modId xmlns:p14="http://schemas.microsoft.com/office/powerpoint/2010/main" val="3521278918"/>
              </p:ext>
            </p:extLst>
          </p:nvPr>
        </p:nvGraphicFramePr>
        <p:xfrm>
          <a:off x="654370" y="4076045"/>
          <a:ext cx="4640537" cy="2273119"/>
        </p:xfrm>
        <a:graphic>
          <a:graphicData uri="http://schemas.openxmlformats.org/drawingml/2006/table">
            <a:tbl>
              <a:tblPr>
                <a:tableStyleId>{5C22544A-7EE6-4342-B048-85BDC9FD1C3A}</a:tableStyleId>
              </a:tblPr>
              <a:tblGrid>
                <a:gridCol w="945055">
                  <a:extLst>
                    <a:ext uri="{9D8B030D-6E8A-4147-A177-3AD203B41FA5}">
                      <a16:colId xmlns:a16="http://schemas.microsoft.com/office/drawing/2014/main" val="2499605227"/>
                    </a:ext>
                  </a:extLst>
                </a:gridCol>
                <a:gridCol w="1696696">
                  <a:extLst>
                    <a:ext uri="{9D8B030D-6E8A-4147-A177-3AD203B41FA5}">
                      <a16:colId xmlns:a16="http://schemas.microsoft.com/office/drawing/2014/main" val="3509453629"/>
                    </a:ext>
                  </a:extLst>
                </a:gridCol>
                <a:gridCol w="1998786">
                  <a:extLst>
                    <a:ext uri="{9D8B030D-6E8A-4147-A177-3AD203B41FA5}">
                      <a16:colId xmlns:a16="http://schemas.microsoft.com/office/drawing/2014/main" val="2234749009"/>
                    </a:ext>
                  </a:extLst>
                </a:gridCol>
              </a:tblGrid>
              <a:tr h="230681">
                <a:tc>
                  <a:txBody>
                    <a:bodyPr/>
                    <a:lstStyle/>
                    <a:p>
                      <a:pPr algn="ctr" rtl="0" fontAlgn="ctr">
                        <a:buNone/>
                      </a:pPr>
                      <a:r>
                        <a:rPr lang="en-IN" sz="1100" b="1" u="none" strike="noStrike" dirty="0">
                          <a:effectLst/>
                        </a:rPr>
                        <a:t>Metric</a:t>
                      </a:r>
                      <a:endParaRPr lang="en-IN" sz="1100" b="1" i="0" u="none" strike="noStrike" dirty="0">
                        <a:solidFill>
                          <a:srgbClr val="1F1F1F"/>
                        </a:solidFill>
                        <a:effectLst/>
                        <a:latin typeface="Arial" panose="020B0604020202020204" pitchFamily="34" charset="0"/>
                      </a:endParaRPr>
                    </a:p>
                  </a:txBody>
                  <a:tcPr marL="6350" marR="6350" marT="6350" marB="0" anchor="ctr">
                    <a:solidFill>
                      <a:srgbClr val="B7DAF7"/>
                    </a:solidFill>
                  </a:tcPr>
                </a:tc>
                <a:tc>
                  <a:txBody>
                    <a:bodyPr/>
                    <a:lstStyle/>
                    <a:p>
                      <a:pPr algn="ctr" rtl="0" fontAlgn="ctr">
                        <a:buNone/>
                      </a:pPr>
                      <a:r>
                        <a:rPr lang="en-IN" sz="1100" b="1" u="none" strike="noStrike" dirty="0">
                          <a:effectLst/>
                        </a:rPr>
                        <a:t>Observation (Green Line)</a:t>
                      </a:r>
                      <a:endParaRPr lang="en-IN" sz="1100" b="1" i="0" u="none" strike="noStrike" dirty="0">
                        <a:solidFill>
                          <a:srgbClr val="1F1F1F"/>
                        </a:solidFill>
                        <a:effectLst/>
                        <a:latin typeface="Arial" panose="020B0604020202020204" pitchFamily="34" charset="0"/>
                      </a:endParaRPr>
                    </a:p>
                  </a:txBody>
                  <a:tcPr marL="6350" marR="6350" marT="6350" marB="0" anchor="ctr">
                    <a:solidFill>
                      <a:srgbClr val="B7DAF7"/>
                    </a:solidFill>
                  </a:tcPr>
                </a:tc>
                <a:tc>
                  <a:txBody>
                    <a:bodyPr/>
                    <a:lstStyle/>
                    <a:p>
                      <a:pPr algn="ctr" rtl="0" fontAlgn="ctr">
                        <a:buNone/>
                      </a:pPr>
                      <a:r>
                        <a:rPr lang="en-IN" sz="1100" b="1" u="none" strike="noStrike" dirty="0">
                          <a:effectLst/>
                        </a:rPr>
                        <a:t>Strategic Implication</a:t>
                      </a:r>
                      <a:endParaRPr lang="en-IN" sz="1100" b="1" i="0" u="none" strike="noStrike" dirty="0">
                        <a:solidFill>
                          <a:srgbClr val="1F1F1F"/>
                        </a:solidFill>
                        <a:effectLst/>
                        <a:latin typeface="Arial" panose="020B0604020202020204" pitchFamily="34" charset="0"/>
                      </a:endParaRPr>
                    </a:p>
                  </a:txBody>
                  <a:tcPr marL="6350" marR="6350" marT="6350" marB="0" anchor="ctr">
                    <a:solidFill>
                      <a:srgbClr val="B7DAF7"/>
                    </a:solidFill>
                  </a:tcPr>
                </a:tc>
                <a:extLst>
                  <a:ext uri="{0D108BD9-81ED-4DB2-BD59-A6C34878D82A}">
                    <a16:rowId xmlns:a16="http://schemas.microsoft.com/office/drawing/2014/main" val="2317711743"/>
                  </a:ext>
                </a:extLst>
              </a:tr>
              <a:tr h="488954">
                <a:tc>
                  <a:txBody>
                    <a:bodyPr/>
                    <a:lstStyle/>
                    <a:p>
                      <a:pPr algn="ctr" rtl="0" fontAlgn="ctr">
                        <a:buNone/>
                      </a:pPr>
                      <a:r>
                        <a:rPr lang="en-IN" sz="1100" u="none" strike="noStrike" dirty="0">
                          <a:effectLst/>
                        </a:rPr>
                        <a:t>Initial Precision</a:t>
                      </a:r>
                      <a:endParaRPr lang="en-IN" sz="1100" b="1" i="0" u="none" strike="noStrike" dirty="0">
                        <a:solidFill>
                          <a:srgbClr val="1F1F1F"/>
                        </a:solidFill>
                        <a:effectLst/>
                        <a:latin typeface="Arial" panose="020B0604020202020204" pitchFamily="34" charset="0"/>
                      </a:endParaRPr>
                    </a:p>
                  </a:txBody>
                  <a:tcPr marL="6350" marR="6350" marT="6350" marB="0" anchor="ctr"/>
                </a:tc>
                <a:tc>
                  <a:txBody>
                    <a:bodyPr/>
                    <a:lstStyle/>
                    <a:p>
                      <a:pPr algn="ctr" rtl="0" fontAlgn="ctr">
                        <a:buNone/>
                      </a:pPr>
                      <a:r>
                        <a:rPr lang="en-US" sz="1100" u="none" strike="noStrike" dirty="0">
                          <a:effectLst/>
                        </a:rPr>
                        <a:t>Achieves 100% Precision at low Recall.</a:t>
                      </a:r>
                      <a:endParaRPr lang="en-US" sz="1100" b="0" i="0" u="none" strike="noStrike" dirty="0">
                        <a:solidFill>
                          <a:srgbClr val="1F1F1F"/>
                        </a:solidFill>
                        <a:effectLst/>
                        <a:latin typeface="Arial" panose="020B0604020202020204" pitchFamily="34" charset="0"/>
                      </a:endParaRPr>
                    </a:p>
                  </a:txBody>
                  <a:tcPr marL="6350" marR="6350" marT="6350" marB="0" anchor="ctr"/>
                </a:tc>
                <a:tc>
                  <a:txBody>
                    <a:bodyPr/>
                    <a:lstStyle/>
                    <a:p>
                      <a:pPr algn="ctr" rtl="0" fontAlgn="ctr">
                        <a:buNone/>
                      </a:pPr>
                      <a:r>
                        <a:rPr lang="en-US" sz="1100" u="none" strike="noStrike" dirty="0">
                          <a:effectLst/>
                        </a:rPr>
                        <a:t>Model can make high-confidence "Fake" predictions with virtually no False Positives (FP).</a:t>
                      </a:r>
                      <a:endParaRPr lang="en-US" sz="1100" b="0" i="0" u="none" strike="noStrike" dirty="0">
                        <a:solidFill>
                          <a:srgbClr val="1F1F1F"/>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690030045"/>
                  </a:ext>
                </a:extLst>
              </a:tr>
              <a:tr h="470385">
                <a:tc>
                  <a:txBody>
                    <a:bodyPr/>
                    <a:lstStyle/>
                    <a:p>
                      <a:pPr algn="ctr" rtl="0" fontAlgn="ctr">
                        <a:buNone/>
                      </a:pPr>
                      <a:r>
                        <a:rPr lang="en-IN" sz="1100" u="none" strike="noStrike" dirty="0">
                          <a:effectLst/>
                        </a:rPr>
                        <a:t>Performance Window</a:t>
                      </a:r>
                      <a:endParaRPr lang="en-IN" sz="1100" b="1" i="0" u="none" strike="noStrike" dirty="0">
                        <a:solidFill>
                          <a:srgbClr val="1F1F1F"/>
                        </a:solidFill>
                        <a:effectLst/>
                        <a:latin typeface="Arial" panose="020B0604020202020204" pitchFamily="34" charset="0"/>
                      </a:endParaRPr>
                    </a:p>
                  </a:txBody>
                  <a:tcPr marL="6350" marR="6350" marT="6350" marB="0" anchor="ctr"/>
                </a:tc>
                <a:tc>
                  <a:txBody>
                    <a:bodyPr/>
                    <a:lstStyle/>
                    <a:p>
                      <a:pPr algn="ctr" rtl="0" fontAlgn="ctr">
                        <a:buNone/>
                      </a:pPr>
                      <a:r>
                        <a:rPr lang="en-US" sz="1100" u="none" strike="noStrike" dirty="0">
                          <a:effectLst/>
                        </a:rPr>
                        <a:t>Precision remains &gt;0.50 up to Recall approx. 0.50.</a:t>
                      </a:r>
                      <a:endParaRPr lang="en-US" sz="1100" b="0" i="0" u="none" strike="noStrike" dirty="0">
                        <a:solidFill>
                          <a:srgbClr val="1F1F1F"/>
                        </a:solidFill>
                        <a:effectLst/>
                        <a:latin typeface="Arial" panose="020B0604020202020204" pitchFamily="34" charset="0"/>
                      </a:endParaRPr>
                    </a:p>
                  </a:txBody>
                  <a:tcPr marL="6350" marR="6350" marT="6350" marB="0" anchor="ctr"/>
                </a:tc>
                <a:tc>
                  <a:txBody>
                    <a:bodyPr/>
                    <a:lstStyle/>
                    <a:p>
                      <a:pPr algn="ctr" rtl="0" fontAlgn="ctr">
                        <a:buNone/>
                      </a:pPr>
                      <a:r>
                        <a:rPr lang="en-US" sz="1100" u="none" strike="noStrike" dirty="0">
                          <a:effectLst/>
                        </a:rPr>
                        <a:t>Provides the best balance of catching fake news while maintaining reliability.</a:t>
                      </a:r>
                      <a:endParaRPr lang="en-US" sz="1100" b="0" i="0" u="none" strike="noStrike" dirty="0">
                        <a:solidFill>
                          <a:srgbClr val="1F1F1F"/>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31601651"/>
                  </a:ext>
                </a:extLst>
              </a:tr>
              <a:tr h="1023898">
                <a:tc>
                  <a:txBody>
                    <a:bodyPr/>
                    <a:lstStyle/>
                    <a:p>
                      <a:pPr algn="ctr" rtl="0" fontAlgn="ctr">
                        <a:buNone/>
                      </a:pPr>
                      <a:r>
                        <a:rPr lang="en-IN" sz="1100" u="none" strike="noStrike" dirty="0">
                          <a:effectLst/>
                        </a:rPr>
                        <a:t>Conclusion</a:t>
                      </a:r>
                      <a:endParaRPr lang="en-IN" sz="1100" b="1" i="0" u="none" strike="noStrike" dirty="0">
                        <a:solidFill>
                          <a:srgbClr val="1F1F1F"/>
                        </a:solidFill>
                        <a:effectLst/>
                        <a:latin typeface="Arial" panose="020B0604020202020204" pitchFamily="34" charset="0"/>
                      </a:endParaRPr>
                    </a:p>
                  </a:txBody>
                  <a:tcPr marL="6350" marR="6350" marT="6350" marB="0" anchor="ctr"/>
                </a:tc>
                <a:tc>
                  <a:txBody>
                    <a:bodyPr/>
                    <a:lstStyle/>
                    <a:p>
                      <a:pPr algn="ctr" rtl="0" fontAlgn="ctr">
                        <a:buNone/>
                      </a:pPr>
                      <a:r>
                        <a:rPr lang="en-US" sz="1100" u="none" strike="noStrike" dirty="0">
                          <a:effectLst/>
                        </a:rPr>
                        <a:t>The Bidirectional LSTM model is the clear winner, demonstrating superior ability to learn the complex language patterns required for Fake News Detection.</a:t>
                      </a:r>
                      <a:endParaRPr lang="en-US" sz="1100" b="0" i="0" u="none" strike="noStrike" dirty="0">
                        <a:solidFill>
                          <a:srgbClr val="1F1F1F"/>
                        </a:solidFill>
                        <a:effectLst/>
                        <a:latin typeface="Arial" panose="020B0604020202020204" pitchFamily="34" charset="0"/>
                      </a:endParaRPr>
                    </a:p>
                  </a:txBody>
                  <a:tcPr marL="6350" marR="6350" marT="6350" marB="0" anchor="ctr"/>
                </a:tc>
                <a:tc>
                  <a:txBody>
                    <a:bodyPr/>
                    <a:lstStyle/>
                    <a:p>
                      <a:pPr algn="ctr" rtl="0" fontAlgn="ctr">
                        <a:buNone/>
                      </a:pPr>
                      <a:r>
                        <a:rPr lang="en-IN" sz="1100" u="none" strike="noStrike" dirty="0">
                          <a:effectLst/>
                        </a:rPr>
                        <a:t> </a:t>
                      </a:r>
                      <a:endParaRPr lang="en-IN" sz="1100" b="0" i="0" u="none" strike="noStrike" dirty="0">
                        <a:solidFill>
                          <a:srgbClr val="1F1F1F"/>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342831923"/>
                  </a:ext>
                </a:extLst>
              </a:tr>
            </a:tbl>
          </a:graphicData>
        </a:graphic>
      </p:graphicFrame>
      <p:sp>
        <p:nvSpPr>
          <p:cNvPr id="5" name="Footer Placeholder 2">
            <a:extLst>
              <a:ext uri="{FF2B5EF4-FFF2-40B4-BE49-F238E27FC236}">
                <a16:creationId xmlns:a16="http://schemas.microsoft.com/office/drawing/2014/main" id="{4BE592CB-3072-6CF5-EEAF-E8F4043D876B}"/>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pic>
        <p:nvPicPr>
          <p:cNvPr id="6" name="Picture 5">
            <a:extLst>
              <a:ext uri="{FF2B5EF4-FFF2-40B4-BE49-F238E27FC236}">
                <a16:creationId xmlns:a16="http://schemas.microsoft.com/office/drawing/2014/main" id="{4B6C3442-0BD0-0EEE-A9CD-4D0C27D204DA}"/>
              </a:ext>
            </a:extLst>
          </p:cNvPr>
          <p:cNvPicPr>
            <a:picLocks noChangeAspect="1"/>
          </p:cNvPicPr>
          <p:nvPr/>
        </p:nvPicPr>
        <p:blipFill>
          <a:blip r:embed="rId3"/>
          <a:stretch>
            <a:fillRect/>
          </a:stretch>
        </p:blipFill>
        <p:spPr>
          <a:xfrm>
            <a:off x="452486" y="866860"/>
            <a:ext cx="4741479" cy="3079172"/>
          </a:xfrm>
          <a:prstGeom prst="rect">
            <a:avLst/>
          </a:prstGeom>
        </p:spPr>
      </p:pic>
      <p:pic>
        <p:nvPicPr>
          <p:cNvPr id="7" name="Picture 6">
            <a:extLst>
              <a:ext uri="{FF2B5EF4-FFF2-40B4-BE49-F238E27FC236}">
                <a16:creationId xmlns:a16="http://schemas.microsoft.com/office/drawing/2014/main" id="{46767196-51BC-BDA8-CBD3-5A8F1268558C}"/>
              </a:ext>
            </a:extLst>
          </p:cNvPr>
          <p:cNvPicPr>
            <a:picLocks noChangeAspect="1"/>
          </p:cNvPicPr>
          <p:nvPr/>
        </p:nvPicPr>
        <p:blipFill>
          <a:blip r:embed="rId4"/>
          <a:stretch>
            <a:fillRect/>
          </a:stretch>
        </p:blipFill>
        <p:spPr>
          <a:xfrm>
            <a:off x="5608726" y="2201091"/>
            <a:ext cx="6404367" cy="4148073"/>
          </a:xfrm>
          <a:prstGeom prst="rect">
            <a:avLst/>
          </a:prstGeom>
        </p:spPr>
      </p:pic>
    </p:spTree>
    <p:extLst>
      <p:ext uri="{BB962C8B-B14F-4D97-AF65-F5344CB8AC3E}">
        <p14:creationId xmlns:p14="http://schemas.microsoft.com/office/powerpoint/2010/main" val="2213815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0187-304E-ACBF-B53B-D13789447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08314-FDB6-7773-DCC9-1F535B8F17C0}"/>
              </a:ext>
            </a:extLst>
          </p:cNvPr>
          <p:cNvSpPr>
            <a:spLocks noGrp="1"/>
          </p:cNvSpPr>
          <p:nvPr>
            <p:ph type="title"/>
          </p:nvPr>
        </p:nvSpPr>
        <p:spPr/>
        <p:txBody>
          <a:bodyPr>
            <a:normAutofit/>
          </a:bodyPr>
          <a:lstStyle/>
          <a:p>
            <a:r>
              <a:rPr lang="en-US" dirty="0"/>
              <a:t>The Secret : What the Model learned</a:t>
            </a:r>
          </a:p>
        </p:txBody>
      </p:sp>
      <p:sp>
        <p:nvSpPr>
          <p:cNvPr id="4" name="Slide Number Placeholder 3">
            <a:extLst>
              <a:ext uri="{FF2B5EF4-FFF2-40B4-BE49-F238E27FC236}">
                <a16:creationId xmlns:a16="http://schemas.microsoft.com/office/drawing/2014/main" id="{0EE22B03-40E3-DD81-F29B-E5A437930DF6}"/>
              </a:ext>
            </a:extLst>
          </p:cNvPr>
          <p:cNvSpPr>
            <a:spLocks noGrp="1"/>
          </p:cNvSpPr>
          <p:nvPr>
            <p:ph type="sldNum" sz="quarter" idx="12"/>
          </p:nvPr>
        </p:nvSpPr>
        <p:spPr/>
        <p:txBody>
          <a:bodyPr/>
          <a:lstStyle/>
          <a:p>
            <a:fld id="{BF1758FF-0BF1-4103-A89A-38EC40E85429}" type="slidenum">
              <a:rPr lang="en-SG" smtClean="0"/>
              <a:t>24</a:t>
            </a:fld>
            <a:endParaRPr lang="en-SG" dirty="0"/>
          </a:p>
        </p:txBody>
      </p:sp>
      <p:sp>
        <p:nvSpPr>
          <p:cNvPr id="8" name="TextBox 7">
            <a:extLst>
              <a:ext uri="{FF2B5EF4-FFF2-40B4-BE49-F238E27FC236}">
                <a16:creationId xmlns:a16="http://schemas.microsoft.com/office/drawing/2014/main" id="{ECBD403F-CD6C-E031-40B5-4BDC229C2CC3}"/>
              </a:ext>
            </a:extLst>
          </p:cNvPr>
          <p:cNvSpPr txBox="1"/>
          <p:nvPr/>
        </p:nvSpPr>
        <p:spPr>
          <a:xfrm>
            <a:off x="363984" y="951722"/>
            <a:ext cx="11243298" cy="5478423"/>
          </a:xfrm>
          <a:prstGeom prst="rect">
            <a:avLst/>
          </a:prstGeom>
          <a:noFill/>
        </p:spPr>
        <p:txBody>
          <a:bodyPr wrap="square" rtlCol="0">
            <a:spAutoFit/>
          </a:bodyPr>
          <a:lstStyle/>
          <a:p>
            <a:r>
              <a:rPr lang="en-IN" b="1" dirty="0">
                <a:solidFill>
                  <a:srgbClr val="000080"/>
                </a:solidFill>
                <a:latin typeface="Microsoft YaHei" panose="020B0503020204020204" pitchFamily="34" charset="-122"/>
                <a:ea typeface="Microsoft YaHei" panose="020B0503020204020204" pitchFamily="34" charset="-122"/>
              </a:rPr>
              <a:t>From Traditional ML Models</a:t>
            </a:r>
          </a:p>
          <a:p>
            <a:pPr marL="457200" indent="-457200">
              <a:buFont typeface="Arial" panose="020B0604020202020204" pitchFamily="34" charset="0"/>
              <a:buChar char="•"/>
            </a:pPr>
            <a:r>
              <a:rPr lang="en-IN" dirty="0">
                <a:solidFill>
                  <a:srgbClr val="000000"/>
                </a:solidFill>
              </a:rPr>
              <a:t>Fake keyword count ("breaking", "shocking", etc.)</a:t>
            </a:r>
          </a:p>
          <a:p>
            <a:pPr marL="457200" indent="-457200">
              <a:buFont typeface="Arial" panose="020B0604020202020204" pitchFamily="34" charset="0"/>
              <a:buChar char="•"/>
            </a:pPr>
            <a:r>
              <a:rPr lang="en-IN" dirty="0">
                <a:solidFill>
                  <a:srgbClr val="000000"/>
                </a:solidFill>
              </a:rPr>
              <a:t>Sentiment extremity</a:t>
            </a:r>
          </a:p>
          <a:p>
            <a:pPr marL="457200" indent="-457200">
              <a:buFont typeface="Arial" panose="020B0604020202020204" pitchFamily="34" charset="0"/>
              <a:buChar char="•"/>
            </a:pPr>
            <a:r>
              <a:rPr lang="en-IN" dirty="0">
                <a:solidFill>
                  <a:srgbClr val="000000"/>
                </a:solidFill>
              </a:rPr>
              <a:t>Exclamation marks count</a:t>
            </a:r>
          </a:p>
          <a:p>
            <a:pPr marL="457200" indent="-457200">
              <a:buFont typeface="Arial" panose="020B0604020202020204" pitchFamily="34" charset="0"/>
              <a:buChar char="•"/>
            </a:pPr>
            <a:r>
              <a:rPr lang="en-IN" dirty="0">
                <a:solidFill>
                  <a:srgbClr val="000000"/>
                </a:solidFill>
              </a:rPr>
              <a:t>Subjectivity score </a:t>
            </a:r>
          </a:p>
          <a:p>
            <a:pPr marL="457200" indent="-457200">
              <a:buFont typeface="Arial" panose="020B0604020202020204" pitchFamily="34" charset="0"/>
              <a:buChar char="•"/>
            </a:pPr>
            <a:r>
              <a:rPr lang="en-IN" dirty="0">
                <a:solidFill>
                  <a:srgbClr val="000000"/>
                </a:solidFill>
              </a:rPr>
              <a:t>Title length ratio</a:t>
            </a:r>
          </a:p>
          <a:p>
            <a:pPr marL="457200" indent="-457200">
              <a:buFont typeface="Arial" panose="020B0604020202020204" pitchFamily="34" charset="0"/>
              <a:buChar char="•"/>
            </a:pPr>
            <a:r>
              <a:rPr lang="en-IN" dirty="0">
                <a:solidFill>
                  <a:srgbClr val="000000"/>
                </a:solidFill>
              </a:rPr>
              <a:t>TF-IDF: Specific sensational words</a:t>
            </a:r>
          </a:p>
          <a:p>
            <a:pPr marL="457200" indent="-457200">
              <a:buFont typeface="Arial" panose="020B0604020202020204" pitchFamily="34" charset="0"/>
              <a:buChar char="•"/>
            </a:pPr>
            <a:r>
              <a:rPr lang="en-IN" dirty="0">
                <a:solidFill>
                  <a:srgbClr val="000000"/>
                </a:solidFill>
              </a:rPr>
              <a:t>Capitalization ratio</a:t>
            </a:r>
          </a:p>
          <a:p>
            <a:pPr marL="457200" indent="-457200">
              <a:buFont typeface="Arial" panose="020B0604020202020204" pitchFamily="34" charset="0"/>
              <a:buChar char="•"/>
            </a:pPr>
            <a:r>
              <a:rPr lang="en-IN" dirty="0">
                <a:solidFill>
                  <a:srgbClr val="000000"/>
                </a:solidFill>
              </a:rPr>
              <a:t>Question marks </a:t>
            </a:r>
          </a:p>
          <a:p>
            <a:pPr marL="457200" indent="-457200">
              <a:buFont typeface="Arial" panose="020B0604020202020204" pitchFamily="34" charset="0"/>
              <a:buChar char="•"/>
            </a:pPr>
            <a:r>
              <a:rPr lang="en-IN" dirty="0">
                <a:solidFill>
                  <a:srgbClr val="000000"/>
                </a:solidFill>
              </a:rPr>
              <a:t>Text complexity</a:t>
            </a:r>
          </a:p>
          <a:p>
            <a:pPr marL="457200" indent="-457200">
              <a:buFont typeface="Arial" panose="020B0604020202020204" pitchFamily="34" charset="0"/>
              <a:buChar char="•"/>
            </a:pPr>
            <a:r>
              <a:rPr lang="en-IN" dirty="0">
                <a:solidFill>
                  <a:srgbClr val="000000"/>
                </a:solidFill>
              </a:rPr>
              <a:t>URL presence – Moderate</a:t>
            </a:r>
          </a:p>
          <a:p>
            <a:pPr marL="457200" indent="-457200">
              <a:buFont typeface="Arial" panose="020B0604020202020204" pitchFamily="34" charset="0"/>
              <a:buChar char="•"/>
            </a:pPr>
            <a:endParaRPr lang="en-IN" dirty="0">
              <a:solidFill>
                <a:srgbClr val="000000"/>
              </a:solidFill>
            </a:endParaRPr>
          </a:p>
          <a:p>
            <a:r>
              <a:rPr lang="en-US" b="1" dirty="0">
                <a:solidFill>
                  <a:srgbClr val="000080"/>
                </a:solidFill>
                <a:latin typeface="Microsoft YaHei" panose="020B0503020204020204" pitchFamily="34" charset="-122"/>
                <a:ea typeface="Microsoft YaHei" panose="020B0503020204020204" pitchFamily="34" charset="-122"/>
              </a:rPr>
              <a:t>From Deep Learning Models</a:t>
            </a:r>
          </a:p>
          <a:p>
            <a:pPr marL="457200" indent="-457200">
              <a:buFont typeface="Arial" panose="020B0604020202020204" pitchFamily="34" charset="0"/>
              <a:buChar char="•"/>
            </a:pPr>
            <a:r>
              <a:rPr lang="en-US" dirty="0">
                <a:solidFill>
                  <a:srgbClr val="000000"/>
                </a:solidFill>
              </a:rPr>
              <a:t>Learned to recognize clickbait patterns</a:t>
            </a:r>
          </a:p>
          <a:p>
            <a:pPr marL="457200" indent="-457200">
              <a:buFont typeface="Arial" panose="020B0604020202020204" pitchFamily="34" charset="0"/>
              <a:buChar char="•"/>
            </a:pPr>
            <a:r>
              <a:rPr lang="en-US" dirty="0">
                <a:solidFill>
                  <a:srgbClr val="000000"/>
                </a:solidFill>
              </a:rPr>
              <a:t>Identified emotional trigger phrases</a:t>
            </a:r>
          </a:p>
          <a:p>
            <a:pPr marL="457200" indent="-457200">
              <a:buFont typeface="Arial" panose="020B0604020202020204" pitchFamily="34" charset="0"/>
              <a:buChar char="•"/>
            </a:pPr>
            <a:r>
              <a:rPr lang="en-US" dirty="0">
                <a:solidFill>
                  <a:srgbClr val="000000"/>
                </a:solidFill>
              </a:rPr>
              <a:t>Understood context and nuance</a:t>
            </a:r>
          </a:p>
          <a:p>
            <a:pPr marL="457200" indent="-457200">
              <a:buFont typeface="Arial" panose="020B0604020202020204" pitchFamily="34" charset="0"/>
              <a:buChar char="•"/>
            </a:pPr>
            <a:r>
              <a:rPr lang="en-US" dirty="0">
                <a:solidFill>
                  <a:srgbClr val="000000"/>
                </a:solidFill>
              </a:rPr>
              <a:t>Detected inconsistencies in narrative flow</a:t>
            </a:r>
          </a:p>
          <a:p>
            <a:pPr marL="457200" indent="-457200">
              <a:buFont typeface="Arial" panose="020B0604020202020204" pitchFamily="34" charset="0"/>
              <a:buChar char="•"/>
            </a:pPr>
            <a:endParaRPr lang="en-US" sz="2000" dirty="0">
              <a:solidFill>
                <a:srgbClr val="000000"/>
              </a:solidFill>
            </a:endParaRPr>
          </a:p>
          <a:p>
            <a:r>
              <a:rPr lang="en-US" sz="2400" dirty="0">
                <a:solidFill>
                  <a:srgbClr val="000080"/>
                </a:solidFill>
                <a:ea typeface="Microsoft YaHei" panose="020B0503020204020204" pitchFamily="34" charset="-122"/>
              </a:rPr>
              <a:t>Our EDA discoveries became the model's weapons!</a:t>
            </a:r>
          </a:p>
        </p:txBody>
      </p:sp>
      <p:sp>
        <p:nvSpPr>
          <p:cNvPr id="5" name="Footer Placeholder 2">
            <a:extLst>
              <a:ext uri="{FF2B5EF4-FFF2-40B4-BE49-F238E27FC236}">
                <a16:creationId xmlns:a16="http://schemas.microsoft.com/office/drawing/2014/main" id="{377AC210-AEDA-90EC-13AE-B7EAC1A4F657}"/>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2877431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2232E-A19A-0A85-FF6F-E875D49D8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AE349-FEFE-343A-AAFD-AB3FF9243E4A}"/>
              </a:ext>
            </a:extLst>
          </p:cNvPr>
          <p:cNvSpPr>
            <a:spLocks noGrp="1"/>
          </p:cNvSpPr>
          <p:nvPr>
            <p:ph type="title"/>
          </p:nvPr>
        </p:nvSpPr>
        <p:spPr/>
        <p:txBody>
          <a:bodyPr>
            <a:normAutofit/>
          </a:bodyPr>
          <a:lstStyle/>
          <a:p>
            <a:r>
              <a:rPr lang="en-US" dirty="0"/>
              <a:t>Real World Impact : What this Means</a:t>
            </a:r>
          </a:p>
        </p:txBody>
      </p:sp>
      <p:sp>
        <p:nvSpPr>
          <p:cNvPr id="4" name="Slide Number Placeholder 3">
            <a:extLst>
              <a:ext uri="{FF2B5EF4-FFF2-40B4-BE49-F238E27FC236}">
                <a16:creationId xmlns:a16="http://schemas.microsoft.com/office/drawing/2014/main" id="{559C7D78-833D-C36D-1323-0ADCCF0F28A0}"/>
              </a:ext>
            </a:extLst>
          </p:cNvPr>
          <p:cNvSpPr>
            <a:spLocks noGrp="1"/>
          </p:cNvSpPr>
          <p:nvPr>
            <p:ph type="sldNum" sz="quarter" idx="12"/>
          </p:nvPr>
        </p:nvSpPr>
        <p:spPr/>
        <p:txBody>
          <a:bodyPr/>
          <a:lstStyle/>
          <a:p>
            <a:fld id="{BF1758FF-0BF1-4103-A89A-38EC40E85429}" type="slidenum">
              <a:rPr lang="en-SG" smtClean="0"/>
              <a:t>25</a:t>
            </a:fld>
            <a:endParaRPr lang="en-SG" dirty="0"/>
          </a:p>
        </p:txBody>
      </p:sp>
      <p:sp>
        <p:nvSpPr>
          <p:cNvPr id="8" name="TextBox 7">
            <a:extLst>
              <a:ext uri="{FF2B5EF4-FFF2-40B4-BE49-F238E27FC236}">
                <a16:creationId xmlns:a16="http://schemas.microsoft.com/office/drawing/2014/main" id="{8BAAAD5F-A58D-66C3-AAEB-C14763962E27}"/>
              </a:ext>
            </a:extLst>
          </p:cNvPr>
          <p:cNvSpPr txBox="1"/>
          <p:nvPr/>
        </p:nvSpPr>
        <p:spPr>
          <a:xfrm>
            <a:off x="363984" y="951722"/>
            <a:ext cx="11243298" cy="5663089"/>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A Production-Ready Fake News Detector</a:t>
            </a:r>
          </a:p>
          <a:p>
            <a:r>
              <a:rPr lang="en-US" dirty="0"/>
              <a:t>	</a:t>
            </a:r>
          </a:p>
          <a:p>
            <a:r>
              <a:rPr lang="en-US" b="1" dirty="0">
                <a:solidFill>
                  <a:srgbClr val="000080"/>
                </a:solidFill>
                <a:latin typeface="Microsoft YaHei" panose="020B0503020204020204" pitchFamily="34" charset="-122"/>
                <a:ea typeface="Microsoft YaHei" panose="020B0503020204020204" pitchFamily="34" charset="-122"/>
              </a:rPr>
              <a:t>Capabilities:</a:t>
            </a:r>
          </a:p>
          <a:p>
            <a:pPr lvl="1"/>
            <a:r>
              <a:rPr lang="en-US" dirty="0"/>
              <a:t>- Reads any news article (title + text)</a:t>
            </a:r>
          </a:p>
          <a:p>
            <a:pPr lvl="1"/>
            <a:r>
              <a:rPr lang="en-US" dirty="0"/>
              <a:t>- Analyzes language, sentiment, complexity</a:t>
            </a:r>
          </a:p>
          <a:p>
            <a:pPr lvl="1"/>
            <a:r>
              <a:rPr lang="en-US" dirty="0"/>
              <a:t>- Compares against learned patterns</a:t>
            </a:r>
          </a:p>
          <a:p>
            <a:pPr lvl="1"/>
            <a:r>
              <a:rPr lang="en-US" dirty="0"/>
              <a:t>- Returns: "Fake" or "Real" with confidence score</a:t>
            </a:r>
          </a:p>
          <a:p>
            <a:pPr lvl="2"/>
            <a:endParaRPr lang="en-US" dirty="0"/>
          </a:p>
          <a:p>
            <a:r>
              <a:rPr lang="en-US" b="1" dirty="0">
                <a:solidFill>
                  <a:srgbClr val="000080"/>
                </a:solidFill>
                <a:latin typeface="Microsoft YaHei" panose="020B0503020204020204" pitchFamily="34" charset="-122"/>
                <a:ea typeface="Microsoft YaHei" panose="020B0503020204020204" pitchFamily="34" charset="-122"/>
              </a:rPr>
              <a:t>Reliability:</a:t>
            </a:r>
          </a:p>
          <a:p>
            <a:pPr lvl="1"/>
            <a:r>
              <a:rPr lang="en-US" dirty="0"/>
              <a:t>- Accuracy: 87%</a:t>
            </a:r>
          </a:p>
          <a:p>
            <a:pPr lvl="1"/>
            <a:r>
              <a:rPr lang="en-US" dirty="0"/>
              <a:t>- Catches 95% of fake news (high recall)</a:t>
            </a:r>
          </a:p>
          <a:p>
            <a:pPr lvl="1"/>
            <a:r>
              <a:rPr lang="en-US" dirty="0"/>
              <a:t>- Only 7% false alarms (high precision)</a:t>
            </a:r>
          </a:p>
          <a:p>
            <a:pPr marL="742950" lvl="1" indent="-285750">
              <a:buFontTx/>
              <a:buChar char="-"/>
            </a:pPr>
            <a:r>
              <a:rPr lang="en-US" dirty="0"/>
              <a:t>Balanced performance across news types</a:t>
            </a:r>
          </a:p>
          <a:p>
            <a:pPr marL="285750" indent="-285750">
              <a:buFontTx/>
              <a:buChar char="-"/>
            </a:pPr>
            <a:endParaRPr lang="en-US" dirty="0"/>
          </a:p>
          <a:p>
            <a:r>
              <a:rPr lang="en-US" b="1" dirty="0">
                <a:solidFill>
                  <a:srgbClr val="000080"/>
                </a:solidFill>
                <a:latin typeface="Microsoft YaHei" panose="020B0503020204020204" pitchFamily="34" charset="-122"/>
                <a:ea typeface="Microsoft YaHei" panose="020B0503020204020204" pitchFamily="34" charset="-122"/>
              </a:rPr>
              <a:t>Scalability:</a:t>
            </a:r>
          </a:p>
          <a:p>
            <a:r>
              <a:rPr lang="en-US" dirty="0"/>
              <a:t>	- Determine an optimized pipeline architecture through extensive benchmarking</a:t>
            </a:r>
            <a:endParaRPr lang="en-US" b="1" dirty="0">
              <a:solidFill>
                <a:srgbClr val="000080"/>
              </a:solidFill>
              <a:latin typeface="Microsoft YaHei" panose="020B0503020204020204" pitchFamily="34" charset="-122"/>
              <a:ea typeface="Microsoft YaHei" panose="020B0503020204020204" pitchFamily="34" charset="-122"/>
            </a:endParaRPr>
          </a:p>
          <a:p>
            <a:r>
              <a:rPr lang="en-US" dirty="0"/>
              <a:t>	- Cut human involvement by 95% using a threshold confidence score for each inference</a:t>
            </a:r>
          </a:p>
          <a:p>
            <a:r>
              <a:rPr lang="en-US" dirty="0"/>
              <a:t>	- A system to continuously update itself with real and fake news patterns</a:t>
            </a:r>
          </a:p>
          <a:p>
            <a:endParaRPr lang="en-US" dirty="0"/>
          </a:p>
          <a:p>
            <a:endParaRPr lang="en-US" sz="2000" dirty="0">
              <a:solidFill>
                <a:srgbClr val="000000"/>
              </a:solidFill>
            </a:endParaRPr>
          </a:p>
        </p:txBody>
      </p:sp>
      <p:sp>
        <p:nvSpPr>
          <p:cNvPr id="5" name="Footer Placeholder 2">
            <a:extLst>
              <a:ext uri="{FF2B5EF4-FFF2-40B4-BE49-F238E27FC236}">
                <a16:creationId xmlns:a16="http://schemas.microsoft.com/office/drawing/2014/main" id="{46A7B04F-686E-F10F-6560-409E04DC862F}"/>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493725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9F412-2825-6FF1-6266-33344016D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77668-326B-F7C4-D716-8D4169FE561B}"/>
              </a:ext>
            </a:extLst>
          </p:cNvPr>
          <p:cNvSpPr>
            <a:spLocks noGrp="1"/>
          </p:cNvSpPr>
          <p:nvPr>
            <p:ph type="title"/>
          </p:nvPr>
        </p:nvSpPr>
        <p:spPr/>
        <p:txBody>
          <a:bodyPr>
            <a:normAutofit/>
          </a:bodyPr>
          <a:lstStyle/>
          <a:p>
            <a:r>
              <a:rPr lang="en-US" dirty="0"/>
              <a:t>Our Achievements : The Complete Picture</a:t>
            </a:r>
          </a:p>
        </p:txBody>
      </p:sp>
      <p:sp>
        <p:nvSpPr>
          <p:cNvPr id="4" name="Slide Number Placeholder 3">
            <a:extLst>
              <a:ext uri="{FF2B5EF4-FFF2-40B4-BE49-F238E27FC236}">
                <a16:creationId xmlns:a16="http://schemas.microsoft.com/office/drawing/2014/main" id="{F60A7BED-532D-2305-8801-5A2663696CDD}"/>
              </a:ext>
            </a:extLst>
          </p:cNvPr>
          <p:cNvSpPr>
            <a:spLocks noGrp="1"/>
          </p:cNvSpPr>
          <p:nvPr>
            <p:ph type="sldNum" sz="quarter" idx="12"/>
          </p:nvPr>
        </p:nvSpPr>
        <p:spPr/>
        <p:txBody>
          <a:bodyPr/>
          <a:lstStyle/>
          <a:p>
            <a:fld id="{BF1758FF-0BF1-4103-A89A-38EC40E85429}" type="slidenum">
              <a:rPr lang="en-SG" smtClean="0"/>
              <a:t>26</a:t>
            </a:fld>
            <a:endParaRPr lang="en-SG" dirty="0"/>
          </a:p>
        </p:txBody>
      </p:sp>
      <p:sp>
        <p:nvSpPr>
          <p:cNvPr id="8" name="TextBox 7">
            <a:extLst>
              <a:ext uri="{FF2B5EF4-FFF2-40B4-BE49-F238E27FC236}">
                <a16:creationId xmlns:a16="http://schemas.microsoft.com/office/drawing/2014/main" id="{0D9DABD2-670A-F535-3FEC-EC6ABCC86CB4}"/>
              </a:ext>
            </a:extLst>
          </p:cNvPr>
          <p:cNvSpPr txBox="1"/>
          <p:nvPr/>
        </p:nvSpPr>
        <p:spPr>
          <a:xfrm>
            <a:off x="363984" y="951722"/>
            <a:ext cx="11243298" cy="5386090"/>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A Production-Ready Fake News Detector</a:t>
            </a:r>
          </a:p>
          <a:p>
            <a:r>
              <a:rPr lang="en-US" dirty="0"/>
              <a:t>	</a:t>
            </a:r>
          </a:p>
          <a:p>
            <a:r>
              <a:rPr lang="en-IN" b="1" dirty="0">
                <a:solidFill>
                  <a:srgbClr val="000080"/>
                </a:solidFill>
                <a:latin typeface="Microsoft YaHei" panose="020B0503020204020204" pitchFamily="34" charset="-122"/>
                <a:ea typeface="Microsoft YaHei" panose="020B0503020204020204" pitchFamily="34" charset="-122"/>
              </a:rPr>
              <a:t>Technical Achievements:</a:t>
            </a:r>
          </a:p>
          <a:p>
            <a:pPr marL="742950" lvl="1" indent="-285750">
              <a:buFontTx/>
              <a:buChar char="-"/>
            </a:pPr>
            <a:r>
              <a:rPr lang="en-IN" dirty="0"/>
              <a:t>Analysed 80000+ news articles</a:t>
            </a:r>
          </a:p>
          <a:p>
            <a:pPr marL="742950" lvl="1" indent="-285750">
              <a:buFontTx/>
              <a:buChar char="-"/>
            </a:pPr>
            <a:r>
              <a:rPr lang="en-IN" dirty="0"/>
              <a:t>Performed comprehensive EDA (15+ analyses)</a:t>
            </a:r>
          </a:p>
          <a:p>
            <a:pPr marL="742950" lvl="1" indent="-285750">
              <a:buFontTx/>
              <a:buChar char="-"/>
            </a:pPr>
            <a:r>
              <a:rPr lang="en-IN" dirty="0"/>
              <a:t>Engineered 15+ meaningful features</a:t>
            </a:r>
          </a:p>
          <a:p>
            <a:pPr marL="742950" lvl="1" indent="-285750">
              <a:buFontTx/>
              <a:buChar char="-"/>
            </a:pPr>
            <a:r>
              <a:rPr lang="en-IN" dirty="0"/>
              <a:t>Trained 3 different models with different variations</a:t>
            </a:r>
          </a:p>
          <a:p>
            <a:pPr marL="742950" lvl="1" indent="-285750">
              <a:buFontTx/>
              <a:buChar char="-"/>
            </a:pPr>
            <a:r>
              <a:rPr lang="en-IN" dirty="0"/>
              <a:t>Achieved 87% accuracy</a:t>
            </a:r>
          </a:p>
          <a:p>
            <a:pPr marL="742950" lvl="1" indent="-285750">
              <a:buFontTx/>
              <a:buChar char="-"/>
            </a:pPr>
            <a:r>
              <a:rPr lang="en-IN" dirty="0"/>
              <a:t>Created interpretable results</a:t>
            </a:r>
          </a:p>
          <a:p>
            <a:pPr marL="742950" lvl="1" indent="-285750">
              <a:buFontTx/>
              <a:buChar char="-"/>
            </a:pPr>
            <a:r>
              <a:rPr lang="en-IN" dirty="0"/>
              <a:t>Saved models for production</a:t>
            </a:r>
          </a:p>
          <a:p>
            <a:pPr marL="742950" lvl="1" indent="-285750">
              <a:buFontTx/>
              <a:buChar char="-"/>
            </a:pPr>
            <a:r>
              <a:rPr lang="en-IN" dirty="0"/>
              <a:t>Created a resilient benchmark framework to reliably produce results for scalability analysis</a:t>
            </a:r>
          </a:p>
          <a:p>
            <a:pPr marL="742950" lvl="1" indent="-285750">
              <a:buFontTx/>
              <a:buChar char="-"/>
            </a:pPr>
            <a:endParaRPr lang="en-IN" dirty="0"/>
          </a:p>
          <a:p>
            <a:r>
              <a:rPr lang="en-US" b="1" dirty="0">
                <a:solidFill>
                  <a:srgbClr val="000080"/>
                </a:solidFill>
                <a:latin typeface="Microsoft YaHei" panose="020B0503020204020204" pitchFamily="34" charset="-122"/>
                <a:ea typeface="Microsoft YaHei" panose="020B0503020204020204" pitchFamily="34" charset="-122"/>
              </a:rPr>
              <a:t>Knowledge Gained:</a:t>
            </a:r>
          </a:p>
          <a:p>
            <a:pPr marL="742950" lvl="1" indent="-285750">
              <a:buFontTx/>
              <a:buChar char="-"/>
            </a:pPr>
            <a:r>
              <a:rPr lang="en-US" dirty="0"/>
              <a:t>Deep understanding of fake news patterns.</a:t>
            </a:r>
          </a:p>
          <a:p>
            <a:pPr marL="742950" lvl="1" indent="-285750">
              <a:buFontTx/>
              <a:buChar char="-"/>
            </a:pPr>
            <a:r>
              <a:rPr lang="en-US" dirty="0"/>
              <a:t>Hands-on of NLP and deep learning.</a:t>
            </a:r>
          </a:p>
          <a:p>
            <a:pPr marL="742950" lvl="1" indent="-285750">
              <a:buFontTx/>
              <a:buChar char="-"/>
            </a:pPr>
            <a:r>
              <a:rPr lang="en-US" dirty="0"/>
              <a:t>Experience with transformers.</a:t>
            </a:r>
          </a:p>
          <a:p>
            <a:pPr marL="742950" lvl="1" indent="-285750">
              <a:buFontTx/>
              <a:buChar char="-"/>
            </a:pPr>
            <a:r>
              <a:rPr lang="en-US" dirty="0"/>
              <a:t>Real-world ML project completion.</a:t>
            </a:r>
          </a:p>
          <a:p>
            <a:pPr marL="742950" lvl="1" indent="-285750">
              <a:buFontTx/>
              <a:buChar char="-"/>
            </a:pPr>
            <a:r>
              <a:rPr lang="en-US" dirty="0"/>
              <a:t>Deeper understanding of Spark architecture</a:t>
            </a:r>
          </a:p>
          <a:p>
            <a:endParaRPr lang="en-US" sz="2000" dirty="0">
              <a:solidFill>
                <a:srgbClr val="000000"/>
              </a:solidFill>
            </a:endParaRPr>
          </a:p>
        </p:txBody>
      </p:sp>
      <p:sp>
        <p:nvSpPr>
          <p:cNvPr id="5" name="Footer Placeholder 2">
            <a:extLst>
              <a:ext uri="{FF2B5EF4-FFF2-40B4-BE49-F238E27FC236}">
                <a16:creationId xmlns:a16="http://schemas.microsoft.com/office/drawing/2014/main" id="{0346C92E-253F-AE6C-6B6C-788485E4AA55}"/>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2172768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6DF3-1250-D6E6-F5C4-731EC2411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27F47-EA31-AC9A-3926-DAEEE83F0EB7}"/>
              </a:ext>
            </a:extLst>
          </p:cNvPr>
          <p:cNvSpPr>
            <a:spLocks noGrp="1"/>
          </p:cNvSpPr>
          <p:nvPr>
            <p:ph type="title"/>
          </p:nvPr>
        </p:nvSpPr>
        <p:spPr/>
        <p:txBody>
          <a:bodyPr>
            <a:normAutofit/>
          </a:bodyPr>
          <a:lstStyle/>
          <a:p>
            <a:r>
              <a:rPr lang="en-US" dirty="0"/>
              <a:t>Future Actions</a:t>
            </a:r>
          </a:p>
        </p:txBody>
      </p:sp>
      <p:sp>
        <p:nvSpPr>
          <p:cNvPr id="4" name="Slide Number Placeholder 3">
            <a:extLst>
              <a:ext uri="{FF2B5EF4-FFF2-40B4-BE49-F238E27FC236}">
                <a16:creationId xmlns:a16="http://schemas.microsoft.com/office/drawing/2014/main" id="{367EF030-DB33-B58D-FCE3-530231CE8925}"/>
              </a:ext>
            </a:extLst>
          </p:cNvPr>
          <p:cNvSpPr>
            <a:spLocks noGrp="1"/>
          </p:cNvSpPr>
          <p:nvPr>
            <p:ph type="sldNum" sz="quarter" idx="12"/>
          </p:nvPr>
        </p:nvSpPr>
        <p:spPr/>
        <p:txBody>
          <a:bodyPr/>
          <a:lstStyle/>
          <a:p>
            <a:fld id="{BF1758FF-0BF1-4103-A89A-38EC40E85429}" type="slidenum">
              <a:rPr lang="en-SG" smtClean="0"/>
              <a:t>27</a:t>
            </a:fld>
            <a:endParaRPr lang="en-SG" dirty="0"/>
          </a:p>
        </p:txBody>
      </p:sp>
      <p:sp>
        <p:nvSpPr>
          <p:cNvPr id="8" name="TextBox 7">
            <a:extLst>
              <a:ext uri="{FF2B5EF4-FFF2-40B4-BE49-F238E27FC236}">
                <a16:creationId xmlns:a16="http://schemas.microsoft.com/office/drawing/2014/main" id="{83B724A7-41DE-F22D-787B-456C998B54AF}"/>
              </a:ext>
            </a:extLst>
          </p:cNvPr>
          <p:cNvSpPr txBox="1"/>
          <p:nvPr/>
        </p:nvSpPr>
        <p:spPr>
          <a:xfrm>
            <a:off x="363984" y="951722"/>
            <a:ext cx="11243298" cy="3170099"/>
          </a:xfrm>
          <a:prstGeom prst="rect">
            <a:avLst/>
          </a:prstGeom>
          <a:noFill/>
        </p:spPr>
        <p:txBody>
          <a:bodyPr wrap="square" rtlCol="0">
            <a:spAutoFit/>
          </a:bodyPr>
          <a:lstStyle/>
          <a:p>
            <a:pPr lvl="0"/>
            <a:r>
              <a:rPr lang="en-US" b="1" dirty="0"/>
              <a:t>Distributed Scaling &amp; Persistence: </a:t>
            </a:r>
            <a:r>
              <a:rPr lang="en-US" dirty="0"/>
              <a:t>Optimize the Spark pipeline configuration for deployment on a fully distributed cluster to improve scalability. Additionally, integrate a permanent storage layer (e.g., S3, HDFS, or a database) to persist processing results for historical analysis and auditing.</a:t>
            </a:r>
            <a:br>
              <a:rPr lang="en-US" dirty="0"/>
            </a:br>
            <a:endParaRPr lang="en-IN" dirty="0"/>
          </a:p>
          <a:p>
            <a:r>
              <a:rPr lang="en-US" b="1" dirty="0"/>
              <a:t>Human-in-the-Loop Retraining Pipeline: </a:t>
            </a:r>
            <a:r>
              <a:rPr lang="en-US" dirty="0"/>
              <a:t>Implement an active learning feedback loop by integrating a training component with the Kafka verify-data topic. This involves developing a user interface where human reviewers can validate news items and provide ground-truth labels. These verified results will be aggregated over specific intervals to trigger the ML training pipeline automatically, allowing the model to continuously learn and update based on fresh, human-verified data.</a:t>
            </a:r>
            <a:endParaRPr lang="en-IN" dirty="0"/>
          </a:p>
          <a:p>
            <a:pPr marL="742950" lvl="1" indent="-285750">
              <a:buFontTx/>
              <a:buChar char="-"/>
            </a:pPr>
            <a:endParaRPr lang="en-US" dirty="0"/>
          </a:p>
          <a:p>
            <a:endParaRPr lang="en-US" sz="2000" dirty="0">
              <a:solidFill>
                <a:srgbClr val="000000"/>
              </a:solidFill>
            </a:endParaRPr>
          </a:p>
        </p:txBody>
      </p:sp>
      <p:sp>
        <p:nvSpPr>
          <p:cNvPr id="5" name="Footer Placeholder 2">
            <a:extLst>
              <a:ext uri="{FF2B5EF4-FFF2-40B4-BE49-F238E27FC236}">
                <a16:creationId xmlns:a16="http://schemas.microsoft.com/office/drawing/2014/main" id="{E51FCFBA-A263-4EAB-BD65-9B6EB49885D4}"/>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1815413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586D5-14C9-D8C4-8BD6-5AFBFFC33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76CA4-8F38-C43D-487B-8082E818DF0C}"/>
              </a:ext>
            </a:extLst>
          </p:cNvPr>
          <p:cNvSpPr>
            <a:spLocks noGrp="1"/>
          </p:cNvSpPr>
          <p:nvPr>
            <p:ph type="title"/>
          </p:nvPr>
        </p:nvSpPr>
        <p:spPr/>
        <p:txBody>
          <a:bodyPr>
            <a:normAutofit/>
          </a:bodyPr>
          <a:lstStyle/>
          <a:p>
            <a:r>
              <a:rPr lang="en-US" dirty="0"/>
              <a:t>Lessons Learned : The Journey taught us</a:t>
            </a:r>
          </a:p>
        </p:txBody>
      </p:sp>
      <p:sp>
        <p:nvSpPr>
          <p:cNvPr id="4" name="Slide Number Placeholder 3">
            <a:extLst>
              <a:ext uri="{FF2B5EF4-FFF2-40B4-BE49-F238E27FC236}">
                <a16:creationId xmlns:a16="http://schemas.microsoft.com/office/drawing/2014/main" id="{C2D9B262-7A62-162F-8707-A7CC01FA424B}"/>
              </a:ext>
            </a:extLst>
          </p:cNvPr>
          <p:cNvSpPr>
            <a:spLocks noGrp="1"/>
          </p:cNvSpPr>
          <p:nvPr>
            <p:ph type="sldNum" sz="quarter" idx="12"/>
          </p:nvPr>
        </p:nvSpPr>
        <p:spPr/>
        <p:txBody>
          <a:bodyPr/>
          <a:lstStyle/>
          <a:p>
            <a:fld id="{BF1758FF-0BF1-4103-A89A-38EC40E85429}" type="slidenum">
              <a:rPr lang="en-SG" smtClean="0"/>
              <a:t>28</a:t>
            </a:fld>
            <a:endParaRPr lang="en-SG" dirty="0"/>
          </a:p>
        </p:txBody>
      </p:sp>
      <p:sp>
        <p:nvSpPr>
          <p:cNvPr id="8" name="TextBox 7">
            <a:extLst>
              <a:ext uri="{FF2B5EF4-FFF2-40B4-BE49-F238E27FC236}">
                <a16:creationId xmlns:a16="http://schemas.microsoft.com/office/drawing/2014/main" id="{8BD13886-F86F-35DA-EACF-5520DE1EC926}"/>
              </a:ext>
            </a:extLst>
          </p:cNvPr>
          <p:cNvSpPr txBox="1"/>
          <p:nvPr/>
        </p:nvSpPr>
        <p:spPr>
          <a:xfrm>
            <a:off x="363984" y="951722"/>
            <a:ext cx="11243298" cy="4832092"/>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A Production-Ready Fake News Detector</a:t>
            </a:r>
          </a:p>
          <a:p>
            <a:r>
              <a:rPr lang="en-US" dirty="0"/>
              <a:t>	</a:t>
            </a:r>
          </a:p>
          <a:p>
            <a:r>
              <a:rPr lang="en-US" b="1" dirty="0">
                <a:solidFill>
                  <a:srgbClr val="000080"/>
                </a:solidFill>
                <a:latin typeface="Microsoft YaHei" panose="020B0503020204020204" pitchFamily="34" charset="-122"/>
                <a:ea typeface="Microsoft YaHei" panose="020B0503020204020204" pitchFamily="34" charset="-122"/>
              </a:rPr>
              <a:t>Technical Lessons:</a:t>
            </a:r>
          </a:p>
          <a:p>
            <a:pPr marL="285750" indent="-285750">
              <a:buFont typeface="Arial" panose="020B0604020202020204" pitchFamily="34" charset="0"/>
              <a:buChar char="•"/>
            </a:pPr>
            <a:r>
              <a:rPr lang="en-US" b="1" dirty="0"/>
              <a:t>Start Simple:</a:t>
            </a:r>
            <a:r>
              <a:rPr lang="en-US" dirty="0"/>
              <a:t> Baseline models establish expectations</a:t>
            </a:r>
          </a:p>
          <a:p>
            <a:pPr marL="285750" indent="-285750">
              <a:buFont typeface="Arial" panose="020B0604020202020204" pitchFamily="34" charset="0"/>
              <a:buChar char="•"/>
            </a:pPr>
            <a:r>
              <a:rPr lang="en-US" b="1" dirty="0"/>
              <a:t>EDA is Gold:</a:t>
            </a:r>
            <a:r>
              <a:rPr lang="en-US" dirty="0"/>
              <a:t> Understanding data beats algorithms</a:t>
            </a:r>
          </a:p>
          <a:p>
            <a:pPr marL="285750" indent="-285750">
              <a:buFont typeface="Arial" panose="020B0604020202020204" pitchFamily="34" charset="0"/>
              <a:buChar char="•"/>
            </a:pPr>
            <a:r>
              <a:rPr lang="en-US" b="1" dirty="0"/>
              <a:t>Features Matter: </a:t>
            </a:r>
            <a:r>
              <a:rPr lang="en-US" dirty="0"/>
              <a:t>Good features &gt; complex models</a:t>
            </a:r>
          </a:p>
          <a:p>
            <a:pPr marL="285750" indent="-285750">
              <a:buFont typeface="Arial" panose="020B0604020202020204" pitchFamily="34" charset="0"/>
              <a:buChar char="•"/>
            </a:pPr>
            <a:r>
              <a:rPr lang="en-US" b="1" dirty="0"/>
              <a:t>Iterate Rapidly:</a:t>
            </a:r>
            <a:r>
              <a:rPr lang="en-US" dirty="0"/>
              <a:t> Try many approaches quickly</a:t>
            </a:r>
          </a:p>
          <a:p>
            <a:pPr marL="285750" indent="-285750">
              <a:buFont typeface="Arial" panose="020B0604020202020204" pitchFamily="34" charset="0"/>
              <a:buChar char="•"/>
            </a:pPr>
            <a:r>
              <a:rPr lang="en-US" b="1" dirty="0"/>
              <a:t>Validate Properly: </a:t>
            </a:r>
            <a:r>
              <a:rPr lang="en-US" dirty="0"/>
              <a:t>Train/test split prevents false confidence</a:t>
            </a:r>
          </a:p>
          <a:p>
            <a:pPr marL="285750" indent="-285750">
              <a:buFont typeface="Arial" panose="020B0604020202020204" pitchFamily="34" charset="0"/>
              <a:buChar char="•"/>
            </a:pPr>
            <a:r>
              <a:rPr lang="en-US" b="1" dirty="0"/>
              <a:t>Document Everything:</a:t>
            </a:r>
            <a:r>
              <a:rPr lang="en-US" dirty="0"/>
              <a:t> Future you will thank present you</a:t>
            </a:r>
          </a:p>
          <a:p>
            <a:pPr marL="285750" indent="-285750">
              <a:buFont typeface="Arial" panose="020B0604020202020204" pitchFamily="34" charset="0"/>
              <a:buChar char="•"/>
            </a:pPr>
            <a:r>
              <a:rPr lang="en-US" dirty="0"/>
              <a:t>80% time on data, 20% on models</a:t>
            </a:r>
          </a:p>
          <a:p>
            <a:pPr marL="285750" indent="-285750">
              <a:buFont typeface="Arial" panose="020B0604020202020204" pitchFamily="34" charset="0"/>
              <a:buChar char="•"/>
            </a:pPr>
            <a:r>
              <a:rPr lang="en-US" dirty="0"/>
              <a:t>No single model is always best</a:t>
            </a:r>
          </a:p>
          <a:p>
            <a:pPr marL="285750" indent="-285750">
              <a:buFont typeface="Arial" panose="020B0604020202020204" pitchFamily="34" charset="0"/>
              <a:buChar char="•"/>
            </a:pPr>
            <a:r>
              <a:rPr lang="en-US" dirty="0"/>
              <a:t>Accuracy vs speed vs interpretability</a:t>
            </a:r>
          </a:p>
          <a:p>
            <a:pPr marL="285750" indent="-285750">
              <a:buFont typeface="Arial" panose="020B0604020202020204" pitchFamily="34" charset="0"/>
              <a:buChar char="•"/>
            </a:pPr>
            <a:r>
              <a:rPr lang="en-US" dirty="0"/>
              <a:t>Understanding fake news helped us engineer features</a:t>
            </a:r>
          </a:p>
          <a:p>
            <a:pPr marL="285750" indent="-285750">
              <a:buFont typeface="Arial" panose="020B0604020202020204" pitchFamily="34" charset="0"/>
              <a:buChar char="•"/>
            </a:pPr>
            <a:r>
              <a:rPr lang="en-US" dirty="0"/>
              <a:t>Each experiment added value</a:t>
            </a:r>
          </a:p>
          <a:p>
            <a:pPr marL="742950" lvl="1" indent="-285750">
              <a:buFontTx/>
              <a:buChar char="-"/>
            </a:pPr>
            <a:endParaRPr lang="en-IN" dirty="0"/>
          </a:p>
          <a:p>
            <a:pPr marL="742950" lvl="1" indent="-285750">
              <a:buFontTx/>
              <a:buChar char="-"/>
            </a:pPr>
            <a:endParaRPr lang="en-US" dirty="0"/>
          </a:p>
          <a:p>
            <a:endParaRPr lang="en-US" sz="2000" dirty="0">
              <a:solidFill>
                <a:srgbClr val="000000"/>
              </a:solidFill>
            </a:endParaRPr>
          </a:p>
        </p:txBody>
      </p:sp>
      <p:sp>
        <p:nvSpPr>
          <p:cNvPr id="5" name="Footer Placeholder 2">
            <a:extLst>
              <a:ext uri="{FF2B5EF4-FFF2-40B4-BE49-F238E27FC236}">
                <a16:creationId xmlns:a16="http://schemas.microsoft.com/office/drawing/2014/main" id="{3821E760-299D-AB20-642A-3192B973B832}"/>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1505526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0B2D0-98F9-7462-DA56-27D33012D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29DEE-2E31-0BA1-A73B-A523049F38B0}"/>
              </a:ext>
            </a:extLst>
          </p:cNvPr>
          <p:cNvSpPr>
            <a:spLocks noGrp="1"/>
          </p:cNvSpPr>
          <p:nvPr>
            <p:ph type="title"/>
          </p:nvPr>
        </p:nvSpPr>
        <p:spPr/>
        <p:txBody>
          <a:bodyPr>
            <a:normAutofit/>
          </a:bodyPr>
          <a:lstStyle/>
          <a:p>
            <a:r>
              <a:rPr lang="en-US" dirty="0"/>
              <a:t>Thank you for Following our Journey</a:t>
            </a:r>
          </a:p>
        </p:txBody>
      </p:sp>
      <p:sp>
        <p:nvSpPr>
          <p:cNvPr id="4" name="Slide Number Placeholder 3">
            <a:extLst>
              <a:ext uri="{FF2B5EF4-FFF2-40B4-BE49-F238E27FC236}">
                <a16:creationId xmlns:a16="http://schemas.microsoft.com/office/drawing/2014/main" id="{335CFDFC-6C15-A57D-4716-B0CD6B77C8F3}"/>
              </a:ext>
            </a:extLst>
          </p:cNvPr>
          <p:cNvSpPr>
            <a:spLocks noGrp="1"/>
          </p:cNvSpPr>
          <p:nvPr>
            <p:ph type="sldNum" sz="quarter" idx="12"/>
          </p:nvPr>
        </p:nvSpPr>
        <p:spPr/>
        <p:txBody>
          <a:bodyPr/>
          <a:lstStyle/>
          <a:p>
            <a:fld id="{BF1758FF-0BF1-4103-A89A-38EC40E85429}" type="slidenum">
              <a:rPr lang="en-SG" smtClean="0"/>
              <a:t>29</a:t>
            </a:fld>
            <a:endParaRPr lang="en-SG" dirty="0"/>
          </a:p>
        </p:txBody>
      </p:sp>
      <p:sp>
        <p:nvSpPr>
          <p:cNvPr id="8" name="TextBox 7">
            <a:extLst>
              <a:ext uri="{FF2B5EF4-FFF2-40B4-BE49-F238E27FC236}">
                <a16:creationId xmlns:a16="http://schemas.microsoft.com/office/drawing/2014/main" id="{C65304C2-2420-A50E-5758-CA9A7CBFCD24}"/>
              </a:ext>
            </a:extLst>
          </p:cNvPr>
          <p:cNvSpPr txBox="1"/>
          <p:nvPr/>
        </p:nvSpPr>
        <p:spPr>
          <a:xfrm>
            <a:off x="363984" y="951722"/>
            <a:ext cx="11243298" cy="4278094"/>
          </a:xfrm>
          <a:prstGeom prst="rect">
            <a:avLst/>
          </a:prstGeom>
          <a:noFill/>
        </p:spPr>
        <p:txBody>
          <a:bodyPr wrap="square" rtlCol="0">
            <a:spAutoFit/>
          </a:bodyPr>
          <a:lstStyle/>
          <a:p>
            <a:r>
              <a:rPr lang="en-US" b="1" dirty="0">
                <a:solidFill>
                  <a:srgbClr val="000080"/>
                </a:solidFill>
                <a:latin typeface="Microsoft YaHei" panose="020B0503020204020204" pitchFamily="34" charset="-122"/>
                <a:ea typeface="Microsoft YaHei" panose="020B0503020204020204" pitchFamily="34" charset="-122"/>
              </a:rPr>
              <a:t>The Problem is Real:</a:t>
            </a:r>
          </a:p>
          <a:p>
            <a:r>
              <a:rPr lang="en-US" dirty="0"/>
              <a:t>	Fake news is a serious challenge affecting millions</a:t>
            </a:r>
          </a:p>
          <a:p>
            <a:endParaRPr lang="en-US" dirty="0"/>
          </a:p>
          <a:p>
            <a:r>
              <a:rPr lang="en-US" b="1" dirty="0">
                <a:solidFill>
                  <a:srgbClr val="000080"/>
                </a:solidFill>
                <a:latin typeface="Microsoft YaHei" panose="020B0503020204020204" pitchFamily="34" charset="-122"/>
                <a:ea typeface="Microsoft YaHei" panose="020B0503020204020204" pitchFamily="34" charset="-122"/>
              </a:rPr>
              <a:t>Data Science Can Help:</a:t>
            </a:r>
          </a:p>
          <a:p>
            <a:r>
              <a:rPr lang="en-US" dirty="0"/>
              <a:t>	With right approach, AI can detect misinformation</a:t>
            </a:r>
          </a:p>
          <a:p>
            <a:endParaRPr lang="en-US" b="1" dirty="0">
              <a:solidFill>
                <a:srgbClr val="000080"/>
              </a:solidFill>
              <a:latin typeface="Microsoft YaHei" panose="020B0503020204020204" pitchFamily="34" charset="-122"/>
              <a:ea typeface="Microsoft YaHei" panose="020B0503020204020204" pitchFamily="34" charset="-122"/>
            </a:endParaRPr>
          </a:p>
          <a:p>
            <a:r>
              <a:rPr lang="en-US" b="1" dirty="0">
                <a:solidFill>
                  <a:srgbClr val="000080"/>
                </a:solidFill>
                <a:latin typeface="Microsoft YaHei" panose="020B0503020204020204" pitchFamily="34" charset="-122"/>
                <a:ea typeface="Microsoft YaHei" panose="020B0503020204020204" pitchFamily="34" charset="-122"/>
              </a:rPr>
              <a:t>Our Solution Works:</a:t>
            </a:r>
          </a:p>
          <a:p>
            <a:r>
              <a:rPr lang="en-US" dirty="0"/>
              <a:t>	87%+ accuracy proves machines can be reliable fact-checkers</a:t>
            </a:r>
            <a:endParaRPr lang="en-IN" dirty="0"/>
          </a:p>
          <a:p>
            <a:pPr marL="742950" lvl="1" indent="-285750">
              <a:buFontTx/>
              <a:buChar char="-"/>
            </a:pPr>
            <a:endParaRPr lang="en-US" dirty="0"/>
          </a:p>
          <a:p>
            <a:r>
              <a:rPr lang="en-US" b="1" dirty="0">
                <a:solidFill>
                  <a:srgbClr val="000080"/>
                </a:solidFill>
                <a:latin typeface="Microsoft YaHei" panose="020B0503020204020204" pitchFamily="34" charset="-122"/>
                <a:ea typeface="Microsoft YaHei" panose="020B0503020204020204" pitchFamily="34" charset="-122"/>
              </a:rPr>
              <a:t>We're ready to discuss:</a:t>
            </a:r>
          </a:p>
          <a:p>
            <a:pPr lvl="1"/>
            <a:r>
              <a:rPr lang="en-US" dirty="0"/>
              <a:t>- Technical details of any model</a:t>
            </a:r>
          </a:p>
          <a:p>
            <a:pPr lvl="1"/>
            <a:r>
              <a:rPr lang="en-US" dirty="0"/>
              <a:t>- Deployment strategies</a:t>
            </a:r>
          </a:p>
          <a:p>
            <a:pPr lvl="1"/>
            <a:r>
              <a:rPr lang="en-US" dirty="0"/>
              <a:t>- Future collaborations</a:t>
            </a:r>
          </a:p>
          <a:p>
            <a:pPr lvl="1"/>
            <a:r>
              <a:rPr lang="en-US" dirty="0"/>
              <a:t>- Your ideas and suggestions</a:t>
            </a:r>
          </a:p>
          <a:p>
            <a:endParaRPr lang="en-US" sz="2000" dirty="0">
              <a:solidFill>
                <a:srgbClr val="000000"/>
              </a:solidFill>
            </a:endParaRPr>
          </a:p>
        </p:txBody>
      </p:sp>
      <p:pic>
        <p:nvPicPr>
          <p:cNvPr id="7" name="Picture 6">
            <a:extLst>
              <a:ext uri="{FF2B5EF4-FFF2-40B4-BE49-F238E27FC236}">
                <a16:creationId xmlns:a16="http://schemas.microsoft.com/office/drawing/2014/main" id="{1BD7E3D0-466E-4165-B209-451910978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8578" y="817368"/>
            <a:ext cx="4199438" cy="2443309"/>
          </a:xfrm>
          <a:prstGeom prst="rect">
            <a:avLst/>
          </a:prstGeom>
        </p:spPr>
      </p:pic>
      <p:sp>
        <p:nvSpPr>
          <p:cNvPr id="6" name="Footer Placeholder 2">
            <a:extLst>
              <a:ext uri="{FF2B5EF4-FFF2-40B4-BE49-F238E27FC236}">
                <a16:creationId xmlns:a16="http://schemas.microsoft.com/office/drawing/2014/main" id="{30E734C9-EFFA-77C8-F3D2-E06F14A68ACD}"/>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3452332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4F55-6A64-114A-E7DE-0951304A2A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EEDEB3-5E48-44D1-6415-FA854D8083E6}"/>
              </a:ext>
            </a:extLst>
          </p:cNvPr>
          <p:cNvSpPr>
            <a:spLocks noGrp="1"/>
          </p:cNvSpPr>
          <p:nvPr>
            <p:ph type="sldNum" sz="quarter" idx="12"/>
          </p:nvPr>
        </p:nvSpPr>
        <p:spPr/>
        <p:txBody>
          <a:bodyPr/>
          <a:lstStyle/>
          <a:p>
            <a:fld id="{BF1758FF-0BF1-4103-A89A-38EC40E85429}" type="slidenum">
              <a:rPr lang="en-SG" smtClean="0"/>
              <a:t>30</a:t>
            </a:fld>
            <a:endParaRPr lang="en-SG" dirty="0"/>
          </a:p>
        </p:txBody>
      </p:sp>
      <p:pic>
        <p:nvPicPr>
          <p:cNvPr id="10" name="Picture 9">
            <a:extLst>
              <a:ext uri="{FF2B5EF4-FFF2-40B4-BE49-F238E27FC236}">
                <a16:creationId xmlns:a16="http://schemas.microsoft.com/office/drawing/2014/main" id="{C206100D-10E5-E7B7-7F54-983A0516C16E}"/>
              </a:ext>
            </a:extLst>
          </p:cNvPr>
          <p:cNvPicPr>
            <a:picLocks noChangeAspect="1"/>
          </p:cNvPicPr>
          <p:nvPr/>
        </p:nvPicPr>
        <p:blipFill>
          <a:blip r:embed="rId2"/>
          <a:stretch>
            <a:fillRect/>
          </a:stretch>
        </p:blipFill>
        <p:spPr>
          <a:xfrm>
            <a:off x="3262963" y="1920878"/>
            <a:ext cx="6134927" cy="3016243"/>
          </a:xfrm>
          <a:prstGeom prst="rect">
            <a:avLst/>
          </a:prstGeom>
        </p:spPr>
      </p:pic>
      <p:sp>
        <p:nvSpPr>
          <p:cNvPr id="2" name="Footer Placeholder 2">
            <a:extLst>
              <a:ext uri="{FF2B5EF4-FFF2-40B4-BE49-F238E27FC236}">
                <a16:creationId xmlns:a16="http://schemas.microsoft.com/office/drawing/2014/main" id="{8F341D74-1C19-8DC7-8787-109362F89780}"/>
              </a:ext>
            </a:extLst>
          </p:cNvPr>
          <p:cNvSpPr>
            <a:spLocks noGrp="1"/>
          </p:cNvSpPr>
          <p:nvPr>
            <p:ph type="ftr" sz="quarter" idx="11"/>
          </p:nvPr>
        </p:nvSpPr>
        <p:spPr>
          <a:xfrm>
            <a:off x="3686185" y="6459785"/>
            <a:ext cx="4822804" cy="365125"/>
          </a:xfrm>
        </p:spPr>
        <p:txBody>
          <a:bodyPr/>
          <a:lstStyle/>
          <a:p>
            <a:r>
              <a:rPr lang="it-IT" dirty="0"/>
              <a:t>DA 231o: Data Engineering at Scale</a:t>
            </a:r>
            <a:endParaRPr lang="en-SG" dirty="0"/>
          </a:p>
        </p:txBody>
      </p:sp>
    </p:spTree>
    <p:extLst>
      <p:ext uri="{BB962C8B-B14F-4D97-AF65-F5344CB8AC3E}">
        <p14:creationId xmlns:p14="http://schemas.microsoft.com/office/powerpoint/2010/main" val="676526403"/>
      </p:ext>
    </p:extLst>
  </p:cSld>
  <p:clrMapOvr>
    <a:masterClrMapping/>
  </p:clrMapOvr>
</p:sld>
</file>

<file path=ppt/theme/theme1.xml><?xml version="1.0" encoding="utf-8"?>
<a:theme xmlns:a="http://schemas.openxmlformats.org/drawingml/2006/main" name="1_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F4A66993F69444994DEDC68916C527" ma:contentTypeVersion="11" ma:contentTypeDescription="Create a new document." ma:contentTypeScope="" ma:versionID="6d8c83a6efd5471423dade757e33b483">
  <xsd:schema xmlns:xsd="http://www.w3.org/2001/XMLSchema" xmlns:xs="http://www.w3.org/2001/XMLSchema" xmlns:p="http://schemas.microsoft.com/office/2006/metadata/properties" xmlns:ns2="9942508b-7edd-4522-9099-5c8ba2e58c2d" xmlns:ns3="61a53e6c-53f2-4709-838c-32a07fa7348c" targetNamespace="http://schemas.microsoft.com/office/2006/metadata/properties" ma:root="true" ma:fieldsID="d068a04341d57602b07eae7b1ca693d1" ns2:_="" ns3:_="">
    <xsd:import namespace="9942508b-7edd-4522-9099-5c8ba2e58c2d"/>
    <xsd:import namespace="61a53e6c-53f2-4709-838c-32a07fa734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42508b-7edd-4522-9099-5c8ba2e58c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eae8b99-2390-486d-8259-3a0fa512046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53e6c-53f2-4709-838c-32a07fa7348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216e331-96ca-4cab-bbd1-11c69f7e2d61}" ma:internalName="TaxCatchAll" ma:showField="CatchAllData" ma:web="61a53e6c-53f2-4709-838c-32a07fa734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1a53e6c-53f2-4709-838c-32a07fa7348c" xsi:nil="true"/>
    <lcf76f155ced4ddcb4097134ff3c332f xmlns="9942508b-7edd-4522-9099-5c8ba2e58c2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74323E-7AF1-410A-ADFC-B6F59135825E}">
  <ds:schemaRefs>
    <ds:schemaRef ds:uri="61a53e6c-53f2-4709-838c-32a07fa7348c"/>
    <ds:schemaRef ds:uri="9942508b-7edd-4522-9099-5c8ba2e58c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D1A3A37-9007-4EC4-8746-B27BB5C6B1BE}">
  <ds:schemaRefs>
    <ds:schemaRef ds:uri="61a53e6c-53f2-4709-838c-32a07fa7348c"/>
    <ds:schemaRef ds:uri="9942508b-7edd-4522-9099-5c8ba2e58c2d"/>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2CA2CD0-1824-491F-9AFA-03C38DCE29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5017</TotalTime>
  <Words>3957</Words>
  <Application>Microsoft Office PowerPoint</Application>
  <PresentationFormat>Widescreen</PresentationFormat>
  <Paragraphs>598</Paragraphs>
  <Slides>30</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Microsoft YaHei</vt:lpstr>
      <vt:lpstr>Aptos</vt:lpstr>
      <vt:lpstr>Arial</vt:lpstr>
      <vt:lpstr>Arial Nova</vt:lpstr>
      <vt:lpstr>Calibri</vt:lpstr>
      <vt:lpstr>Consolas</vt:lpstr>
      <vt:lpstr>Google Sans Text</vt:lpstr>
      <vt:lpstr>Graphik Light</vt:lpstr>
      <vt:lpstr>Graphik Regular</vt:lpstr>
      <vt:lpstr>Symbol</vt:lpstr>
      <vt:lpstr>1_Retrospect</vt:lpstr>
      <vt:lpstr>DA 231o: Data Engineering at Scale Course Project  Real Time Fake News Prediction</vt:lpstr>
      <vt:lpstr>Introduction: How we Started</vt:lpstr>
      <vt:lpstr>Journey Begins : Understanding the Data</vt:lpstr>
      <vt:lpstr>Detective Work : EDA Begins</vt:lpstr>
      <vt:lpstr>The First Clue : Text Patterns</vt:lpstr>
      <vt:lpstr>The Language Clue : Word Clouds and Frequency</vt:lpstr>
      <vt:lpstr>Going Deeper : N-Gram Patterns</vt:lpstr>
      <vt:lpstr>The Emotion Factor : Sentiment Analysis</vt:lpstr>
      <vt:lpstr>EDA Completes : What we learned?</vt:lpstr>
      <vt:lpstr>Building Intelligence : Feature Engineering?</vt:lpstr>
      <vt:lpstr>Getting Ready : Data Preprocessing</vt:lpstr>
      <vt:lpstr>Getting Ready : Data Preprocessing</vt:lpstr>
      <vt:lpstr>Building a Reliable Benchmark Environment</vt:lpstr>
      <vt:lpstr>Analysis 1: Strong Scaling (Amdahl's Law)</vt:lpstr>
      <vt:lpstr>Analysis 1 Deep Dive: Where Did the Time Go?</vt:lpstr>
      <vt:lpstr>Analysis 2: Weak Scaling (Gustafson's Law)</vt:lpstr>
      <vt:lpstr>Analysis 3: Finding the "Sweet Spot" (Worker Sweep)</vt:lpstr>
      <vt:lpstr>Analysis 3 Deep Dive: Proving the “Sweet Spot”</vt:lpstr>
      <vt:lpstr>Real-Time Inference with Kafka + Spark Streaming</vt:lpstr>
      <vt:lpstr>First Attempt : Using Logistic Regression</vt:lpstr>
      <vt:lpstr>Second Attempt : Using Ensemble(XGBoost)</vt:lpstr>
      <vt:lpstr>Third Attempt : Using LSTM</vt:lpstr>
      <vt:lpstr>The Moment of Truth : Model Comparison</vt:lpstr>
      <vt:lpstr>The Secret : What the Model learned</vt:lpstr>
      <vt:lpstr>Real World Impact : What this Means</vt:lpstr>
      <vt:lpstr>Our Achievements : The Complete Picture</vt:lpstr>
      <vt:lpstr>Future Actions</vt:lpstr>
      <vt:lpstr>Lessons Learned : The Journey taught us</vt:lpstr>
      <vt:lpstr>Thank you for Following our Journey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 204o: Data Science in Practice Course Project Proposal  Real Time Fake News Prediction</dc:title>
  <dc:creator>Pandarasamy Arjunan</dc:creator>
  <cp:lastModifiedBy>Mayank Teckchandani</cp:lastModifiedBy>
  <cp:revision>38</cp:revision>
  <dcterms:created xsi:type="dcterms:W3CDTF">2023-08-01T07:21:01Z</dcterms:created>
  <dcterms:modified xsi:type="dcterms:W3CDTF">2025-11-26T16:10:30Z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0x0101000CF4A66993F69444994DEDC68916C527</vt:lpwstr>
  </property>
  <property fmtid="{D5CDD505-2E9C-101B-9397-08002B2CF9AE}" pid="3" name="MediaServiceImageTags">
    <vt:lpwstr/>
  </property>
</Properties>
</file>